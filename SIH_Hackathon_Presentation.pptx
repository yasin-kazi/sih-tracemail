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ounded Rectangle 1"/>
          <p:cNvSpPr/>
          <p:nvPr/>
        </p:nvSpPr>
        <p:spPr>
          <a:xfrm>
            <a:off x="0" y="0"/>
            <a:ext cx="12191695" cy="54864"/>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645920"/>
            <a:ext cx="9418320" cy="384048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1920240"/>
            <a:ext cx="3017520" cy="50292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0" y="1965960"/>
            <a:ext cx="3017520" cy="457200"/>
          </a:xfrm>
          <a:prstGeom prst="rect">
            <a:avLst/>
          </a:prstGeom>
          <a:noFill/>
        </p:spPr>
        <p:txBody>
          <a:bodyPr wrap="square"/>
          <a:lstStyle/>
          <a:p>
            <a:pPr algn="ctr">
              <a:lnSpc>
                <a:spcPts val="1300"/>
              </a:lnSpc>
              <a:spcBef>
                <a:spcPts val="0"/>
              </a:spcBef>
              <a:spcAft>
                <a:spcPts val="0"/>
              </a:spcAft>
              <a:defRPr sz="1200" b="1">
                <a:solidFill>
                  <a:srgbClr val="06B6D4"/>
                </a:solidFill>
                <a:latin typeface="Calibri"/>
              </a:defRPr>
            </a:pPr>
            <a:r>
              <a:rPr>
                <a:latin typeface="Calibri"/>
              </a:rPr>
              <a:t>SMART INDIA HACKATHON 2026</a:t>
            </a:r>
          </a:p>
        </p:txBody>
      </p:sp>
      <p:sp>
        <p:nvSpPr>
          <p:cNvPr id="6" name="TextBox 5"/>
          <p:cNvSpPr txBox="1"/>
          <p:nvPr/>
        </p:nvSpPr>
        <p:spPr>
          <a:xfrm>
            <a:off x="1371600" y="2651760"/>
            <a:ext cx="9418320" cy="457200"/>
          </a:xfrm>
          <a:prstGeom prst="rect">
            <a:avLst/>
          </a:prstGeom>
          <a:noFill/>
        </p:spPr>
        <p:txBody>
          <a:bodyPr wrap="square"/>
          <a:lstStyle/>
          <a:p>
            <a:pPr algn="ctr">
              <a:lnSpc>
                <a:spcPts val="2000"/>
              </a:lnSpc>
              <a:spcBef>
                <a:spcPts val="0"/>
              </a:spcBef>
              <a:spcAft>
                <a:spcPts val="0"/>
              </a:spcAft>
              <a:defRPr sz="1800" b="0">
                <a:solidFill>
                  <a:srgbClr val="94A3B8"/>
                </a:solidFill>
                <a:latin typeface="Consolas"/>
              </a:defRPr>
            </a:pPr>
            <a:r>
              <a:rPr>
                <a:latin typeface="Consolas"/>
              </a:rPr>
              <a:t>SIH26106</a:t>
            </a:r>
          </a:p>
        </p:txBody>
      </p:sp>
      <p:sp>
        <p:nvSpPr>
          <p:cNvPr id="7" name="TextBox 6"/>
          <p:cNvSpPr txBox="1"/>
          <p:nvPr/>
        </p:nvSpPr>
        <p:spPr>
          <a:xfrm>
            <a:off x="1645920" y="3108960"/>
            <a:ext cx="8869680" cy="1097280"/>
          </a:xfrm>
          <a:prstGeom prst="rect">
            <a:avLst/>
          </a:prstGeom>
          <a:noFill/>
        </p:spPr>
        <p:txBody>
          <a:bodyPr wrap="square"/>
          <a:lstStyle/>
          <a:p>
            <a:pPr algn="ctr">
              <a:lnSpc>
                <a:spcPts val="4600"/>
              </a:lnSpc>
              <a:spcBef>
                <a:spcPts val="0"/>
              </a:spcBef>
              <a:spcAft>
                <a:spcPts val="0"/>
              </a:spcAft>
              <a:defRPr sz="4000" b="1">
                <a:solidFill>
                  <a:srgbClr val="F1F5F9"/>
                </a:solidFill>
                <a:latin typeface="Calibri"/>
              </a:defRPr>
            </a:pPr>
            <a:r>
              <a:rPr>
                <a:latin typeface="Calibri"/>
              </a:rPr>
              <a:t>AI-Powered Email Forensic</a:t>
            </a:r>
            <a:br/>
            <a:r>
              <a:t>Intelligence Platform</a:t>
            </a:r>
          </a:p>
        </p:txBody>
      </p:sp>
      <p:sp>
        <p:nvSpPr>
          <p:cNvPr id="8" name="Rectangle 7"/>
          <p:cNvSpPr/>
          <p:nvPr/>
        </p:nvSpPr>
        <p:spPr>
          <a:xfrm>
            <a:off x="4114800" y="4251960"/>
            <a:ext cx="393192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4434840"/>
            <a:ext cx="8869680" cy="640080"/>
          </a:xfrm>
          <a:prstGeom prst="rect">
            <a:avLst/>
          </a:prstGeom>
          <a:noFill/>
        </p:spPr>
        <p:txBody>
          <a:bodyPr wrap="square"/>
          <a:lstStyle/>
          <a:p>
            <a:pPr algn="ctr">
              <a:lnSpc>
                <a:spcPts val="1800"/>
              </a:lnSpc>
              <a:spcBef>
                <a:spcPts val="0"/>
              </a:spcBef>
              <a:spcAft>
                <a:spcPts val="0"/>
              </a:spcAft>
              <a:defRPr sz="1600" b="0">
                <a:solidFill>
                  <a:srgbClr val="94A3B8"/>
                </a:solidFill>
                <a:latin typeface="Calibri"/>
              </a:defRPr>
            </a:pPr>
            <a:r>
              <a:rPr>
                <a:latin typeface="Calibri"/>
              </a:rPr>
              <a:t>Evidence-Driven Email Threat Detection, Geolocation &amp;</a:t>
            </a:r>
            <a:br/>
            <a:r>
              <a:t>Forensic Intelligence for Investigative Cybersecurity</a:t>
            </a:r>
          </a:p>
        </p:txBody>
      </p:sp>
      <p:sp>
        <p:nvSpPr>
          <p:cNvPr id="10" name="Rounded Rectangle 9"/>
          <p:cNvSpPr/>
          <p:nvPr/>
        </p:nvSpPr>
        <p:spPr>
          <a:xfrm>
            <a:off x="2743200" y="5166360"/>
            <a:ext cx="6675120" cy="32004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5184648"/>
            <a:ext cx="6675120" cy="274320"/>
          </a:xfrm>
          <a:prstGeom prst="rect">
            <a:avLst/>
          </a:prstGeom>
          <a:noFill/>
        </p:spPr>
        <p:txBody>
          <a:bodyPr wrap="square"/>
          <a:lstStyle/>
          <a:p>
            <a:pPr algn="ctr">
              <a:lnSpc>
                <a:spcPts val="1000"/>
              </a:lnSpc>
              <a:spcBef>
                <a:spcPts val="0"/>
              </a:spcBef>
              <a:spcAft>
                <a:spcPts val="0"/>
              </a:spcAft>
              <a:defRPr sz="900" b="0">
                <a:solidFill>
                  <a:srgbClr val="475569"/>
                </a:solidFill>
                <a:latin typeface="Consolas"/>
              </a:defRPr>
            </a:pPr>
            <a:r>
              <a:rPr>
                <a:latin typeface="Consolas"/>
              </a:rPr>
              <a:t>BLOCKCHAIN &amp; CYBERSECURITY  |  EMAIL FORENSICS  |  AI/ML  |  INVESTIGATIVE INTELLIGENCE</a:t>
            </a:r>
          </a:p>
        </p:txBody>
      </p:sp>
      <p:sp>
        <p:nvSpPr>
          <p:cNvPr id="12" name="Rounded Rectangle 11"/>
          <p:cNvSpPr/>
          <p:nvPr/>
        </p:nvSpPr>
        <p:spPr>
          <a:xfrm>
            <a:off x="0" y="6537960"/>
            <a:ext cx="12191695" cy="320040"/>
          </a:xfrm>
          <a:prstGeom prst="roundRect">
            <a:avLst>
              <a:gd name="adj" fmla="val 4000"/>
            </a:avLst>
          </a:prstGeom>
          <a:solidFill>
            <a:srgbClr val="10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56248"/>
            <a:ext cx="4572000" cy="274320"/>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TraceMail  |  Forensic Email Evidence Engine</a:t>
            </a:r>
          </a:p>
        </p:txBody>
      </p:sp>
      <p:sp>
        <p:nvSpPr>
          <p:cNvPr id="14" name="TextBox 13"/>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Problem Statement</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Why this problem matters</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645920"/>
            <a:ext cx="2560320" cy="1463040"/>
          </a:xfrm>
          <a:prstGeom prst="roundRect">
            <a:avLst>
              <a:gd name="adj" fmla="val 4000"/>
            </a:avLst>
          </a:prstGeom>
          <a:solidFill>
            <a:srgbClr val="10162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560320" cy="548640"/>
          </a:xfrm>
          <a:prstGeom prst="rect">
            <a:avLst/>
          </a:prstGeom>
          <a:noFill/>
        </p:spPr>
        <p:txBody>
          <a:bodyPr wrap="square"/>
          <a:lstStyle/>
          <a:p>
            <a:pPr algn="ctr">
              <a:lnSpc>
                <a:spcPts val="3900"/>
              </a:lnSpc>
              <a:spcBef>
                <a:spcPts val="0"/>
              </a:spcBef>
              <a:spcAft>
                <a:spcPts val="0"/>
              </a:spcAft>
              <a:defRPr sz="3400" b="1">
                <a:solidFill>
                  <a:srgbClr val="EF4444"/>
                </a:solidFill>
                <a:latin typeface="Consolas"/>
              </a:defRPr>
            </a:pPr>
            <a:r>
              <a:rPr>
                <a:latin typeface="Consolas"/>
              </a:rPr>
              <a:t>$2.4B+</a:t>
            </a:r>
          </a:p>
        </p:txBody>
      </p:sp>
      <p:sp>
        <p:nvSpPr>
          <p:cNvPr id="9" name="TextBox 8"/>
          <p:cNvSpPr txBox="1"/>
          <p:nvPr/>
        </p:nvSpPr>
        <p:spPr>
          <a:xfrm>
            <a:off x="731520" y="2423160"/>
            <a:ext cx="2560320" cy="548640"/>
          </a:xfrm>
          <a:prstGeom prst="rect">
            <a:avLst/>
          </a:prstGeom>
          <a:noFill/>
        </p:spPr>
        <p:txBody>
          <a:bodyPr wrap="square"/>
          <a:lstStyle/>
          <a:p>
            <a:pPr algn="ctr">
              <a:lnSpc>
                <a:spcPts val="1200"/>
              </a:lnSpc>
              <a:spcBef>
                <a:spcPts val="0"/>
              </a:spcBef>
              <a:spcAft>
                <a:spcPts val="0"/>
              </a:spcAft>
              <a:defRPr sz="1100" b="0">
                <a:solidFill>
                  <a:srgbClr val="94A3B8"/>
                </a:solidFill>
                <a:latin typeface="Calibri"/>
              </a:defRPr>
            </a:pPr>
            <a:r>
              <a:rPr>
                <a:latin typeface="Calibri"/>
              </a:rPr>
              <a:t>BEC losses reported</a:t>
            </a:r>
            <a:br/>
            <a:r>
              <a:t>to FBI IC3 in 2023</a:t>
            </a:r>
          </a:p>
        </p:txBody>
      </p:sp>
      <p:sp>
        <p:nvSpPr>
          <p:cNvPr id="10" name="Rounded Rectangle 9"/>
          <p:cNvSpPr/>
          <p:nvPr/>
        </p:nvSpPr>
        <p:spPr>
          <a:xfrm>
            <a:off x="3520439" y="1645920"/>
            <a:ext cx="2560320" cy="1463040"/>
          </a:xfrm>
          <a:prstGeom prst="roundRect">
            <a:avLst>
              <a:gd name="adj" fmla="val 4000"/>
            </a:avLst>
          </a:prstGeom>
          <a:solidFill>
            <a:srgbClr val="10162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39" y="1828800"/>
            <a:ext cx="2560320" cy="548640"/>
          </a:xfrm>
          <a:prstGeom prst="rect">
            <a:avLst/>
          </a:prstGeom>
          <a:noFill/>
        </p:spPr>
        <p:txBody>
          <a:bodyPr wrap="square"/>
          <a:lstStyle/>
          <a:p>
            <a:pPr algn="ctr">
              <a:lnSpc>
                <a:spcPts val="3900"/>
              </a:lnSpc>
              <a:spcBef>
                <a:spcPts val="0"/>
              </a:spcBef>
              <a:spcAft>
                <a:spcPts val="0"/>
              </a:spcAft>
              <a:defRPr sz="3400" b="1">
                <a:solidFill>
                  <a:srgbClr val="F59E0B"/>
                </a:solidFill>
                <a:latin typeface="Consolas"/>
              </a:defRPr>
            </a:pPr>
            <a:r>
              <a:rPr>
                <a:latin typeface="Consolas"/>
              </a:rPr>
              <a:t>36%</a:t>
            </a:r>
          </a:p>
        </p:txBody>
      </p:sp>
      <p:sp>
        <p:nvSpPr>
          <p:cNvPr id="12" name="TextBox 11"/>
          <p:cNvSpPr txBox="1"/>
          <p:nvPr/>
        </p:nvSpPr>
        <p:spPr>
          <a:xfrm>
            <a:off x="3520439" y="2423160"/>
            <a:ext cx="2560320" cy="548640"/>
          </a:xfrm>
          <a:prstGeom prst="rect">
            <a:avLst/>
          </a:prstGeom>
          <a:noFill/>
        </p:spPr>
        <p:txBody>
          <a:bodyPr wrap="square"/>
          <a:lstStyle/>
          <a:p>
            <a:pPr algn="ctr">
              <a:lnSpc>
                <a:spcPts val="1200"/>
              </a:lnSpc>
              <a:spcBef>
                <a:spcPts val="0"/>
              </a:spcBef>
              <a:spcAft>
                <a:spcPts val="0"/>
              </a:spcAft>
              <a:defRPr sz="1100" b="0">
                <a:solidFill>
                  <a:srgbClr val="94A3B8"/>
                </a:solidFill>
                <a:latin typeface="Calibri"/>
              </a:defRPr>
            </a:pPr>
            <a:r>
              <a:rPr>
                <a:latin typeface="Calibri"/>
              </a:rPr>
              <a:t>of data breaches involve</a:t>
            </a:r>
            <a:br/>
            <a:r>
              <a:t>phishing attacks</a:t>
            </a:r>
          </a:p>
        </p:txBody>
      </p:sp>
      <p:sp>
        <p:nvSpPr>
          <p:cNvPr id="13" name="Rounded Rectangle 12"/>
          <p:cNvSpPr/>
          <p:nvPr/>
        </p:nvSpPr>
        <p:spPr>
          <a:xfrm>
            <a:off x="6309359" y="1645920"/>
            <a:ext cx="2560320" cy="1463040"/>
          </a:xfrm>
          <a:prstGeom prst="roundRect">
            <a:avLst>
              <a:gd name="adj" fmla="val 4000"/>
            </a:avLst>
          </a:prstGeom>
          <a:solidFill>
            <a:srgbClr val="10162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59" y="1828800"/>
            <a:ext cx="2560320" cy="548640"/>
          </a:xfrm>
          <a:prstGeom prst="rect">
            <a:avLst/>
          </a:prstGeom>
          <a:noFill/>
        </p:spPr>
        <p:txBody>
          <a:bodyPr wrap="square"/>
          <a:lstStyle/>
          <a:p>
            <a:pPr algn="ctr">
              <a:lnSpc>
                <a:spcPts val="3900"/>
              </a:lnSpc>
              <a:spcBef>
                <a:spcPts val="0"/>
              </a:spcBef>
              <a:spcAft>
                <a:spcPts val="0"/>
              </a:spcAft>
              <a:defRPr sz="3400" b="1">
                <a:solidFill>
                  <a:srgbClr val="EF4444"/>
                </a:solidFill>
                <a:latin typeface="Consolas"/>
              </a:defRPr>
            </a:pPr>
            <a:r>
              <a:rPr>
                <a:latin typeface="Consolas"/>
              </a:rPr>
              <a:t>91%</a:t>
            </a:r>
          </a:p>
        </p:txBody>
      </p:sp>
      <p:sp>
        <p:nvSpPr>
          <p:cNvPr id="15" name="TextBox 14"/>
          <p:cNvSpPr txBox="1"/>
          <p:nvPr/>
        </p:nvSpPr>
        <p:spPr>
          <a:xfrm>
            <a:off x="6309359" y="2423160"/>
            <a:ext cx="2560320" cy="548640"/>
          </a:xfrm>
          <a:prstGeom prst="rect">
            <a:avLst/>
          </a:prstGeom>
          <a:noFill/>
        </p:spPr>
        <p:txBody>
          <a:bodyPr wrap="square"/>
          <a:lstStyle/>
          <a:p>
            <a:pPr algn="ctr">
              <a:lnSpc>
                <a:spcPts val="1200"/>
              </a:lnSpc>
              <a:spcBef>
                <a:spcPts val="0"/>
              </a:spcBef>
              <a:spcAft>
                <a:spcPts val="0"/>
              </a:spcAft>
              <a:defRPr sz="1100" b="0">
                <a:solidFill>
                  <a:srgbClr val="94A3B8"/>
                </a:solidFill>
                <a:latin typeface="Calibri"/>
              </a:defRPr>
            </a:pPr>
            <a:r>
              <a:rPr>
                <a:latin typeface="Calibri"/>
              </a:rPr>
              <a:t>of cyberattacks begin</a:t>
            </a:r>
            <a:br/>
            <a:r>
              <a:t>with a phishing email</a:t>
            </a:r>
          </a:p>
        </p:txBody>
      </p:sp>
      <p:sp>
        <p:nvSpPr>
          <p:cNvPr id="16" name="Rounded Rectangle 15"/>
          <p:cNvSpPr/>
          <p:nvPr/>
        </p:nvSpPr>
        <p:spPr>
          <a:xfrm>
            <a:off x="9098280" y="1645920"/>
            <a:ext cx="2560320" cy="1463040"/>
          </a:xfrm>
          <a:prstGeom prst="roundRect">
            <a:avLst>
              <a:gd name="adj" fmla="val 4000"/>
            </a:avLst>
          </a:prstGeom>
          <a:solidFill>
            <a:srgbClr val="10162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98280" y="1828800"/>
            <a:ext cx="2560320" cy="548640"/>
          </a:xfrm>
          <a:prstGeom prst="rect">
            <a:avLst/>
          </a:prstGeom>
          <a:noFill/>
        </p:spPr>
        <p:txBody>
          <a:bodyPr wrap="square"/>
          <a:lstStyle/>
          <a:p>
            <a:pPr algn="ctr">
              <a:lnSpc>
                <a:spcPts val="3900"/>
              </a:lnSpc>
              <a:spcBef>
                <a:spcPts val="0"/>
              </a:spcBef>
              <a:spcAft>
                <a:spcPts val="0"/>
              </a:spcAft>
              <a:defRPr sz="3400" b="1">
                <a:solidFill>
                  <a:srgbClr val="F59E0B"/>
                </a:solidFill>
                <a:latin typeface="Consolas"/>
              </a:defRPr>
            </a:pPr>
            <a:r>
              <a:rPr>
                <a:latin typeface="Consolas"/>
              </a:rPr>
              <a:t>75%</a:t>
            </a:r>
          </a:p>
        </p:txBody>
      </p:sp>
      <p:sp>
        <p:nvSpPr>
          <p:cNvPr id="18" name="TextBox 17"/>
          <p:cNvSpPr txBox="1"/>
          <p:nvPr/>
        </p:nvSpPr>
        <p:spPr>
          <a:xfrm>
            <a:off x="9098280" y="2423160"/>
            <a:ext cx="2560320" cy="548640"/>
          </a:xfrm>
          <a:prstGeom prst="rect">
            <a:avLst/>
          </a:prstGeom>
          <a:noFill/>
        </p:spPr>
        <p:txBody>
          <a:bodyPr wrap="square"/>
          <a:lstStyle/>
          <a:p>
            <a:pPr algn="ctr">
              <a:lnSpc>
                <a:spcPts val="1200"/>
              </a:lnSpc>
              <a:spcBef>
                <a:spcPts val="0"/>
              </a:spcBef>
              <a:spcAft>
                <a:spcPts val="0"/>
              </a:spcAft>
              <a:defRPr sz="1100" b="0">
                <a:solidFill>
                  <a:srgbClr val="94A3B8"/>
                </a:solidFill>
                <a:latin typeface="Calibri"/>
              </a:defRPr>
            </a:pPr>
            <a:r>
              <a:rPr>
                <a:latin typeface="Calibri"/>
              </a:rPr>
              <a:t>of organizations faced</a:t>
            </a:r>
            <a:br/>
            <a:r>
              <a:t>email fraud in 2024</a:t>
            </a:r>
          </a:p>
        </p:txBody>
      </p:sp>
      <p:sp>
        <p:nvSpPr>
          <p:cNvPr id="19" name="Rounded Rectangle 18"/>
          <p:cNvSpPr/>
          <p:nvPr/>
        </p:nvSpPr>
        <p:spPr>
          <a:xfrm>
            <a:off x="731520" y="3383280"/>
            <a:ext cx="10698480" cy="28346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3520440"/>
            <a:ext cx="10149840" cy="365760"/>
          </a:xfrm>
          <a:prstGeom prst="rect">
            <a:avLst/>
          </a:prstGeom>
          <a:noFill/>
        </p:spPr>
        <p:txBody>
          <a:bodyPr wrap="square"/>
          <a:lstStyle/>
          <a:p>
            <a:pPr algn="l">
              <a:lnSpc>
                <a:spcPts val="1200"/>
              </a:lnSpc>
              <a:spcBef>
                <a:spcPts val="0"/>
              </a:spcBef>
              <a:spcAft>
                <a:spcPts val="0"/>
              </a:spcAft>
              <a:defRPr sz="1100" b="1">
                <a:solidFill>
                  <a:srgbClr val="06B6D4"/>
                </a:solidFill>
                <a:latin typeface="Consolas"/>
              </a:defRPr>
            </a:pPr>
            <a:r>
              <a:rPr>
                <a:latin typeface="Consolas"/>
              </a:rPr>
              <a:t>THE CORE PROBLEM</a:t>
            </a:r>
          </a:p>
        </p:txBody>
      </p:sp>
      <p:sp>
        <p:nvSpPr>
          <p:cNvPr id="21" name="TextBox 20"/>
          <p:cNvSpPr txBox="1"/>
          <p:nvPr/>
        </p:nvSpPr>
        <p:spPr>
          <a:xfrm>
            <a:off x="1005840" y="3886200"/>
            <a:ext cx="10149840" cy="2194560"/>
          </a:xfrm>
          <a:prstGeom prst="rect">
            <a:avLst/>
          </a:prstGeom>
          <a:noFill/>
        </p:spPr>
        <p:txBody>
          <a:bodyPr wrap="square"/>
          <a:lstStyle/>
          <a:p>
            <a:pPr algn="l">
              <a:lnSpc>
                <a:spcPts val="1900"/>
              </a:lnSpc>
              <a:spcBef>
                <a:spcPts val="200"/>
              </a:spcBef>
              <a:spcAft>
                <a:spcPts val="200"/>
              </a:spcAft>
              <a:defRPr sz="1400" b="0">
                <a:solidFill>
                  <a:srgbClr val="F1F5F9"/>
                </a:solidFill>
                <a:latin typeface="Calibri"/>
              </a:defRPr>
            </a:pPr>
            <a:r>
              <a:t>Email remains the #1 attack vector for cybercrime, BEC fraud, and targeted phishing campaigns.</a:t>
            </a:r>
          </a:p>
          <a:p>
            <a:pPr algn="l">
              <a:lnSpc>
                <a:spcPts val="800"/>
              </a:lnSpc>
              <a:spcBef>
                <a:spcPts val="200"/>
              </a:spcBef>
              <a:spcAft>
                <a:spcPts val="200"/>
              </a:spcAft>
              <a:defRPr sz="600" b="0">
                <a:solidFill>
                  <a:srgbClr val="F1F5F9"/>
                </a:solidFill>
                <a:latin typeface="Calibri"/>
              </a:defRPr>
            </a:pPr>
          </a:p>
          <a:p>
            <a:pPr algn="l">
              <a:lnSpc>
                <a:spcPts val="1900"/>
              </a:lnSpc>
              <a:spcBef>
                <a:spcPts val="200"/>
              </a:spcBef>
              <a:spcAft>
                <a:spcPts val="200"/>
              </a:spcAft>
              <a:defRPr sz="1400" b="0">
                <a:solidFill>
                  <a:srgbClr val="94A3B8"/>
                </a:solidFill>
                <a:latin typeface="Calibri"/>
              </a:defRPr>
            </a:pPr>
            <a:r>
              <a:t>Current email security tools focus on automated filtering and blocking. They fail to provide:</a:t>
            </a:r>
          </a:p>
          <a:p>
            <a:pPr algn="l">
              <a:lnSpc>
                <a:spcPts val="500"/>
              </a:lnSpc>
              <a:spcBef>
                <a:spcPts val="200"/>
              </a:spcBef>
              <a:spcAft>
                <a:spcPts val="200"/>
              </a:spcAft>
              <a:defRPr sz="400" b="0">
                <a:solidFill>
                  <a:srgbClr val="F1F5F9"/>
                </a:solidFill>
                <a:latin typeface="Calibri"/>
              </a:defRPr>
            </a:pPr>
          </a:p>
          <a:p>
            <a:pPr algn="l">
              <a:lnSpc>
                <a:spcPts val="1800"/>
              </a:lnSpc>
              <a:spcBef>
                <a:spcPts val="200"/>
              </a:spcBef>
              <a:spcAft>
                <a:spcPts val="200"/>
              </a:spcAft>
              <a:defRPr sz="1300" b="0">
                <a:solidFill>
                  <a:srgbClr val="F1F5F9"/>
                </a:solidFill>
                <a:latin typeface="Calibri"/>
              </a:defRPr>
            </a:pPr>
            <a:r>
              <a:t>Forensic-grade evidence analysis that investigators can use in legal proceedings</a:t>
            </a:r>
          </a:p>
          <a:p>
            <a:pPr algn="l">
              <a:lnSpc>
                <a:spcPts val="1800"/>
              </a:lnSpc>
              <a:spcBef>
                <a:spcPts val="200"/>
              </a:spcBef>
              <a:spcAft>
                <a:spcPts val="200"/>
              </a:spcAft>
              <a:defRPr sz="1300" b="0">
                <a:solidFill>
                  <a:srgbClr val="F1F5F9"/>
                </a:solidFill>
                <a:latin typeface="Calibri"/>
              </a:defRPr>
            </a:pPr>
            <a:r>
              <a:t>Cross-case correlation to discover coordinated attack campaigns</a:t>
            </a:r>
          </a:p>
          <a:p>
            <a:pPr algn="l">
              <a:lnSpc>
                <a:spcPts val="1800"/>
              </a:lnSpc>
              <a:spcBef>
                <a:spcPts val="200"/>
              </a:spcBef>
              <a:spcAft>
                <a:spcPts val="200"/>
              </a:spcAft>
              <a:defRPr sz="1300" b="0">
                <a:solidFill>
                  <a:srgbClr val="F1F5F9"/>
                </a:solidFill>
                <a:latin typeface="Calibri"/>
              </a:defRPr>
            </a:pPr>
            <a:r>
              <a:t>Explainable reasoning — showing WHY an email is suspicious, not just a binary verdict</a:t>
            </a:r>
          </a:p>
          <a:p>
            <a:pPr algn="l">
              <a:lnSpc>
                <a:spcPts val="1800"/>
              </a:lnSpc>
              <a:spcBef>
                <a:spcPts val="200"/>
              </a:spcBef>
              <a:spcAft>
                <a:spcPts val="200"/>
              </a:spcAft>
              <a:defRPr sz="1300" b="0">
                <a:solidFill>
                  <a:srgbClr val="F1F5F9"/>
                </a:solidFill>
                <a:latin typeface="Calibri"/>
              </a:defRPr>
            </a:pPr>
            <a:r>
              <a:t>Identity contradiction detection across email headers, authentication, and infrastructure</a:t>
            </a:r>
          </a:p>
          <a:p>
            <a:pPr algn="l">
              <a:lnSpc>
                <a:spcPts val="1800"/>
              </a:lnSpc>
              <a:spcBef>
                <a:spcPts val="200"/>
              </a:spcBef>
              <a:spcAft>
                <a:spcPts val="200"/>
              </a:spcAft>
              <a:defRPr sz="1300" b="0">
                <a:solidFill>
                  <a:srgbClr val="F1F5F9"/>
                </a:solidFill>
                <a:latin typeface="Calibri"/>
              </a:defRPr>
            </a:pPr>
            <a:r>
              <a:t>Attack path reconstruction with evidence provenance and confidence scores</a:t>
            </a:r>
          </a:p>
        </p:txBody>
      </p:sp>
      <p:sp>
        <p:nvSpPr>
          <p:cNvPr id="22" name="TextBox 21"/>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2/19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Problem Context</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Existing challenges in email forensics</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5212080" cy="46634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846320" cy="320040"/>
          </a:xfrm>
          <a:prstGeom prst="rect">
            <a:avLst/>
          </a:prstGeom>
          <a:noFill/>
        </p:spPr>
        <p:txBody>
          <a:bodyPr wrap="square"/>
          <a:lstStyle/>
          <a:p>
            <a:pPr algn="l">
              <a:lnSpc>
                <a:spcPts val="1100"/>
              </a:lnSpc>
              <a:spcBef>
                <a:spcPts val="0"/>
              </a:spcBef>
              <a:spcAft>
                <a:spcPts val="0"/>
              </a:spcAft>
              <a:defRPr sz="1000" b="1">
                <a:solidFill>
                  <a:srgbClr val="EF4444"/>
                </a:solidFill>
                <a:latin typeface="Consolas"/>
              </a:defRPr>
            </a:pPr>
            <a:r>
              <a:rPr>
                <a:latin typeface="Consolas"/>
              </a:rPr>
              <a:t>CURRENT LIMITATIONS</a:t>
            </a:r>
          </a:p>
        </p:txBody>
      </p:sp>
      <p:sp>
        <p:nvSpPr>
          <p:cNvPr id="9" name="Rounded Rectangle 8"/>
          <p:cNvSpPr/>
          <p:nvPr/>
        </p:nvSpPr>
        <p:spPr>
          <a:xfrm>
            <a:off x="914400" y="2148840"/>
            <a:ext cx="484632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194560"/>
            <a:ext cx="4572000" cy="274320"/>
          </a:xfrm>
          <a:prstGeom prst="rect">
            <a:avLst/>
          </a:prstGeom>
          <a:noFill/>
        </p:spPr>
        <p:txBody>
          <a:bodyPr wrap="square"/>
          <a:lstStyle/>
          <a:p>
            <a:pPr algn="l">
              <a:lnSpc>
                <a:spcPts val="1300"/>
              </a:lnSpc>
              <a:spcBef>
                <a:spcPts val="0"/>
              </a:spcBef>
              <a:spcAft>
                <a:spcPts val="0"/>
              </a:spcAft>
              <a:defRPr sz="1200" b="1">
                <a:solidFill>
                  <a:srgbClr val="F59E0B"/>
                </a:solidFill>
                <a:latin typeface="Calibri"/>
              </a:defRPr>
            </a:pPr>
            <a:r>
              <a:rPr>
                <a:latin typeface="Calibri"/>
              </a:rPr>
              <a:t>SPF/DKIM/DMARC Alone Are Insufficient</a:t>
            </a:r>
          </a:p>
        </p:txBody>
      </p:sp>
      <p:sp>
        <p:nvSpPr>
          <p:cNvPr id="11" name="TextBox 10"/>
          <p:cNvSpPr txBox="1"/>
          <p:nvPr/>
        </p:nvSpPr>
        <p:spPr>
          <a:xfrm>
            <a:off x="1051560" y="2468880"/>
            <a:ext cx="457200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Authentication passing does NOT establish legitimate intent. Compromised accounts still pass all checks.</a:t>
            </a:r>
          </a:p>
        </p:txBody>
      </p:sp>
      <p:sp>
        <p:nvSpPr>
          <p:cNvPr id="12" name="Rounded Rectangle 11"/>
          <p:cNvSpPr/>
          <p:nvPr/>
        </p:nvSpPr>
        <p:spPr>
          <a:xfrm>
            <a:off x="914400" y="2862072"/>
            <a:ext cx="484632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907792"/>
            <a:ext cx="4572000" cy="274320"/>
          </a:xfrm>
          <a:prstGeom prst="rect">
            <a:avLst/>
          </a:prstGeom>
          <a:noFill/>
        </p:spPr>
        <p:txBody>
          <a:bodyPr wrap="square"/>
          <a:lstStyle/>
          <a:p>
            <a:pPr algn="l">
              <a:lnSpc>
                <a:spcPts val="1300"/>
              </a:lnSpc>
              <a:spcBef>
                <a:spcPts val="0"/>
              </a:spcBef>
              <a:spcAft>
                <a:spcPts val="0"/>
              </a:spcAft>
              <a:defRPr sz="1200" b="1">
                <a:solidFill>
                  <a:srgbClr val="F59E0B"/>
                </a:solidFill>
                <a:latin typeface="Calibri"/>
              </a:defRPr>
            </a:pPr>
            <a:r>
              <a:rPr>
                <a:latin typeface="Calibri"/>
              </a:rPr>
              <a:t>No Identity Contradiction Detection</a:t>
            </a:r>
          </a:p>
        </p:txBody>
      </p:sp>
      <p:sp>
        <p:nvSpPr>
          <p:cNvPr id="14" name="TextBox 13"/>
          <p:cNvSpPr txBox="1"/>
          <p:nvPr/>
        </p:nvSpPr>
        <p:spPr>
          <a:xfrm>
            <a:off x="1051560" y="3182112"/>
            <a:ext cx="457200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From vs Reply-To vs Return-Path mismatches go undetected by standard filters.</a:t>
            </a:r>
          </a:p>
        </p:txBody>
      </p:sp>
      <p:sp>
        <p:nvSpPr>
          <p:cNvPr id="15" name="Rounded Rectangle 14"/>
          <p:cNvSpPr/>
          <p:nvPr/>
        </p:nvSpPr>
        <p:spPr>
          <a:xfrm>
            <a:off x="914400" y="3575304"/>
            <a:ext cx="484632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621024"/>
            <a:ext cx="4572000" cy="274320"/>
          </a:xfrm>
          <a:prstGeom prst="rect">
            <a:avLst/>
          </a:prstGeom>
          <a:noFill/>
        </p:spPr>
        <p:txBody>
          <a:bodyPr wrap="square"/>
          <a:lstStyle/>
          <a:p>
            <a:pPr algn="l">
              <a:lnSpc>
                <a:spcPts val="1300"/>
              </a:lnSpc>
              <a:spcBef>
                <a:spcPts val="0"/>
              </a:spcBef>
              <a:spcAft>
                <a:spcPts val="0"/>
              </a:spcAft>
              <a:defRPr sz="1200" b="1">
                <a:solidFill>
                  <a:srgbClr val="F59E0B"/>
                </a:solidFill>
                <a:latin typeface="Calibri"/>
              </a:defRPr>
            </a:pPr>
            <a:r>
              <a:rPr>
                <a:latin typeface="Calibri"/>
              </a:rPr>
              <a:t>No Cross-Case Correlation</a:t>
            </a:r>
          </a:p>
        </p:txBody>
      </p:sp>
      <p:sp>
        <p:nvSpPr>
          <p:cNvPr id="17" name="TextBox 16"/>
          <p:cNvSpPr txBox="1"/>
          <p:nvPr/>
        </p:nvSpPr>
        <p:spPr>
          <a:xfrm>
            <a:off x="1051560" y="3895344"/>
            <a:ext cx="457200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Related attacks using the same infrastructure are treated as isolated incidents.</a:t>
            </a:r>
          </a:p>
        </p:txBody>
      </p:sp>
      <p:sp>
        <p:nvSpPr>
          <p:cNvPr id="18" name="Rounded Rectangle 17"/>
          <p:cNvSpPr/>
          <p:nvPr/>
        </p:nvSpPr>
        <p:spPr>
          <a:xfrm>
            <a:off x="914400" y="4288536"/>
            <a:ext cx="484632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334256"/>
            <a:ext cx="4572000" cy="274320"/>
          </a:xfrm>
          <a:prstGeom prst="rect">
            <a:avLst/>
          </a:prstGeom>
          <a:noFill/>
        </p:spPr>
        <p:txBody>
          <a:bodyPr wrap="square"/>
          <a:lstStyle/>
          <a:p>
            <a:pPr algn="l">
              <a:lnSpc>
                <a:spcPts val="1300"/>
              </a:lnSpc>
              <a:spcBef>
                <a:spcPts val="0"/>
              </a:spcBef>
              <a:spcAft>
                <a:spcPts val="0"/>
              </a:spcAft>
              <a:defRPr sz="1200" b="1">
                <a:solidFill>
                  <a:srgbClr val="F59E0B"/>
                </a:solidFill>
                <a:latin typeface="Calibri"/>
              </a:defRPr>
            </a:pPr>
            <a:r>
              <a:rPr>
                <a:latin typeface="Calibri"/>
              </a:rPr>
              <a:t>Black-Box Classification</a:t>
            </a:r>
          </a:p>
        </p:txBody>
      </p:sp>
      <p:sp>
        <p:nvSpPr>
          <p:cNvPr id="20" name="TextBox 19"/>
          <p:cNvSpPr txBox="1"/>
          <p:nvPr/>
        </p:nvSpPr>
        <p:spPr>
          <a:xfrm>
            <a:off x="1051560" y="4608576"/>
            <a:ext cx="457200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Analysts receive a threat verdict but cannot see which evidence contributed to it.</a:t>
            </a:r>
          </a:p>
        </p:txBody>
      </p:sp>
      <p:sp>
        <p:nvSpPr>
          <p:cNvPr id="21" name="Rounded Rectangle 20"/>
          <p:cNvSpPr/>
          <p:nvPr/>
        </p:nvSpPr>
        <p:spPr>
          <a:xfrm>
            <a:off x="914400" y="5001768"/>
            <a:ext cx="484632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5047488"/>
            <a:ext cx="4572000" cy="274320"/>
          </a:xfrm>
          <a:prstGeom prst="rect">
            <a:avLst/>
          </a:prstGeom>
          <a:noFill/>
        </p:spPr>
        <p:txBody>
          <a:bodyPr wrap="square"/>
          <a:lstStyle/>
          <a:p>
            <a:pPr algn="l">
              <a:lnSpc>
                <a:spcPts val="1300"/>
              </a:lnSpc>
              <a:spcBef>
                <a:spcPts val="0"/>
              </a:spcBef>
              <a:spcAft>
                <a:spcPts val="0"/>
              </a:spcAft>
              <a:defRPr sz="1200" b="1">
                <a:solidFill>
                  <a:srgbClr val="F59E0B"/>
                </a:solidFill>
                <a:latin typeface="Calibri"/>
              </a:defRPr>
            </a:pPr>
            <a:r>
              <a:rPr>
                <a:latin typeface="Calibri"/>
              </a:rPr>
              <a:t>No Forensic Evidence Provenance</a:t>
            </a:r>
          </a:p>
        </p:txBody>
      </p:sp>
      <p:sp>
        <p:nvSpPr>
          <p:cNvPr id="23" name="TextBox 22"/>
          <p:cNvSpPr txBox="1"/>
          <p:nvPr/>
        </p:nvSpPr>
        <p:spPr>
          <a:xfrm>
            <a:off x="1051560" y="5321808"/>
            <a:ext cx="457200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Findings lack chain-of-custody tracking needed for legal proceedings.</a:t>
            </a:r>
          </a:p>
        </p:txBody>
      </p:sp>
      <p:sp>
        <p:nvSpPr>
          <p:cNvPr id="24" name="Rounded Rectangle 23"/>
          <p:cNvSpPr/>
          <p:nvPr/>
        </p:nvSpPr>
        <p:spPr>
          <a:xfrm>
            <a:off x="914400" y="5715000"/>
            <a:ext cx="484632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760720"/>
            <a:ext cx="4572000" cy="274320"/>
          </a:xfrm>
          <a:prstGeom prst="rect">
            <a:avLst/>
          </a:prstGeom>
          <a:noFill/>
        </p:spPr>
        <p:txBody>
          <a:bodyPr wrap="square"/>
          <a:lstStyle/>
          <a:p>
            <a:pPr algn="l">
              <a:lnSpc>
                <a:spcPts val="1300"/>
              </a:lnSpc>
              <a:spcBef>
                <a:spcPts val="0"/>
              </a:spcBef>
              <a:spcAft>
                <a:spcPts val="0"/>
              </a:spcAft>
              <a:defRPr sz="1200" b="1">
                <a:solidFill>
                  <a:srgbClr val="F59E0B"/>
                </a:solidFill>
                <a:latin typeface="Calibri"/>
              </a:defRPr>
            </a:pPr>
            <a:r>
              <a:rPr>
                <a:latin typeface="Calibri"/>
              </a:rPr>
              <a:t>No Attack Path Reconstruction</a:t>
            </a:r>
          </a:p>
        </p:txBody>
      </p:sp>
      <p:sp>
        <p:nvSpPr>
          <p:cNvPr id="26" name="TextBox 25"/>
          <p:cNvSpPr txBox="1"/>
          <p:nvPr/>
        </p:nvSpPr>
        <p:spPr>
          <a:xfrm>
            <a:off x="1051560" y="6035040"/>
            <a:ext cx="457200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Investigations stop at individual emails without mapping the full attack infrastructure.</a:t>
            </a:r>
          </a:p>
        </p:txBody>
      </p:sp>
      <p:sp>
        <p:nvSpPr>
          <p:cNvPr id="27" name="Rounded Rectangle 26"/>
          <p:cNvSpPr/>
          <p:nvPr/>
        </p:nvSpPr>
        <p:spPr>
          <a:xfrm>
            <a:off x="6217920" y="1554480"/>
            <a:ext cx="5212080" cy="46634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1691640"/>
            <a:ext cx="4846320" cy="320040"/>
          </a:xfrm>
          <a:prstGeom prst="rect">
            <a:avLst/>
          </a:prstGeom>
          <a:noFill/>
        </p:spPr>
        <p:txBody>
          <a:bodyPr wrap="square"/>
          <a:lstStyle/>
          <a:p>
            <a:pPr algn="l">
              <a:lnSpc>
                <a:spcPts val="1100"/>
              </a:lnSpc>
              <a:spcBef>
                <a:spcPts val="0"/>
              </a:spcBef>
              <a:spcAft>
                <a:spcPts val="0"/>
              </a:spcAft>
              <a:defRPr sz="1000" b="1">
                <a:solidFill>
                  <a:srgbClr val="3B82F6"/>
                </a:solidFill>
                <a:latin typeface="Consolas"/>
              </a:defRPr>
            </a:pPr>
            <a:r>
              <a:rPr>
                <a:latin typeface="Consolas"/>
              </a:rPr>
              <a:t>COMMERCIAL PRODUCTS</a:t>
            </a:r>
          </a:p>
        </p:txBody>
      </p:sp>
      <p:sp>
        <p:nvSpPr>
          <p:cNvPr id="29" name="TextBox 28"/>
          <p:cNvSpPr txBox="1"/>
          <p:nvPr/>
        </p:nvSpPr>
        <p:spPr>
          <a:xfrm>
            <a:off x="6400800" y="2148840"/>
            <a:ext cx="4846320" cy="457200"/>
          </a:xfrm>
          <a:prstGeom prst="rect">
            <a:avLst/>
          </a:prstGeom>
          <a:noFill/>
        </p:spPr>
        <p:txBody>
          <a:bodyPr wrap="square"/>
          <a:lstStyle/>
          <a:p>
            <a:pPr algn="l">
              <a:lnSpc>
                <a:spcPts val="1300"/>
              </a:lnSpc>
              <a:spcBef>
                <a:spcPts val="0"/>
              </a:spcBef>
              <a:spcAft>
                <a:spcPts val="0"/>
              </a:spcAft>
              <a:defRPr sz="1200" b="0">
                <a:solidFill>
                  <a:srgbClr val="94A3B8"/>
                </a:solidFill>
                <a:latin typeface="Calibri"/>
              </a:defRPr>
            </a:pPr>
            <a:r>
              <a:rPr>
                <a:latin typeface="Calibri"/>
              </a:rPr>
              <a:t>Microsoft Defender, Proofpoint, and Google Workspace provide sophisticated</a:t>
            </a:r>
            <a:br/>
            <a:r>
              <a:t>email security — but as BLOCKING tools, not INVESTIGATION platforms.</a:t>
            </a:r>
          </a:p>
        </p:txBody>
      </p:sp>
      <p:sp>
        <p:nvSpPr>
          <p:cNvPr id="30" name="TextBox 29"/>
          <p:cNvSpPr txBox="1"/>
          <p:nvPr/>
        </p:nvSpPr>
        <p:spPr>
          <a:xfrm>
            <a:off x="6400800" y="2834640"/>
            <a:ext cx="4846320" cy="274320"/>
          </a:xfrm>
          <a:prstGeom prst="rect">
            <a:avLst/>
          </a:prstGeom>
          <a:noFill/>
        </p:spPr>
        <p:txBody>
          <a:bodyPr wrap="square"/>
          <a:lstStyle/>
          <a:p>
            <a:pPr algn="l">
              <a:lnSpc>
                <a:spcPts val="1100"/>
              </a:lnSpc>
              <a:spcBef>
                <a:spcPts val="0"/>
              </a:spcBef>
              <a:spcAft>
                <a:spcPts val="0"/>
              </a:spcAft>
              <a:defRPr sz="1000" b="1">
                <a:solidFill>
                  <a:srgbClr val="06B6D4"/>
                </a:solidFill>
                <a:latin typeface="Consolas"/>
              </a:defRPr>
            </a:pPr>
            <a:r>
              <a:rPr>
                <a:latin typeface="Consolas"/>
              </a:rPr>
              <a:t>KEY GAPS IN EXISTING SOLUTIONS:</a:t>
            </a:r>
          </a:p>
        </p:txBody>
      </p:sp>
      <p:sp>
        <p:nvSpPr>
          <p:cNvPr id="31" name="TextBox 30"/>
          <p:cNvSpPr txBox="1"/>
          <p:nvPr/>
        </p:nvSpPr>
        <p:spPr>
          <a:xfrm>
            <a:off x="6400800" y="3246120"/>
            <a:ext cx="4754880" cy="32004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Single-email classification, not campaign discovery</a:t>
            </a:r>
          </a:p>
        </p:txBody>
      </p:sp>
      <p:sp>
        <p:nvSpPr>
          <p:cNvPr id="32" name="TextBox 31"/>
          <p:cNvSpPr txBox="1"/>
          <p:nvPr/>
        </p:nvSpPr>
        <p:spPr>
          <a:xfrm>
            <a:off x="6400800" y="3611879"/>
            <a:ext cx="4754880" cy="32004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Binary threat verdicts, not evidence-weighted reasoning</a:t>
            </a:r>
          </a:p>
        </p:txBody>
      </p:sp>
      <p:sp>
        <p:nvSpPr>
          <p:cNvPr id="33" name="TextBox 32"/>
          <p:cNvSpPr txBox="1"/>
          <p:nvPr/>
        </p:nvSpPr>
        <p:spPr>
          <a:xfrm>
            <a:off x="6400800" y="3977639"/>
            <a:ext cx="4754880" cy="32004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No identity contradiction mapping across headers</a:t>
            </a:r>
          </a:p>
        </p:txBody>
      </p:sp>
      <p:sp>
        <p:nvSpPr>
          <p:cNvPr id="34" name="TextBox 33"/>
          <p:cNvSpPr txBox="1"/>
          <p:nvPr/>
        </p:nvSpPr>
        <p:spPr>
          <a:xfrm>
            <a:off x="6400800" y="4343400"/>
            <a:ext cx="4754880" cy="32004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No forensic report generation with chain-of-custody</a:t>
            </a:r>
          </a:p>
        </p:txBody>
      </p:sp>
      <p:sp>
        <p:nvSpPr>
          <p:cNvPr id="35" name="TextBox 34"/>
          <p:cNvSpPr txBox="1"/>
          <p:nvPr/>
        </p:nvSpPr>
        <p:spPr>
          <a:xfrm>
            <a:off x="6400800" y="4709160"/>
            <a:ext cx="4754880" cy="32004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No interactive investigation graph or attack path</a:t>
            </a:r>
          </a:p>
        </p:txBody>
      </p:sp>
      <p:sp>
        <p:nvSpPr>
          <p:cNvPr id="36" name="TextBox 35"/>
          <p:cNvSpPr txBox="1"/>
          <p:nvPr/>
        </p:nvSpPr>
        <p:spPr>
          <a:xfrm>
            <a:off x="6400800" y="5074920"/>
            <a:ext cx="4754880" cy="32004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No explainable multi-evidence decision engine</a:t>
            </a:r>
          </a:p>
        </p:txBody>
      </p:sp>
      <p:sp>
        <p:nvSpPr>
          <p:cNvPr id="37" name="Rounded Rectangle 36"/>
          <p:cNvSpPr/>
          <p:nvPr/>
        </p:nvSpPr>
        <p:spPr>
          <a:xfrm>
            <a:off x="6400800" y="5486400"/>
            <a:ext cx="4846320" cy="502920"/>
          </a:xfrm>
          <a:prstGeom prst="roundRect">
            <a:avLst>
              <a:gd name="adj" fmla="val 4000"/>
            </a:avLst>
          </a:prstGeom>
          <a:solidFill>
            <a:srgbClr val="18223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0" y="5532120"/>
            <a:ext cx="4846320" cy="411480"/>
          </a:xfrm>
          <a:prstGeom prst="rect">
            <a:avLst/>
          </a:prstGeom>
          <a:noFill/>
        </p:spPr>
        <p:txBody>
          <a:bodyPr wrap="square"/>
          <a:lstStyle/>
          <a:p>
            <a:pPr algn="l">
              <a:lnSpc>
                <a:spcPts val="1200"/>
              </a:lnSpc>
              <a:spcBef>
                <a:spcPts val="0"/>
              </a:spcBef>
              <a:spcAft>
                <a:spcPts val="0"/>
              </a:spcAft>
              <a:defRPr sz="1100" b="1">
                <a:solidFill>
                  <a:srgbClr val="10B981"/>
                </a:solidFill>
                <a:latin typeface="Calibri"/>
              </a:defRPr>
            </a:pPr>
            <a:r>
              <a:rPr>
                <a:latin typeface="Calibri"/>
              </a:rPr>
              <a:t>THE GAP: No platform combines forensic reasoning,</a:t>
            </a:r>
            <a:br/>
            <a:r>
              <a:t>campaign discovery, and explainable multi-evidence decisions.</a:t>
            </a:r>
          </a:p>
        </p:txBody>
      </p:sp>
      <p:sp>
        <p:nvSpPr>
          <p:cNvPr id="39" name="TextBox 38"/>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3/19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Proposed Solution</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Forensic Email Evidence Engine</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10698480" cy="1188720"/>
          </a:xfrm>
          <a:prstGeom prst="roundRect">
            <a:avLst>
              <a:gd name="adj" fmla="val 4000"/>
            </a:avLst>
          </a:prstGeom>
          <a:solidFill>
            <a:srgbClr val="10162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365760"/>
          </a:xfrm>
          <a:prstGeom prst="rect">
            <a:avLst/>
          </a:prstGeom>
          <a:noFill/>
        </p:spPr>
        <p:txBody>
          <a:bodyPr wrap="square"/>
          <a:lstStyle/>
          <a:p>
            <a:pPr algn="l">
              <a:lnSpc>
                <a:spcPts val="1100"/>
              </a:lnSpc>
              <a:spcBef>
                <a:spcPts val="0"/>
              </a:spcBef>
              <a:spcAft>
                <a:spcPts val="0"/>
              </a:spcAft>
              <a:defRPr sz="1000" b="1">
                <a:solidFill>
                  <a:srgbClr val="06B6D4"/>
                </a:solidFill>
                <a:latin typeface="Consolas"/>
              </a:defRPr>
            </a:pPr>
            <a:r>
              <a:rPr>
                <a:latin typeface="Consolas"/>
              </a:rPr>
              <a:t>CONCEPT</a:t>
            </a:r>
          </a:p>
        </p:txBody>
      </p:sp>
      <p:sp>
        <p:nvSpPr>
          <p:cNvPr id="9" name="TextBox 8"/>
          <p:cNvSpPr txBox="1"/>
          <p:nvPr/>
        </p:nvSpPr>
        <p:spPr>
          <a:xfrm>
            <a:off x="914400" y="1965960"/>
            <a:ext cx="10332720" cy="640080"/>
          </a:xfrm>
          <a:prstGeom prst="rect">
            <a:avLst/>
          </a:prstGeom>
          <a:noFill/>
        </p:spPr>
        <p:txBody>
          <a:bodyPr wrap="square"/>
          <a:lstStyle/>
          <a:p>
            <a:pPr algn="l">
              <a:lnSpc>
                <a:spcPts val="1400"/>
              </a:lnSpc>
              <a:spcBef>
                <a:spcPts val="0"/>
              </a:spcBef>
              <a:spcAft>
                <a:spcPts val="0"/>
              </a:spcAft>
              <a:defRPr sz="1300" b="0">
                <a:solidFill>
                  <a:srgbClr val="F1F5F9"/>
                </a:solidFill>
                <a:latin typeface="Calibri"/>
              </a:defRPr>
            </a:pPr>
            <a:r>
              <a:rPr>
                <a:latin typeface="Calibri"/>
              </a:rPr>
              <a:t>Treat every email as a forensic evidence package rather than simply a classification input. Convert suspicious emails into structured forensic evidence graphs, detect contradictions across sender identity and infrastructure, correlate evidence across multiple incidents to discover campaigns, and show confidence and provenance for every investigative finding.</a:t>
            </a:r>
          </a:p>
        </p:txBody>
      </p:sp>
      <p:sp>
        <p:nvSpPr>
          <p:cNvPr id="10" name="Rounded Rectangle 9"/>
          <p:cNvSpPr/>
          <p:nvPr/>
        </p:nvSpPr>
        <p:spPr>
          <a:xfrm>
            <a:off x="594360" y="3063240"/>
            <a:ext cx="1234440" cy="13716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200400"/>
            <a:ext cx="1234440" cy="640080"/>
          </a:xfrm>
          <a:prstGeom prst="rect">
            <a:avLst/>
          </a:prstGeom>
          <a:noFill/>
        </p:spPr>
        <p:txBody>
          <a:bodyPr wrap="square"/>
          <a:lstStyle/>
          <a:p>
            <a:pPr algn="ctr">
              <a:lnSpc>
                <a:spcPts val="1200"/>
              </a:lnSpc>
              <a:spcBef>
                <a:spcPts val="0"/>
              </a:spcBef>
              <a:spcAft>
                <a:spcPts val="0"/>
              </a:spcAft>
              <a:defRPr sz="1100" b="1">
                <a:solidFill>
                  <a:srgbClr val="F1F5F9"/>
                </a:solidFill>
                <a:latin typeface="Calibri"/>
              </a:defRPr>
            </a:pPr>
            <a:r>
              <a:rPr>
                <a:latin typeface="Calibri"/>
              </a:rPr>
              <a:t>RAW</a:t>
            </a:r>
            <a:br/>
            <a:r>
              <a:t>.EML</a:t>
            </a:r>
          </a:p>
        </p:txBody>
      </p:sp>
      <p:sp>
        <p:nvSpPr>
          <p:cNvPr id="12" name="TextBox 11"/>
          <p:cNvSpPr txBox="1"/>
          <p:nvPr/>
        </p:nvSpPr>
        <p:spPr>
          <a:xfrm>
            <a:off x="594360" y="3840480"/>
            <a:ext cx="1234440" cy="45720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Ingestion</a:t>
            </a:r>
          </a:p>
        </p:txBody>
      </p:sp>
      <p:sp>
        <p:nvSpPr>
          <p:cNvPr id="13" name="TextBox 12"/>
          <p:cNvSpPr txBox="1"/>
          <p:nvPr/>
        </p:nvSpPr>
        <p:spPr>
          <a:xfrm>
            <a:off x="1828800" y="3566160"/>
            <a:ext cx="182880" cy="274320"/>
          </a:xfrm>
          <a:prstGeom prst="rect">
            <a:avLst/>
          </a:prstGeom>
          <a:noFill/>
        </p:spPr>
        <p:txBody>
          <a:bodyPr wrap="square"/>
          <a:lstStyle/>
          <a:p>
            <a:pPr algn="ctr">
              <a:lnSpc>
                <a:spcPts val="1300"/>
              </a:lnSpc>
              <a:spcBef>
                <a:spcPts val="0"/>
              </a:spcBef>
              <a:spcAft>
                <a:spcPts val="0"/>
              </a:spcAft>
              <a:defRPr sz="1200" b="0">
                <a:solidFill>
                  <a:srgbClr val="06B6D4"/>
                </a:solidFill>
                <a:latin typeface="Calibri"/>
              </a:defRPr>
            </a:pPr>
            <a:r>
              <a:rPr>
                <a:latin typeface="Calibri"/>
              </a:rPr>
              <a:t>▶</a:t>
            </a:r>
          </a:p>
        </p:txBody>
      </p:sp>
      <p:sp>
        <p:nvSpPr>
          <p:cNvPr id="14" name="Rounded Rectangle 13"/>
          <p:cNvSpPr/>
          <p:nvPr/>
        </p:nvSpPr>
        <p:spPr>
          <a:xfrm>
            <a:off x="2011680" y="3063240"/>
            <a:ext cx="1234440" cy="13716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11680" y="3200400"/>
            <a:ext cx="1234440" cy="640080"/>
          </a:xfrm>
          <a:prstGeom prst="rect">
            <a:avLst/>
          </a:prstGeom>
          <a:noFill/>
        </p:spPr>
        <p:txBody>
          <a:bodyPr wrap="square"/>
          <a:lstStyle/>
          <a:p>
            <a:pPr algn="ctr">
              <a:lnSpc>
                <a:spcPts val="1200"/>
              </a:lnSpc>
              <a:spcBef>
                <a:spcPts val="0"/>
              </a:spcBef>
              <a:spcAft>
                <a:spcPts val="0"/>
              </a:spcAft>
              <a:defRPr sz="1100" b="1">
                <a:solidFill>
                  <a:srgbClr val="F1F5F9"/>
                </a:solidFill>
                <a:latin typeface="Calibri"/>
              </a:defRPr>
            </a:pPr>
            <a:r>
              <a:rPr>
                <a:latin typeface="Calibri"/>
              </a:rPr>
              <a:t>Evidence</a:t>
            </a:r>
            <a:br/>
            <a:r>
              <a:t>Extraction</a:t>
            </a:r>
          </a:p>
        </p:txBody>
      </p:sp>
      <p:sp>
        <p:nvSpPr>
          <p:cNvPr id="16" name="TextBox 15"/>
          <p:cNvSpPr txBox="1"/>
          <p:nvPr/>
        </p:nvSpPr>
        <p:spPr>
          <a:xfrm>
            <a:off x="2011680" y="3840480"/>
            <a:ext cx="1234440" cy="45720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MIME parsing</a:t>
            </a:r>
            <a:br/>
            <a:r>
              <a:t>SHA-256 hash</a:t>
            </a:r>
          </a:p>
        </p:txBody>
      </p:sp>
      <p:sp>
        <p:nvSpPr>
          <p:cNvPr id="17" name="TextBox 16"/>
          <p:cNvSpPr txBox="1"/>
          <p:nvPr/>
        </p:nvSpPr>
        <p:spPr>
          <a:xfrm>
            <a:off x="3246120" y="3566160"/>
            <a:ext cx="182880" cy="274320"/>
          </a:xfrm>
          <a:prstGeom prst="rect">
            <a:avLst/>
          </a:prstGeom>
          <a:noFill/>
        </p:spPr>
        <p:txBody>
          <a:bodyPr wrap="square"/>
          <a:lstStyle/>
          <a:p>
            <a:pPr algn="ctr">
              <a:lnSpc>
                <a:spcPts val="1300"/>
              </a:lnSpc>
              <a:spcBef>
                <a:spcPts val="0"/>
              </a:spcBef>
              <a:spcAft>
                <a:spcPts val="0"/>
              </a:spcAft>
              <a:defRPr sz="1200" b="0">
                <a:solidFill>
                  <a:srgbClr val="06B6D4"/>
                </a:solidFill>
                <a:latin typeface="Calibri"/>
              </a:defRPr>
            </a:pPr>
            <a:r>
              <a:rPr>
                <a:latin typeface="Calibri"/>
              </a:rPr>
              <a:t>▶</a:t>
            </a:r>
          </a:p>
        </p:txBody>
      </p:sp>
      <p:sp>
        <p:nvSpPr>
          <p:cNvPr id="18" name="Rounded Rectangle 17"/>
          <p:cNvSpPr/>
          <p:nvPr/>
        </p:nvSpPr>
        <p:spPr>
          <a:xfrm>
            <a:off x="3429000" y="3063240"/>
            <a:ext cx="1234440" cy="13716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29000" y="3200400"/>
            <a:ext cx="1234440" cy="640080"/>
          </a:xfrm>
          <a:prstGeom prst="rect">
            <a:avLst/>
          </a:prstGeom>
          <a:noFill/>
        </p:spPr>
        <p:txBody>
          <a:bodyPr wrap="square"/>
          <a:lstStyle/>
          <a:p>
            <a:pPr algn="ctr">
              <a:lnSpc>
                <a:spcPts val="1200"/>
              </a:lnSpc>
              <a:spcBef>
                <a:spcPts val="0"/>
              </a:spcBef>
              <a:spcAft>
                <a:spcPts val="0"/>
              </a:spcAft>
              <a:defRPr sz="1100" b="1">
                <a:solidFill>
                  <a:srgbClr val="F1F5F9"/>
                </a:solidFill>
                <a:latin typeface="Calibri"/>
              </a:defRPr>
            </a:pPr>
            <a:r>
              <a:rPr>
                <a:latin typeface="Calibri"/>
              </a:rPr>
              <a:t>Evidence</a:t>
            </a:r>
            <a:br/>
            <a:r>
              <a:t>Normalization</a:t>
            </a:r>
          </a:p>
        </p:txBody>
      </p:sp>
      <p:sp>
        <p:nvSpPr>
          <p:cNvPr id="20" name="TextBox 19"/>
          <p:cNvSpPr txBox="1"/>
          <p:nvPr/>
        </p:nvSpPr>
        <p:spPr>
          <a:xfrm>
            <a:off x="3429000" y="3840480"/>
            <a:ext cx="1234440" cy="45720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RFC-aware</a:t>
            </a:r>
            <a:br/>
            <a:r>
              <a:t>Canonicalize</a:t>
            </a:r>
          </a:p>
        </p:txBody>
      </p:sp>
      <p:sp>
        <p:nvSpPr>
          <p:cNvPr id="21" name="TextBox 20"/>
          <p:cNvSpPr txBox="1"/>
          <p:nvPr/>
        </p:nvSpPr>
        <p:spPr>
          <a:xfrm>
            <a:off x="4663440" y="3566160"/>
            <a:ext cx="182880" cy="274320"/>
          </a:xfrm>
          <a:prstGeom prst="rect">
            <a:avLst/>
          </a:prstGeom>
          <a:noFill/>
        </p:spPr>
        <p:txBody>
          <a:bodyPr wrap="square"/>
          <a:lstStyle/>
          <a:p>
            <a:pPr algn="ctr">
              <a:lnSpc>
                <a:spcPts val="1300"/>
              </a:lnSpc>
              <a:spcBef>
                <a:spcPts val="0"/>
              </a:spcBef>
              <a:spcAft>
                <a:spcPts val="0"/>
              </a:spcAft>
              <a:defRPr sz="1200" b="0">
                <a:solidFill>
                  <a:srgbClr val="06B6D4"/>
                </a:solidFill>
                <a:latin typeface="Calibri"/>
              </a:defRPr>
            </a:pPr>
            <a:r>
              <a:rPr>
                <a:latin typeface="Calibri"/>
              </a:rPr>
              <a:t>▶</a:t>
            </a:r>
          </a:p>
        </p:txBody>
      </p:sp>
      <p:sp>
        <p:nvSpPr>
          <p:cNvPr id="22" name="Rounded Rectangle 21"/>
          <p:cNvSpPr/>
          <p:nvPr/>
        </p:nvSpPr>
        <p:spPr>
          <a:xfrm>
            <a:off x="4846320" y="3063240"/>
            <a:ext cx="1234440" cy="13716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3200400"/>
            <a:ext cx="1234440" cy="640080"/>
          </a:xfrm>
          <a:prstGeom prst="rect">
            <a:avLst/>
          </a:prstGeom>
          <a:noFill/>
        </p:spPr>
        <p:txBody>
          <a:bodyPr wrap="square"/>
          <a:lstStyle/>
          <a:p>
            <a:pPr algn="ctr">
              <a:lnSpc>
                <a:spcPts val="1200"/>
              </a:lnSpc>
              <a:spcBef>
                <a:spcPts val="0"/>
              </a:spcBef>
              <a:spcAft>
                <a:spcPts val="0"/>
              </a:spcAft>
              <a:defRPr sz="1100" b="1">
                <a:solidFill>
                  <a:srgbClr val="F1F5F9"/>
                </a:solidFill>
                <a:latin typeface="Calibri"/>
              </a:defRPr>
            </a:pPr>
            <a:r>
              <a:rPr>
                <a:latin typeface="Calibri"/>
              </a:rPr>
              <a:t>Forensic</a:t>
            </a:r>
            <a:br/>
            <a:r>
              <a:t>Engines</a:t>
            </a:r>
          </a:p>
        </p:txBody>
      </p:sp>
      <p:sp>
        <p:nvSpPr>
          <p:cNvPr id="24" name="TextBox 23"/>
          <p:cNvSpPr txBox="1"/>
          <p:nvPr/>
        </p:nvSpPr>
        <p:spPr>
          <a:xfrm>
            <a:off x="4846320" y="3840480"/>
            <a:ext cx="1234440" cy="45720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Identity</a:t>
            </a:r>
            <a:br/>
            <a:r>
              <a:t>Infrastructure</a:t>
            </a:r>
          </a:p>
        </p:txBody>
      </p:sp>
      <p:sp>
        <p:nvSpPr>
          <p:cNvPr id="25" name="TextBox 24"/>
          <p:cNvSpPr txBox="1"/>
          <p:nvPr/>
        </p:nvSpPr>
        <p:spPr>
          <a:xfrm>
            <a:off x="6080760" y="3566160"/>
            <a:ext cx="182880" cy="274320"/>
          </a:xfrm>
          <a:prstGeom prst="rect">
            <a:avLst/>
          </a:prstGeom>
          <a:noFill/>
        </p:spPr>
        <p:txBody>
          <a:bodyPr wrap="square"/>
          <a:lstStyle/>
          <a:p>
            <a:pPr algn="ctr">
              <a:lnSpc>
                <a:spcPts val="1300"/>
              </a:lnSpc>
              <a:spcBef>
                <a:spcPts val="0"/>
              </a:spcBef>
              <a:spcAft>
                <a:spcPts val="0"/>
              </a:spcAft>
              <a:defRPr sz="1200" b="0">
                <a:solidFill>
                  <a:srgbClr val="06B6D4"/>
                </a:solidFill>
                <a:latin typeface="Calibri"/>
              </a:defRPr>
            </a:pPr>
            <a:r>
              <a:rPr>
                <a:latin typeface="Calibri"/>
              </a:rPr>
              <a:t>▶</a:t>
            </a:r>
          </a:p>
        </p:txBody>
      </p:sp>
      <p:sp>
        <p:nvSpPr>
          <p:cNvPr id="26" name="Rounded Rectangle 25"/>
          <p:cNvSpPr/>
          <p:nvPr/>
        </p:nvSpPr>
        <p:spPr>
          <a:xfrm>
            <a:off x="6263640" y="3063240"/>
            <a:ext cx="1234440" cy="13716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3200400"/>
            <a:ext cx="1234440" cy="640080"/>
          </a:xfrm>
          <a:prstGeom prst="rect">
            <a:avLst/>
          </a:prstGeom>
          <a:noFill/>
        </p:spPr>
        <p:txBody>
          <a:bodyPr wrap="square"/>
          <a:lstStyle/>
          <a:p>
            <a:pPr algn="ctr">
              <a:lnSpc>
                <a:spcPts val="1200"/>
              </a:lnSpc>
              <a:spcBef>
                <a:spcPts val="0"/>
              </a:spcBef>
              <a:spcAft>
                <a:spcPts val="0"/>
              </a:spcAft>
              <a:defRPr sz="1100" b="1">
                <a:solidFill>
                  <a:srgbClr val="F1F5F9"/>
                </a:solidFill>
                <a:latin typeface="Calibri"/>
              </a:defRPr>
            </a:pPr>
            <a:r>
              <a:rPr>
                <a:latin typeface="Calibri"/>
              </a:rPr>
              <a:t>AI +</a:t>
            </a:r>
            <a:br/>
            <a:r>
              <a:t>Intelligence</a:t>
            </a:r>
          </a:p>
        </p:txBody>
      </p:sp>
      <p:sp>
        <p:nvSpPr>
          <p:cNvPr id="28" name="TextBox 27"/>
          <p:cNvSpPr txBox="1"/>
          <p:nvPr/>
        </p:nvSpPr>
        <p:spPr>
          <a:xfrm>
            <a:off x="6263640" y="3840480"/>
            <a:ext cx="1234440" cy="45720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NLP / ML</a:t>
            </a:r>
            <a:br/>
            <a:r>
              <a:t>Threat Intel</a:t>
            </a:r>
          </a:p>
        </p:txBody>
      </p:sp>
      <p:sp>
        <p:nvSpPr>
          <p:cNvPr id="29" name="TextBox 28"/>
          <p:cNvSpPr txBox="1"/>
          <p:nvPr/>
        </p:nvSpPr>
        <p:spPr>
          <a:xfrm>
            <a:off x="7498080" y="3566160"/>
            <a:ext cx="182880" cy="274320"/>
          </a:xfrm>
          <a:prstGeom prst="rect">
            <a:avLst/>
          </a:prstGeom>
          <a:noFill/>
        </p:spPr>
        <p:txBody>
          <a:bodyPr wrap="square"/>
          <a:lstStyle/>
          <a:p>
            <a:pPr algn="ctr">
              <a:lnSpc>
                <a:spcPts val="1300"/>
              </a:lnSpc>
              <a:spcBef>
                <a:spcPts val="0"/>
              </a:spcBef>
              <a:spcAft>
                <a:spcPts val="0"/>
              </a:spcAft>
              <a:defRPr sz="1200" b="0">
                <a:solidFill>
                  <a:srgbClr val="06B6D4"/>
                </a:solidFill>
                <a:latin typeface="Calibri"/>
              </a:defRPr>
            </a:pPr>
            <a:r>
              <a:rPr>
                <a:latin typeface="Calibri"/>
              </a:rPr>
              <a:t>▶</a:t>
            </a:r>
          </a:p>
        </p:txBody>
      </p:sp>
      <p:sp>
        <p:nvSpPr>
          <p:cNvPr id="30" name="Rounded Rectangle 29"/>
          <p:cNvSpPr/>
          <p:nvPr/>
        </p:nvSpPr>
        <p:spPr>
          <a:xfrm>
            <a:off x="7680960" y="3063240"/>
            <a:ext cx="1234440" cy="13716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0" y="3200400"/>
            <a:ext cx="1234440" cy="640080"/>
          </a:xfrm>
          <a:prstGeom prst="rect">
            <a:avLst/>
          </a:prstGeom>
          <a:noFill/>
        </p:spPr>
        <p:txBody>
          <a:bodyPr wrap="square"/>
          <a:lstStyle/>
          <a:p>
            <a:pPr algn="ctr">
              <a:lnSpc>
                <a:spcPts val="1200"/>
              </a:lnSpc>
              <a:spcBef>
                <a:spcPts val="0"/>
              </a:spcBef>
              <a:spcAft>
                <a:spcPts val="0"/>
              </a:spcAft>
              <a:defRPr sz="1100" b="1">
                <a:solidFill>
                  <a:srgbClr val="F1F5F9"/>
                </a:solidFill>
                <a:latin typeface="Calibri"/>
              </a:defRPr>
            </a:pPr>
            <a:r>
              <a:rPr>
                <a:latin typeface="Calibri"/>
              </a:rPr>
              <a:t>Correlation</a:t>
            </a:r>
          </a:p>
        </p:txBody>
      </p:sp>
      <p:sp>
        <p:nvSpPr>
          <p:cNvPr id="32" name="TextBox 31"/>
          <p:cNvSpPr txBox="1"/>
          <p:nvPr/>
        </p:nvSpPr>
        <p:spPr>
          <a:xfrm>
            <a:off x="7680960" y="3840480"/>
            <a:ext cx="1234440" cy="45720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Graph +</a:t>
            </a:r>
            <a:br/>
            <a:r>
              <a:t>Campaign</a:t>
            </a:r>
          </a:p>
        </p:txBody>
      </p:sp>
      <p:sp>
        <p:nvSpPr>
          <p:cNvPr id="33" name="TextBox 32"/>
          <p:cNvSpPr txBox="1"/>
          <p:nvPr/>
        </p:nvSpPr>
        <p:spPr>
          <a:xfrm>
            <a:off x="8915400" y="3566160"/>
            <a:ext cx="182880" cy="274320"/>
          </a:xfrm>
          <a:prstGeom prst="rect">
            <a:avLst/>
          </a:prstGeom>
          <a:noFill/>
        </p:spPr>
        <p:txBody>
          <a:bodyPr wrap="square"/>
          <a:lstStyle/>
          <a:p>
            <a:pPr algn="ctr">
              <a:lnSpc>
                <a:spcPts val="1300"/>
              </a:lnSpc>
              <a:spcBef>
                <a:spcPts val="0"/>
              </a:spcBef>
              <a:spcAft>
                <a:spcPts val="0"/>
              </a:spcAft>
              <a:defRPr sz="1200" b="0">
                <a:solidFill>
                  <a:srgbClr val="06B6D4"/>
                </a:solidFill>
                <a:latin typeface="Calibri"/>
              </a:defRPr>
            </a:pPr>
            <a:r>
              <a:rPr>
                <a:latin typeface="Calibri"/>
              </a:rPr>
              <a:t>▶</a:t>
            </a:r>
          </a:p>
        </p:txBody>
      </p:sp>
      <p:sp>
        <p:nvSpPr>
          <p:cNvPr id="34" name="Rounded Rectangle 33"/>
          <p:cNvSpPr/>
          <p:nvPr/>
        </p:nvSpPr>
        <p:spPr>
          <a:xfrm>
            <a:off x="9098280" y="3063240"/>
            <a:ext cx="1234440" cy="13716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98280" y="3200400"/>
            <a:ext cx="1234440" cy="640080"/>
          </a:xfrm>
          <a:prstGeom prst="rect">
            <a:avLst/>
          </a:prstGeom>
          <a:noFill/>
        </p:spPr>
        <p:txBody>
          <a:bodyPr wrap="square"/>
          <a:lstStyle/>
          <a:p>
            <a:pPr algn="ctr">
              <a:lnSpc>
                <a:spcPts val="1200"/>
              </a:lnSpc>
              <a:spcBef>
                <a:spcPts val="0"/>
              </a:spcBef>
              <a:spcAft>
                <a:spcPts val="0"/>
              </a:spcAft>
              <a:defRPr sz="1100" b="1">
                <a:solidFill>
                  <a:srgbClr val="F1F5F9"/>
                </a:solidFill>
                <a:latin typeface="Calibri"/>
              </a:defRPr>
            </a:pPr>
            <a:r>
              <a:rPr>
                <a:latin typeface="Calibri"/>
              </a:rPr>
              <a:t>Forensic</a:t>
            </a:r>
            <a:br/>
            <a:r>
              <a:t>Decision</a:t>
            </a:r>
          </a:p>
        </p:txBody>
      </p:sp>
      <p:sp>
        <p:nvSpPr>
          <p:cNvPr id="36" name="TextBox 35"/>
          <p:cNvSpPr txBox="1"/>
          <p:nvPr/>
        </p:nvSpPr>
        <p:spPr>
          <a:xfrm>
            <a:off x="9098280" y="3840480"/>
            <a:ext cx="1234440" cy="45720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Risk +</a:t>
            </a:r>
            <a:br/>
            <a:r>
              <a:t>Confidence</a:t>
            </a:r>
          </a:p>
        </p:txBody>
      </p:sp>
      <p:sp>
        <p:nvSpPr>
          <p:cNvPr id="37" name="TextBox 36"/>
          <p:cNvSpPr txBox="1"/>
          <p:nvPr/>
        </p:nvSpPr>
        <p:spPr>
          <a:xfrm>
            <a:off x="10332720" y="3566160"/>
            <a:ext cx="182880" cy="274320"/>
          </a:xfrm>
          <a:prstGeom prst="rect">
            <a:avLst/>
          </a:prstGeom>
          <a:noFill/>
        </p:spPr>
        <p:txBody>
          <a:bodyPr wrap="square"/>
          <a:lstStyle/>
          <a:p>
            <a:pPr algn="ctr">
              <a:lnSpc>
                <a:spcPts val="1300"/>
              </a:lnSpc>
              <a:spcBef>
                <a:spcPts val="0"/>
              </a:spcBef>
              <a:spcAft>
                <a:spcPts val="0"/>
              </a:spcAft>
              <a:defRPr sz="1200" b="0">
                <a:solidFill>
                  <a:srgbClr val="06B6D4"/>
                </a:solidFill>
                <a:latin typeface="Calibri"/>
              </a:defRPr>
            </a:pPr>
            <a:r>
              <a:rPr>
                <a:latin typeface="Calibri"/>
              </a:rPr>
              <a:t>▶</a:t>
            </a:r>
          </a:p>
        </p:txBody>
      </p:sp>
      <p:sp>
        <p:nvSpPr>
          <p:cNvPr id="38" name="Rounded Rectangle 37"/>
          <p:cNvSpPr/>
          <p:nvPr/>
        </p:nvSpPr>
        <p:spPr>
          <a:xfrm>
            <a:off x="10515600" y="3063240"/>
            <a:ext cx="1234440" cy="13716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0" y="3200400"/>
            <a:ext cx="1234440" cy="640080"/>
          </a:xfrm>
          <a:prstGeom prst="rect">
            <a:avLst/>
          </a:prstGeom>
          <a:noFill/>
        </p:spPr>
        <p:txBody>
          <a:bodyPr wrap="square"/>
          <a:lstStyle/>
          <a:p>
            <a:pPr algn="ctr">
              <a:lnSpc>
                <a:spcPts val="1200"/>
              </a:lnSpc>
              <a:spcBef>
                <a:spcPts val="0"/>
              </a:spcBef>
              <a:spcAft>
                <a:spcPts val="0"/>
              </a:spcAft>
              <a:defRPr sz="1100" b="1">
                <a:solidFill>
                  <a:srgbClr val="F1F5F9"/>
                </a:solidFill>
                <a:latin typeface="Calibri"/>
              </a:defRPr>
            </a:pPr>
            <a:r>
              <a:rPr>
                <a:latin typeface="Calibri"/>
              </a:rPr>
              <a:t>Investigation</a:t>
            </a:r>
            <a:br/>
            <a:r>
              <a:t>Case</a:t>
            </a:r>
          </a:p>
        </p:txBody>
      </p:sp>
      <p:sp>
        <p:nvSpPr>
          <p:cNvPr id="40" name="TextBox 39"/>
          <p:cNvSpPr txBox="1"/>
          <p:nvPr/>
        </p:nvSpPr>
        <p:spPr>
          <a:xfrm>
            <a:off x="10515600" y="3840480"/>
            <a:ext cx="1234440" cy="45720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Report</a:t>
            </a:r>
            <a:br/>
            <a:r>
              <a:t>Graph</a:t>
            </a:r>
          </a:p>
        </p:txBody>
      </p:sp>
      <p:sp>
        <p:nvSpPr>
          <p:cNvPr id="41" name="Rounded Rectangle 40"/>
          <p:cNvSpPr/>
          <p:nvPr/>
        </p:nvSpPr>
        <p:spPr>
          <a:xfrm>
            <a:off x="731520" y="4709160"/>
            <a:ext cx="5120640" cy="164592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4800600"/>
            <a:ext cx="4754880" cy="274320"/>
          </a:xfrm>
          <a:prstGeom prst="rect">
            <a:avLst/>
          </a:prstGeom>
          <a:noFill/>
        </p:spPr>
        <p:txBody>
          <a:bodyPr wrap="square"/>
          <a:lstStyle/>
          <a:p>
            <a:pPr algn="l">
              <a:lnSpc>
                <a:spcPts val="1100"/>
              </a:lnSpc>
              <a:spcBef>
                <a:spcPts val="0"/>
              </a:spcBef>
              <a:spcAft>
                <a:spcPts val="0"/>
              </a:spcAft>
              <a:defRPr sz="1000" b="1">
                <a:solidFill>
                  <a:srgbClr val="10B981"/>
                </a:solidFill>
                <a:latin typeface="Consolas"/>
              </a:defRPr>
            </a:pPr>
            <a:r>
              <a:rPr>
                <a:latin typeface="Consolas"/>
              </a:rPr>
              <a:t>INVESTIGATIVE QUESTIONS ANSWERED</a:t>
            </a:r>
          </a:p>
        </p:txBody>
      </p:sp>
      <p:sp>
        <p:nvSpPr>
          <p:cNvPr id="43" name="TextBox 42"/>
          <p:cNvSpPr txBox="1"/>
          <p:nvPr/>
        </p:nvSpPr>
        <p:spPr>
          <a:xfrm>
            <a:off x="914400" y="5120640"/>
            <a:ext cx="4754880" cy="182880"/>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  What happened? Why is this email suspicious?</a:t>
            </a:r>
          </a:p>
        </p:txBody>
      </p:sp>
      <p:sp>
        <p:nvSpPr>
          <p:cNvPr id="44" name="TextBox 43"/>
          <p:cNvSpPr txBox="1"/>
          <p:nvPr/>
        </p:nvSpPr>
        <p:spPr>
          <a:xfrm>
            <a:off x="914400" y="5303520"/>
            <a:ext cx="4754880" cy="182880"/>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  Which evidence supports that conclusion?</a:t>
            </a:r>
          </a:p>
        </p:txBody>
      </p:sp>
      <p:sp>
        <p:nvSpPr>
          <p:cNvPr id="45" name="TextBox 44"/>
          <p:cNvSpPr txBox="1"/>
          <p:nvPr/>
        </p:nvSpPr>
        <p:spPr>
          <a:xfrm>
            <a:off x="914400" y="5486400"/>
            <a:ext cx="4754880" cy="182880"/>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  Which evidence contradicts it?</a:t>
            </a:r>
          </a:p>
        </p:txBody>
      </p:sp>
      <p:sp>
        <p:nvSpPr>
          <p:cNvPr id="46" name="TextBox 45"/>
          <p:cNvSpPr txBox="1"/>
          <p:nvPr/>
        </p:nvSpPr>
        <p:spPr>
          <a:xfrm>
            <a:off x="914400" y="5669279"/>
            <a:ext cx="4754880" cy="182880"/>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  How reliable is each finding?</a:t>
            </a:r>
          </a:p>
        </p:txBody>
      </p:sp>
      <p:sp>
        <p:nvSpPr>
          <p:cNvPr id="47" name="TextBox 46"/>
          <p:cNvSpPr txBox="1"/>
          <p:nvPr/>
        </p:nvSpPr>
        <p:spPr>
          <a:xfrm>
            <a:off x="914400" y="5852159"/>
            <a:ext cx="4754880" cy="182880"/>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  What infrastructure is associated with the email?</a:t>
            </a:r>
          </a:p>
        </p:txBody>
      </p:sp>
      <p:sp>
        <p:nvSpPr>
          <p:cNvPr id="48" name="TextBox 47"/>
          <p:cNvSpPr txBox="1"/>
          <p:nvPr/>
        </p:nvSpPr>
        <p:spPr>
          <a:xfrm>
            <a:off x="914400" y="6035040"/>
            <a:ext cx="4754880" cy="182880"/>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  Are other emails connected to the same campaign?</a:t>
            </a:r>
          </a:p>
        </p:txBody>
      </p:sp>
      <p:sp>
        <p:nvSpPr>
          <p:cNvPr id="49" name="TextBox 48"/>
          <p:cNvSpPr txBox="1"/>
          <p:nvPr/>
        </p:nvSpPr>
        <p:spPr>
          <a:xfrm>
            <a:off x="914400" y="6217920"/>
            <a:ext cx="4754880" cy="182880"/>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  What can and cannot be concluded from available evidence?</a:t>
            </a:r>
          </a:p>
        </p:txBody>
      </p:sp>
      <p:sp>
        <p:nvSpPr>
          <p:cNvPr id="50" name="Rounded Rectangle 49"/>
          <p:cNvSpPr/>
          <p:nvPr/>
        </p:nvSpPr>
        <p:spPr>
          <a:xfrm>
            <a:off x="6126480" y="4709160"/>
            <a:ext cx="5303520" cy="1645920"/>
          </a:xfrm>
          <a:prstGeom prst="roundRect">
            <a:avLst>
              <a:gd name="adj" fmla="val 4000"/>
            </a:avLst>
          </a:prstGeom>
          <a:solidFill>
            <a:srgbClr val="18223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4800600"/>
            <a:ext cx="4937760" cy="274320"/>
          </a:xfrm>
          <a:prstGeom prst="rect">
            <a:avLst/>
          </a:prstGeom>
          <a:noFill/>
        </p:spPr>
        <p:txBody>
          <a:bodyPr wrap="square"/>
          <a:lstStyle/>
          <a:p>
            <a:pPr algn="l">
              <a:lnSpc>
                <a:spcPts val="1100"/>
              </a:lnSpc>
              <a:spcBef>
                <a:spcPts val="0"/>
              </a:spcBef>
              <a:spcAft>
                <a:spcPts val="0"/>
              </a:spcAft>
              <a:defRPr sz="1000" b="1">
                <a:solidFill>
                  <a:srgbClr val="10B981"/>
                </a:solidFill>
                <a:latin typeface="Consolas"/>
              </a:defRPr>
            </a:pPr>
            <a:r>
              <a:rPr>
                <a:latin typeface="Consolas"/>
              </a:rPr>
              <a:t>NOT A GENERIC PROJECT</a:t>
            </a:r>
          </a:p>
        </p:txBody>
      </p:sp>
      <p:sp>
        <p:nvSpPr>
          <p:cNvPr id="52" name="TextBox 51"/>
          <p:cNvSpPr txBox="1"/>
          <p:nvPr/>
        </p:nvSpPr>
        <p:spPr>
          <a:xfrm>
            <a:off x="6309360" y="5120640"/>
            <a:ext cx="4937760" cy="109728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This is NOT another "React + FastAPI + ML + Neo4j + dashboard" project.</a:t>
            </a:r>
            <a:br/>
            <a:br/>
            <a:r>
              <a:t>The differentiation is in the FORENSIC REASONING ENGINE — how evidence is represented, how contradictions are detected, how reliability is calculated, and how uncertainty is communicated to analysts.</a:t>
            </a:r>
          </a:p>
        </p:txBody>
      </p:sp>
      <p:sp>
        <p:nvSpPr>
          <p:cNvPr id="53" name="TextBox 52"/>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4/19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Target Users &amp; Stakeholders</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Who benefits from this platform</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3474720" cy="2194560"/>
          </a:xfrm>
          <a:prstGeom prst="roundRect">
            <a:avLst>
              <a:gd name="adj" fmla="val 4000"/>
            </a:avLst>
          </a:prstGeom>
          <a:solidFill>
            <a:srgbClr val="10162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3108960" cy="365760"/>
          </a:xfrm>
          <a:prstGeom prst="rect">
            <a:avLst/>
          </a:prstGeom>
          <a:noFill/>
        </p:spPr>
        <p:txBody>
          <a:bodyPr wrap="square"/>
          <a:lstStyle/>
          <a:p>
            <a:pPr algn="l">
              <a:lnSpc>
                <a:spcPts val="2000"/>
              </a:lnSpc>
              <a:spcBef>
                <a:spcPts val="0"/>
              </a:spcBef>
              <a:spcAft>
                <a:spcPts val="0"/>
              </a:spcAft>
              <a:defRPr sz="1800" b="1">
                <a:solidFill>
                  <a:srgbClr val="06B6D4"/>
                </a:solidFill>
                <a:latin typeface="Calibri"/>
              </a:defRPr>
            </a:pPr>
            <a:r>
              <a:rPr>
                <a:latin typeface="Calibri"/>
              </a:rPr>
              <a:t>SOC Analysts</a:t>
            </a:r>
          </a:p>
        </p:txBody>
      </p:sp>
      <p:sp>
        <p:nvSpPr>
          <p:cNvPr id="9" name="TextBox 8"/>
          <p:cNvSpPr txBox="1"/>
          <p:nvPr/>
        </p:nvSpPr>
        <p:spPr>
          <a:xfrm>
            <a:off x="914400" y="2240280"/>
            <a:ext cx="3108960" cy="1371600"/>
          </a:xfrm>
          <a:prstGeom prst="rect">
            <a:avLst/>
          </a:prstGeom>
          <a:noFill/>
        </p:spPr>
        <p:txBody>
          <a:bodyPr wrap="square"/>
          <a:lstStyle/>
          <a:p>
            <a:pPr algn="l">
              <a:lnSpc>
                <a:spcPts val="1200"/>
              </a:lnSpc>
              <a:spcBef>
                <a:spcPts val="0"/>
              </a:spcBef>
              <a:spcAft>
                <a:spcPts val="0"/>
              </a:spcAft>
              <a:defRPr sz="1100" b="0">
                <a:solidFill>
                  <a:srgbClr val="94A3B8"/>
                </a:solidFill>
                <a:latin typeface="Calibri"/>
              </a:defRPr>
            </a:pPr>
            <a:r>
              <a:rPr>
                <a:latin typeface="Calibri"/>
              </a:rPr>
              <a:t>Security Operations Center analysts who investigate suspicious emails, triage alerts, and need forensic-grade analysis with explainable findings.</a:t>
            </a:r>
          </a:p>
        </p:txBody>
      </p:sp>
      <p:sp>
        <p:nvSpPr>
          <p:cNvPr id="10" name="Rounded Rectangle 9"/>
          <p:cNvSpPr/>
          <p:nvPr/>
        </p:nvSpPr>
        <p:spPr>
          <a:xfrm>
            <a:off x="731520" y="3520440"/>
            <a:ext cx="3474720" cy="22860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80559" y="1554480"/>
            <a:ext cx="3474720" cy="2194560"/>
          </a:xfrm>
          <a:prstGeom prst="roundRect">
            <a:avLst>
              <a:gd name="adj" fmla="val 4000"/>
            </a:avLst>
          </a:prstGeom>
          <a:solidFill>
            <a:srgbClr val="10162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39" y="1737360"/>
            <a:ext cx="3108960" cy="365760"/>
          </a:xfrm>
          <a:prstGeom prst="rect">
            <a:avLst/>
          </a:prstGeom>
          <a:noFill/>
        </p:spPr>
        <p:txBody>
          <a:bodyPr wrap="square"/>
          <a:lstStyle/>
          <a:p>
            <a:pPr algn="l">
              <a:lnSpc>
                <a:spcPts val="2000"/>
              </a:lnSpc>
              <a:spcBef>
                <a:spcPts val="0"/>
              </a:spcBef>
              <a:spcAft>
                <a:spcPts val="0"/>
              </a:spcAft>
              <a:defRPr sz="1800" b="1">
                <a:solidFill>
                  <a:srgbClr val="EF4444"/>
                </a:solidFill>
                <a:latin typeface="Calibri"/>
              </a:defRPr>
            </a:pPr>
            <a:r>
              <a:rPr>
                <a:latin typeface="Calibri"/>
              </a:rPr>
              <a:t>Incident Responders</a:t>
            </a:r>
          </a:p>
        </p:txBody>
      </p:sp>
      <p:sp>
        <p:nvSpPr>
          <p:cNvPr id="13" name="TextBox 12"/>
          <p:cNvSpPr txBox="1"/>
          <p:nvPr/>
        </p:nvSpPr>
        <p:spPr>
          <a:xfrm>
            <a:off x="4663439" y="2240280"/>
            <a:ext cx="3108960" cy="1371600"/>
          </a:xfrm>
          <a:prstGeom prst="rect">
            <a:avLst/>
          </a:prstGeom>
          <a:noFill/>
        </p:spPr>
        <p:txBody>
          <a:bodyPr wrap="square"/>
          <a:lstStyle/>
          <a:p>
            <a:pPr algn="l">
              <a:lnSpc>
                <a:spcPts val="1200"/>
              </a:lnSpc>
              <a:spcBef>
                <a:spcPts val="0"/>
              </a:spcBef>
              <a:spcAft>
                <a:spcPts val="0"/>
              </a:spcAft>
              <a:defRPr sz="1100" b="0">
                <a:solidFill>
                  <a:srgbClr val="94A3B8"/>
                </a:solidFill>
                <a:latin typeface="Calibri"/>
              </a:defRPr>
            </a:pPr>
            <a:r>
              <a:rPr>
                <a:latin typeface="Calibri"/>
              </a:rPr>
              <a:t>Teams responding to active breaches who need rapid campaign discovery, infrastructure mapping, and attack path reconstruction.</a:t>
            </a:r>
          </a:p>
        </p:txBody>
      </p:sp>
      <p:sp>
        <p:nvSpPr>
          <p:cNvPr id="14" name="Rounded Rectangle 13"/>
          <p:cNvSpPr/>
          <p:nvPr/>
        </p:nvSpPr>
        <p:spPr>
          <a:xfrm>
            <a:off x="4480559" y="3520440"/>
            <a:ext cx="3474720" cy="22860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0" y="1554480"/>
            <a:ext cx="3474720" cy="2194560"/>
          </a:xfrm>
          <a:prstGeom prst="roundRect">
            <a:avLst>
              <a:gd name="adj" fmla="val 4000"/>
            </a:avLst>
          </a:prstGeom>
          <a:solidFill>
            <a:srgbClr val="1016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737360"/>
            <a:ext cx="3108960" cy="365760"/>
          </a:xfrm>
          <a:prstGeom prst="rect">
            <a:avLst/>
          </a:prstGeom>
          <a:noFill/>
        </p:spPr>
        <p:txBody>
          <a:bodyPr wrap="square"/>
          <a:lstStyle/>
          <a:p>
            <a:pPr algn="l">
              <a:lnSpc>
                <a:spcPts val="2000"/>
              </a:lnSpc>
              <a:spcBef>
                <a:spcPts val="0"/>
              </a:spcBef>
              <a:spcAft>
                <a:spcPts val="0"/>
              </a:spcAft>
              <a:defRPr sz="1800" b="1">
                <a:solidFill>
                  <a:srgbClr val="10B981"/>
                </a:solidFill>
                <a:latin typeface="Calibri"/>
              </a:defRPr>
            </a:pPr>
            <a:r>
              <a:rPr>
                <a:latin typeface="Calibri"/>
              </a:rPr>
              <a:t>Forensic Investigators</a:t>
            </a:r>
          </a:p>
        </p:txBody>
      </p:sp>
      <p:sp>
        <p:nvSpPr>
          <p:cNvPr id="17" name="TextBox 16"/>
          <p:cNvSpPr txBox="1"/>
          <p:nvPr/>
        </p:nvSpPr>
        <p:spPr>
          <a:xfrm>
            <a:off x="8412480" y="2240280"/>
            <a:ext cx="3108960" cy="1371600"/>
          </a:xfrm>
          <a:prstGeom prst="rect">
            <a:avLst/>
          </a:prstGeom>
          <a:noFill/>
        </p:spPr>
        <p:txBody>
          <a:bodyPr wrap="square"/>
          <a:lstStyle/>
          <a:p>
            <a:pPr algn="l">
              <a:lnSpc>
                <a:spcPts val="1200"/>
              </a:lnSpc>
              <a:spcBef>
                <a:spcPts val="0"/>
              </a:spcBef>
              <a:spcAft>
                <a:spcPts val="0"/>
              </a:spcAft>
              <a:defRPr sz="1100" b="0">
                <a:solidFill>
                  <a:srgbClr val="94A3B8"/>
                </a:solidFill>
                <a:latin typeface="Calibri"/>
              </a:defRPr>
            </a:pPr>
            <a:r>
              <a:rPr>
                <a:latin typeface="Calibri"/>
              </a:rPr>
              <a:t>Digital forensics professionals who need chain-of-custody evidence preservation, forensic reports, and legally defensible analysis.</a:t>
            </a:r>
          </a:p>
        </p:txBody>
      </p:sp>
      <p:sp>
        <p:nvSpPr>
          <p:cNvPr id="18" name="Rounded Rectangle 17"/>
          <p:cNvSpPr/>
          <p:nvPr/>
        </p:nvSpPr>
        <p:spPr>
          <a:xfrm>
            <a:off x="8229600" y="3520440"/>
            <a:ext cx="3474720" cy="22860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31520" y="4069080"/>
            <a:ext cx="3474720" cy="2194560"/>
          </a:xfrm>
          <a:prstGeom prst="roundRect">
            <a:avLst>
              <a:gd name="adj" fmla="val 4000"/>
            </a:avLst>
          </a:prstGeom>
          <a:solidFill>
            <a:srgbClr val="101622"/>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251960"/>
            <a:ext cx="3108960" cy="365760"/>
          </a:xfrm>
          <a:prstGeom prst="rect">
            <a:avLst/>
          </a:prstGeom>
          <a:noFill/>
        </p:spPr>
        <p:txBody>
          <a:bodyPr wrap="square"/>
          <a:lstStyle/>
          <a:p>
            <a:pPr algn="l">
              <a:lnSpc>
                <a:spcPts val="2000"/>
              </a:lnSpc>
              <a:spcBef>
                <a:spcPts val="0"/>
              </a:spcBef>
              <a:spcAft>
                <a:spcPts val="0"/>
              </a:spcAft>
              <a:defRPr sz="1800" b="1">
                <a:solidFill>
                  <a:srgbClr val="3B82F6"/>
                </a:solidFill>
                <a:latin typeface="Calibri"/>
              </a:defRPr>
            </a:pPr>
            <a:r>
              <a:rPr>
                <a:latin typeface="Calibri"/>
              </a:rPr>
              <a:t>Threat Intelligence Teams</a:t>
            </a:r>
          </a:p>
        </p:txBody>
      </p:sp>
      <p:sp>
        <p:nvSpPr>
          <p:cNvPr id="21" name="TextBox 20"/>
          <p:cNvSpPr txBox="1"/>
          <p:nvPr/>
        </p:nvSpPr>
        <p:spPr>
          <a:xfrm>
            <a:off x="914400" y="4754880"/>
            <a:ext cx="3108960" cy="1371600"/>
          </a:xfrm>
          <a:prstGeom prst="rect">
            <a:avLst/>
          </a:prstGeom>
          <a:noFill/>
        </p:spPr>
        <p:txBody>
          <a:bodyPr wrap="square"/>
          <a:lstStyle/>
          <a:p>
            <a:pPr algn="l">
              <a:lnSpc>
                <a:spcPts val="1200"/>
              </a:lnSpc>
              <a:spcBef>
                <a:spcPts val="0"/>
              </a:spcBef>
              <a:spcAft>
                <a:spcPts val="0"/>
              </a:spcAft>
              <a:defRPr sz="1100" b="0">
                <a:solidFill>
                  <a:srgbClr val="94A3B8"/>
                </a:solidFill>
                <a:latin typeface="Calibri"/>
              </a:defRPr>
            </a:pPr>
            <a:r>
              <a:rPr>
                <a:latin typeface="Calibri"/>
              </a:rPr>
              <a:t>Teams building threat intelligence who need cross-case correlation, campaign clustering, and infrastructure fingerprinting.</a:t>
            </a:r>
          </a:p>
        </p:txBody>
      </p:sp>
      <p:sp>
        <p:nvSpPr>
          <p:cNvPr id="22" name="Rounded Rectangle 21"/>
          <p:cNvSpPr/>
          <p:nvPr/>
        </p:nvSpPr>
        <p:spPr>
          <a:xfrm>
            <a:off x="731520" y="6035040"/>
            <a:ext cx="3474720" cy="228600"/>
          </a:xfrm>
          <a:prstGeom prst="roundRect">
            <a:avLst>
              <a:gd name="adj" fmla="val 4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480559" y="4069080"/>
            <a:ext cx="3474720" cy="2194560"/>
          </a:xfrm>
          <a:prstGeom prst="roundRect">
            <a:avLst>
              <a:gd name="adj" fmla="val 4000"/>
            </a:avLst>
          </a:prstGeom>
          <a:solidFill>
            <a:srgbClr val="101622"/>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39" y="4251960"/>
            <a:ext cx="3108960" cy="365760"/>
          </a:xfrm>
          <a:prstGeom prst="rect">
            <a:avLst/>
          </a:prstGeom>
          <a:noFill/>
        </p:spPr>
        <p:txBody>
          <a:bodyPr wrap="square"/>
          <a:lstStyle/>
          <a:p>
            <a:pPr algn="l">
              <a:lnSpc>
                <a:spcPts val="2000"/>
              </a:lnSpc>
              <a:spcBef>
                <a:spcPts val="0"/>
              </a:spcBef>
              <a:spcAft>
                <a:spcPts val="0"/>
              </a:spcAft>
              <a:defRPr sz="1800" b="1">
                <a:solidFill>
                  <a:srgbClr val="F59E0B"/>
                </a:solidFill>
                <a:latin typeface="Calibri"/>
              </a:defRPr>
            </a:pPr>
            <a:r>
              <a:rPr>
                <a:latin typeface="Calibri"/>
              </a:rPr>
              <a:t>CISOs &amp; Security Leadership</a:t>
            </a:r>
          </a:p>
        </p:txBody>
      </p:sp>
      <p:sp>
        <p:nvSpPr>
          <p:cNvPr id="25" name="TextBox 24"/>
          <p:cNvSpPr txBox="1"/>
          <p:nvPr/>
        </p:nvSpPr>
        <p:spPr>
          <a:xfrm>
            <a:off x="4663439" y="4754880"/>
            <a:ext cx="3108960" cy="1371600"/>
          </a:xfrm>
          <a:prstGeom prst="rect">
            <a:avLst/>
          </a:prstGeom>
          <a:noFill/>
        </p:spPr>
        <p:txBody>
          <a:bodyPr wrap="square"/>
          <a:lstStyle/>
          <a:p>
            <a:pPr algn="l">
              <a:lnSpc>
                <a:spcPts val="1200"/>
              </a:lnSpc>
              <a:spcBef>
                <a:spcPts val="0"/>
              </a:spcBef>
              <a:spcAft>
                <a:spcPts val="0"/>
              </a:spcAft>
              <a:defRPr sz="1100" b="0">
                <a:solidFill>
                  <a:srgbClr val="94A3B8"/>
                </a:solidFill>
                <a:latin typeface="Calibri"/>
              </a:defRPr>
            </a:pPr>
            <a:r>
              <a:rPr>
                <a:latin typeface="Calibri"/>
              </a:rPr>
              <a:t>Leadership who need risk dashboards, campaign visibility, and compliance-ready forensic reporting for executive briefings.</a:t>
            </a:r>
          </a:p>
        </p:txBody>
      </p:sp>
      <p:sp>
        <p:nvSpPr>
          <p:cNvPr id="26" name="Rounded Rectangle 25"/>
          <p:cNvSpPr/>
          <p:nvPr/>
        </p:nvSpPr>
        <p:spPr>
          <a:xfrm>
            <a:off x="4480559" y="6035040"/>
            <a:ext cx="3474720" cy="22860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29600" y="4069080"/>
            <a:ext cx="3474720" cy="2194560"/>
          </a:xfrm>
          <a:prstGeom prst="roundRect">
            <a:avLst>
              <a:gd name="adj" fmla="val 4000"/>
            </a:avLst>
          </a:prstGeom>
          <a:solidFill>
            <a:srgbClr val="10162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4251960"/>
            <a:ext cx="3108960" cy="365760"/>
          </a:xfrm>
          <a:prstGeom prst="rect">
            <a:avLst/>
          </a:prstGeom>
          <a:noFill/>
        </p:spPr>
        <p:txBody>
          <a:bodyPr wrap="square"/>
          <a:lstStyle/>
          <a:p>
            <a:pPr algn="l">
              <a:lnSpc>
                <a:spcPts val="2000"/>
              </a:lnSpc>
              <a:spcBef>
                <a:spcPts val="0"/>
              </a:spcBef>
              <a:spcAft>
                <a:spcPts val="0"/>
              </a:spcAft>
              <a:defRPr sz="1800" b="1">
                <a:solidFill>
                  <a:srgbClr val="EF4444"/>
                </a:solidFill>
                <a:latin typeface="Calibri"/>
              </a:defRPr>
            </a:pPr>
            <a:r>
              <a:rPr>
                <a:latin typeface="Calibri"/>
              </a:rPr>
              <a:t>Law Enforcement</a:t>
            </a:r>
          </a:p>
        </p:txBody>
      </p:sp>
      <p:sp>
        <p:nvSpPr>
          <p:cNvPr id="29" name="TextBox 28"/>
          <p:cNvSpPr txBox="1"/>
          <p:nvPr/>
        </p:nvSpPr>
        <p:spPr>
          <a:xfrm>
            <a:off x="8412480" y="4754880"/>
            <a:ext cx="3108960" cy="1371600"/>
          </a:xfrm>
          <a:prstGeom prst="rect">
            <a:avLst/>
          </a:prstGeom>
          <a:noFill/>
        </p:spPr>
        <p:txBody>
          <a:bodyPr wrap="square"/>
          <a:lstStyle/>
          <a:p>
            <a:pPr algn="l">
              <a:lnSpc>
                <a:spcPts val="1200"/>
              </a:lnSpc>
              <a:spcBef>
                <a:spcPts val="0"/>
              </a:spcBef>
              <a:spcAft>
                <a:spcPts val="0"/>
              </a:spcAft>
              <a:defRPr sz="1100" b="0">
                <a:solidFill>
                  <a:srgbClr val="94A3B8"/>
                </a:solidFill>
                <a:latin typeface="Calibri"/>
              </a:defRPr>
            </a:pPr>
            <a:r>
              <a:rPr>
                <a:latin typeface="Calibri"/>
              </a:rPr>
              <a:t>Agencies investigating cybercrime who need forensically sound evidence packages with chain-of-custody documentation for prosecution.</a:t>
            </a:r>
          </a:p>
        </p:txBody>
      </p:sp>
      <p:sp>
        <p:nvSpPr>
          <p:cNvPr id="30" name="Rounded Rectangle 29"/>
          <p:cNvSpPr/>
          <p:nvPr/>
        </p:nvSpPr>
        <p:spPr>
          <a:xfrm>
            <a:off x="8229600" y="6035040"/>
            <a:ext cx="3474720" cy="22860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5/19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Key Features</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Six forensic engines powering the platform</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3474720" cy="2194560"/>
          </a:xfrm>
          <a:prstGeom prst="roundRect">
            <a:avLst>
              <a:gd name="adj" fmla="val 4000"/>
            </a:avLst>
          </a:prstGeom>
          <a:solidFill>
            <a:srgbClr val="10162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691640"/>
            <a:ext cx="320040" cy="32004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09928"/>
            <a:ext cx="320040" cy="274320"/>
          </a:xfrm>
          <a:prstGeom prst="rect">
            <a:avLst/>
          </a:prstGeom>
          <a:noFill/>
        </p:spPr>
        <p:txBody>
          <a:bodyPr wrap="square"/>
          <a:lstStyle/>
          <a:p>
            <a:pPr algn="ctr">
              <a:lnSpc>
                <a:spcPts val="1600"/>
              </a:lnSpc>
              <a:spcBef>
                <a:spcPts val="0"/>
              </a:spcBef>
              <a:spcAft>
                <a:spcPts val="0"/>
              </a:spcAft>
              <a:defRPr sz="1400" b="1">
                <a:solidFill>
                  <a:srgbClr val="0A0D14"/>
                </a:solidFill>
                <a:latin typeface="Consolas"/>
              </a:defRPr>
            </a:pPr>
            <a:r>
              <a:rPr>
                <a:latin typeface="Consolas"/>
              </a:rPr>
              <a:t>1</a:t>
            </a:r>
          </a:p>
        </p:txBody>
      </p:sp>
      <p:sp>
        <p:nvSpPr>
          <p:cNvPr id="10" name="TextBox 9"/>
          <p:cNvSpPr txBox="1"/>
          <p:nvPr/>
        </p:nvSpPr>
        <p:spPr>
          <a:xfrm>
            <a:off x="1280160" y="1691640"/>
            <a:ext cx="2743200" cy="548640"/>
          </a:xfrm>
          <a:prstGeom prst="rect">
            <a:avLst/>
          </a:prstGeom>
          <a:noFill/>
        </p:spPr>
        <p:txBody>
          <a:bodyPr wrap="square"/>
          <a:lstStyle/>
          <a:p>
            <a:pPr algn="l">
              <a:lnSpc>
                <a:spcPts val="1600"/>
              </a:lnSpc>
              <a:spcBef>
                <a:spcPts val="0"/>
              </a:spcBef>
              <a:spcAft>
                <a:spcPts val="0"/>
              </a:spcAft>
              <a:defRPr sz="1400" b="1">
                <a:solidFill>
                  <a:srgbClr val="EF4444"/>
                </a:solidFill>
                <a:latin typeface="Calibri"/>
              </a:defRPr>
            </a:pPr>
            <a:r>
              <a:rPr>
                <a:latin typeface="Calibri"/>
              </a:rPr>
              <a:t>Identity Contradiction</a:t>
            </a:r>
            <a:br/>
            <a:r>
              <a:t>Engine</a:t>
            </a:r>
          </a:p>
        </p:txBody>
      </p:sp>
      <p:sp>
        <p:nvSpPr>
          <p:cNvPr id="11" name="TextBox 10"/>
          <p:cNvSpPr txBox="1"/>
          <p:nvPr/>
        </p:nvSpPr>
        <p:spPr>
          <a:xfrm>
            <a:off x="914400" y="2286000"/>
            <a:ext cx="3108960" cy="13716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Compares Display Name, From, Reply-To, Return-Path, DKIM domain, DMARC alignment, and sending infrastructure. Calculates Identity Consistency Score (0-100). Detects executive impersonation, lookalike domains, and header spoofing.</a:t>
            </a:r>
          </a:p>
        </p:txBody>
      </p:sp>
      <p:sp>
        <p:nvSpPr>
          <p:cNvPr id="12" name="Rounded Rectangle 11"/>
          <p:cNvSpPr/>
          <p:nvPr/>
        </p:nvSpPr>
        <p:spPr>
          <a:xfrm>
            <a:off x="4480559" y="1554480"/>
            <a:ext cx="3474720" cy="2194560"/>
          </a:xfrm>
          <a:prstGeom prst="roundRect">
            <a:avLst>
              <a:gd name="adj" fmla="val 4000"/>
            </a:avLst>
          </a:prstGeom>
          <a:solidFill>
            <a:srgbClr val="1016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17719" y="1691640"/>
            <a:ext cx="320040" cy="32004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19" y="1709928"/>
            <a:ext cx="320040" cy="274320"/>
          </a:xfrm>
          <a:prstGeom prst="rect">
            <a:avLst/>
          </a:prstGeom>
          <a:noFill/>
        </p:spPr>
        <p:txBody>
          <a:bodyPr wrap="square"/>
          <a:lstStyle/>
          <a:p>
            <a:pPr algn="ctr">
              <a:lnSpc>
                <a:spcPts val="1600"/>
              </a:lnSpc>
              <a:spcBef>
                <a:spcPts val="0"/>
              </a:spcBef>
              <a:spcAft>
                <a:spcPts val="0"/>
              </a:spcAft>
              <a:defRPr sz="1400" b="1">
                <a:solidFill>
                  <a:srgbClr val="0A0D14"/>
                </a:solidFill>
                <a:latin typeface="Consolas"/>
              </a:defRPr>
            </a:pPr>
            <a:r>
              <a:rPr>
                <a:latin typeface="Consolas"/>
              </a:rPr>
              <a:t>2</a:t>
            </a:r>
          </a:p>
        </p:txBody>
      </p:sp>
      <p:sp>
        <p:nvSpPr>
          <p:cNvPr id="15" name="TextBox 14"/>
          <p:cNvSpPr txBox="1"/>
          <p:nvPr/>
        </p:nvSpPr>
        <p:spPr>
          <a:xfrm>
            <a:off x="5029199" y="1691640"/>
            <a:ext cx="2743200" cy="548640"/>
          </a:xfrm>
          <a:prstGeom prst="rect">
            <a:avLst/>
          </a:prstGeom>
          <a:noFill/>
        </p:spPr>
        <p:txBody>
          <a:bodyPr wrap="square"/>
          <a:lstStyle/>
          <a:p>
            <a:pPr algn="l">
              <a:lnSpc>
                <a:spcPts val="1600"/>
              </a:lnSpc>
              <a:spcBef>
                <a:spcPts val="0"/>
              </a:spcBef>
              <a:spcAft>
                <a:spcPts val="0"/>
              </a:spcAft>
              <a:defRPr sz="1400" b="1">
                <a:solidFill>
                  <a:srgbClr val="F59E0B"/>
                </a:solidFill>
                <a:latin typeface="Calibri"/>
              </a:defRPr>
            </a:pPr>
            <a:r>
              <a:rPr>
                <a:latin typeface="Calibri"/>
              </a:rPr>
              <a:t>Infrastructure</a:t>
            </a:r>
            <a:br/>
            <a:r>
              <a:t>Fingerprinting Engine</a:t>
            </a:r>
          </a:p>
        </p:txBody>
      </p:sp>
      <p:sp>
        <p:nvSpPr>
          <p:cNvPr id="16" name="TextBox 15"/>
          <p:cNvSpPr txBox="1"/>
          <p:nvPr/>
        </p:nvSpPr>
        <p:spPr>
          <a:xfrm>
            <a:off x="4663439" y="2286000"/>
            <a:ext cx="3108960" cy="13716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Builds IP -&gt; ASN -&gt; ISP -&gt; Hosting -&gt; DNS -&gt; Domain -&gt; MX profiles. Identifies cloud hosting, VPN, TOR, proxy, open relay, and suspicious hosting indicators. Maps probable source infrastructure.</a:t>
            </a:r>
          </a:p>
        </p:txBody>
      </p:sp>
      <p:sp>
        <p:nvSpPr>
          <p:cNvPr id="17" name="Rounded Rectangle 16"/>
          <p:cNvSpPr/>
          <p:nvPr/>
        </p:nvSpPr>
        <p:spPr>
          <a:xfrm>
            <a:off x="8229600" y="1554480"/>
            <a:ext cx="3474720" cy="2194560"/>
          </a:xfrm>
          <a:prstGeom prst="roundRect">
            <a:avLst>
              <a:gd name="adj" fmla="val 4000"/>
            </a:avLst>
          </a:prstGeom>
          <a:solidFill>
            <a:srgbClr val="10162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366760" y="1691640"/>
            <a:ext cx="320040" cy="320040"/>
          </a:xfrm>
          <a:prstGeom prst="roundRect">
            <a:avLst>
              <a:gd name="adj" fmla="val 4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709928"/>
            <a:ext cx="320040" cy="274320"/>
          </a:xfrm>
          <a:prstGeom prst="rect">
            <a:avLst/>
          </a:prstGeom>
          <a:noFill/>
        </p:spPr>
        <p:txBody>
          <a:bodyPr wrap="square"/>
          <a:lstStyle/>
          <a:p>
            <a:pPr algn="ctr">
              <a:lnSpc>
                <a:spcPts val="1600"/>
              </a:lnSpc>
              <a:spcBef>
                <a:spcPts val="0"/>
              </a:spcBef>
              <a:spcAft>
                <a:spcPts val="0"/>
              </a:spcAft>
              <a:defRPr sz="1400" b="1">
                <a:solidFill>
                  <a:srgbClr val="0A0D14"/>
                </a:solidFill>
                <a:latin typeface="Consolas"/>
              </a:defRPr>
            </a:pPr>
            <a:r>
              <a:rPr>
                <a:latin typeface="Consolas"/>
              </a:rPr>
              <a:t>3</a:t>
            </a:r>
          </a:p>
        </p:txBody>
      </p:sp>
      <p:sp>
        <p:nvSpPr>
          <p:cNvPr id="20" name="TextBox 19"/>
          <p:cNvSpPr txBox="1"/>
          <p:nvPr/>
        </p:nvSpPr>
        <p:spPr>
          <a:xfrm>
            <a:off x="8778240" y="1691640"/>
            <a:ext cx="2743200" cy="548640"/>
          </a:xfrm>
          <a:prstGeom prst="rect">
            <a:avLst/>
          </a:prstGeom>
          <a:noFill/>
        </p:spPr>
        <p:txBody>
          <a:bodyPr wrap="square"/>
          <a:lstStyle/>
          <a:p>
            <a:pPr algn="l">
              <a:lnSpc>
                <a:spcPts val="1600"/>
              </a:lnSpc>
              <a:spcBef>
                <a:spcPts val="0"/>
              </a:spcBef>
              <a:spcAft>
                <a:spcPts val="0"/>
              </a:spcAft>
              <a:defRPr sz="1400" b="1">
                <a:solidFill>
                  <a:srgbClr val="3B82F6"/>
                </a:solidFill>
                <a:latin typeface="Calibri"/>
              </a:defRPr>
            </a:pPr>
            <a:r>
              <a:rPr>
                <a:latin typeface="Calibri"/>
              </a:rPr>
              <a:t>Campaign Discovery</a:t>
            </a:r>
            <a:br/>
            <a:r>
              <a:t>Engine</a:t>
            </a:r>
          </a:p>
        </p:txBody>
      </p:sp>
      <p:sp>
        <p:nvSpPr>
          <p:cNvPr id="21" name="TextBox 20"/>
          <p:cNvSpPr txBox="1"/>
          <p:nvPr/>
        </p:nvSpPr>
        <p:spPr>
          <a:xfrm>
            <a:off x="8412480" y="2286000"/>
            <a:ext cx="3108960" cy="13716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Correlates emails across shared domains, IPs, URLs, language patterns, sender identities, timing, and hosting. Discovers campaigns from multi-email evidence graphs.</a:t>
            </a:r>
          </a:p>
        </p:txBody>
      </p:sp>
      <p:sp>
        <p:nvSpPr>
          <p:cNvPr id="22" name="Rounded Rectangle 21"/>
          <p:cNvSpPr/>
          <p:nvPr/>
        </p:nvSpPr>
        <p:spPr>
          <a:xfrm>
            <a:off x="731520" y="4069080"/>
            <a:ext cx="3474720" cy="2194560"/>
          </a:xfrm>
          <a:prstGeom prst="roundRect">
            <a:avLst>
              <a:gd name="adj" fmla="val 4000"/>
            </a:avLst>
          </a:prstGeom>
          <a:solidFill>
            <a:srgbClr val="1016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8680" y="4206240"/>
            <a:ext cx="320040" cy="32004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224528"/>
            <a:ext cx="320040" cy="274320"/>
          </a:xfrm>
          <a:prstGeom prst="rect">
            <a:avLst/>
          </a:prstGeom>
          <a:noFill/>
        </p:spPr>
        <p:txBody>
          <a:bodyPr wrap="square"/>
          <a:lstStyle/>
          <a:p>
            <a:pPr algn="ctr">
              <a:lnSpc>
                <a:spcPts val="1600"/>
              </a:lnSpc>
              <a:spcBef>
                <a:spcPts val="0"/>
              </a:spcBef>
              <a:spcAft>
                <a:spcPts val="0"/>
              </a:spcAft>
              <a:defRPr sz="1400" b="1">
                <a:solidFill>
                  <a:srgbClr val="0A0D14"/>
                </a:solidFill>
                <a:latin typeface="Consolas"/>
              </a:defRPr>
            </a:pPr>
            <a:r>
              <a:rPr>
                <a:latin typeface="Consolas"/>
              </a:rPr>
              <a:t>4</a:t>
            </a:r>
          </a:p>
        </p:txBody>
      </p:sp>
      <p:sp>
        <p:nvSpPr>
          <p:cNvPr id="25" name="TextBox 24"/>
          <p:cNvSpPr txBox="1"/>
          <p:nvPr/>
        </p:nvSpPr>
        <p:spPr>
          <a:xfrm>
            <a:off x="1280160" y="4206240"/>
            <a:ext cx="2743200" cy="548640"/>
          </a:xfrm>
          <a:prstGeom prst="rect">
            <a:avLst/>
          </a:prstGeom>
          <a:noFill/>
        </p:spPr>
        <p:txBody>
          <a:bodyPr wrap="square"/>
          <a:lstStyle/>
          <a:p>
            <a:pPr algn="l">
              <a:lnSpc>
                <a:spcPts val="1600"/>
              </a:lnSpc>
              <a:spcBef>
                <a:spcPts val="0"/>
              </a:spcBef>
              <a:spcAft>
                <a:spcPts val="0"/>
              </a:spcAft>
              <a:defRPr sz="1400" b="1">
                <a:solidFill>
                  <a:srgbClr val="10B981"/>
                </a:solidFill>
                <a:latin typeface="Calibri"/>
              </a:defRPr>
            </a:pPr>
            <a:r>
              <a:rPr>
                <a:latin typeface="Calibri"/>
              </a:rPr>
              <a:t>Evidence Reliability</a:t>
            </a:r>
            <a:br/>
            <a:r>
              <a:t>Engine</a:t>
            </a:r>
          </a:p>
        </p:txBody>
      </p:sp>
      <p:sp>
        <p:nvSpPr>
          <p:cNvPr id="26" name="TextBox 25"/>
          <p:cNvSpPr txBox="1"/>
          <p:nvPr/>
        </p:nvSpPr>
        <p:spPr>
          <a:xfrm>
            <a:off x="914400" y="4800600"/>
            <a:ext cx="3108960" cy="13716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Every finding has: Evidence, Source, Type, Reliability, Confidence, Timestamp, Supporting relationships, Contradicting evidence. Distinguishes HIGH/MEDIUM/LOWER confidence.</a:t>
            </a:r>
          </a:p>
        </p:txBody>
      </p:sp>
      <p:sp>
        <p:nvSpPr>
          <p:cNvPr id="27" name="Rounded Rectangle 26"/>
          <p:cNvSpPr/>
          <p:nvPr/>
        </p:nvSpPr>
        <p:spPr>
          <a:xfrm>
            <a:off x="4480559" y="4069080"/>
            <a:ext cx="3474720" cy="2194560"/>
          </a:xfrm>
          <a:prstGeom prst="roundRect">
            <a:avLst>
              <a:gd name="adj" fmla="val 4000"/>
            </a:avLst>
          </a:prstGeom>
          <a:solidFill>
            <a:srgbClr val="10162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617719" y="4206240"/>
            <a:ext cx="320040" cy="32004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17719" y="4224528"/>
            <a:ext cx="320040" cy="274320"/>
          </a:xfrm>
          <a:prstGeom prst="rect">
            <a:avLst/>
          </a:prstGeom>
          <a:noFill/>
        </p:spPr>
        <p:txBody>
          <a:bodyPr wrap="square"/>
          <a:lstStyle/>
          <a:p>
            <a:pPr algn="ctr">
              <a:lnSpc>
                <a:spcPts val="1600"/>
              </a:lnSpc>
              <a:spcBef>
                <a:spcPts val="0"/>
              </a:spcBef>
              <a:spcAft>
                <a:spcPts val="0"/>
              </a:spcAft>
              <a:defRPr sz="1400" b="1">
                <a:solidFill>
                  <a:srgbClr val="0A0D14"/>
                </a:solidFill>
                <a:latin typeface="Consolas"/>
              </a:defRPr>
            </a:pPr>
            <a:r>
              <a:rPr>
                <a:latin typeface="Consolas"/>
              </a:rPr>
              <a:t>5</a:t>
            </a:r>
          </a:p>
        </p:txBody>
      </p:sp>
      <p:sp>
        <p:nvSpPr>
          <p:cNvPr id="30" name="TextBox 29"/>
          <p:cNvSpPr txBox="1"/>
          <p:nvPr/>
        </p:nvSpPr>
        <p:spPr>
          <a:xfrm>
            <a:off x="5029199" y="4206240"/>
            <a:ext cx="2743200" cy="548640"/>
          </a:xfrm>
          <a:prstGeom prst="rect">
            <a:avLst/>
          </a:prstGeom>
          <a:noFill/>
        </p:spPr>
        <p:txBody>
          <a:bodyPr wrap="square"/>
          <a:lstStyle/>
          <a:p>
            <a:pPr algn="l">
              <a:lnSpc>
                <a:spcPts val="1600"/>
              </a:lnSpc>
              <a:spcBef>
                <a:spcPts val="0"/>
              </a:spcBef>
              <a:spcAft>
                <a:spcPts val="0"/>
              </a:spcAft>
              <a:defRPr sz="1400" b="1">
                <a:solidFill>
                  <a:srgbClr val="06B6D4"/>
                </a:solidFill>
                <a:latin typeface="Calibri"/>
              </a:defRPr>
            </a:pPr>
            <a:r>
              <a:rPr>
                <a:latin typeface="Calibri"/>
              </a:rPr>
              <a:t>Attack Path</a:t>
            </a:r>
            <a:br/>
            <a:r>
              <a:t>Reconstruction</a:t>
            </a:r>
          </a:p>
        </p:txBody>
      </p:sp>
      <p:sp>
        <p:nvSpPr>
          <p:cNvPr id="31" name="TextBox 30"/>
          <p:cNvSpPr txBox="1"/>
          <p:nvPr/>
        </p:nvSpPr>
        <p:spPr>
          <a:xfrm>
            <a:off x="4663439" y="4800600"/>
            <a:ext cx="3108960" cy="13716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Reconstructs: Sender identity -&gt; Email infrastructure -&gt; Received hops -&gt; Sending IP -&gt; Domain -&gt; URL -&gt; Hosting/ASN -&gt; Related infrastructure -&gt; Related cases. Shows observed vs inferred vs uncertain.</a:t>
            </a:r>
          </a:p>
        </p:txBody>
      </p:sp>
      <p:sp>
        <p:nvSpPr>
          <p:cNvPr id="32" name="Rounded Rectangle 31"/>
          <p:cNvSpPr/>
          <p:nvPr/>
        </p:nvSpPr>
        <p:spPr>
          <a:xfrm>
            <a:off x="8229600" y="4069080"/>
            <a:ext cx="3474720" cy="2194560"/>
          </a:xfrm>
          <a:prstGeom prst="roundRect">
            <a:avLst>
              <a:gd name="adj" fmla="val 4000"/>
            </a:avLst>
          </a:prstGeom>
          <a:solidFill>
            <a:srgbClr val="101622"/>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366760" y="4206240"/>
            <a:ext cx="320040" cy="320040"/>
          </a:xfrm>
          <a:prstGeom prst="roundRect">
            <a:avLst>
              <a:gd name="adj" fmla="val 4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66760" y="4224528"/>
            <a:ext cx="320040" cy="274320"/>
          </a:xfrm>
          <a:prstGeom prst="rect">
            <a:avLst/>
          </a:prstGeom>
          <a:noFill/>
        </p:spPr>
        <p:txBody>
          <a:bodyPr wrap="square"/>
          <a:lstStyle/>
          <a:p>
            <a:pPr algn="ctr">
              <a:lnSpc>
                <a:spcPts val="1600"/>
              </a:lnSpc>
              <a:spcBef>
                <a:spcPts val="0"/>
              </a:spcBef>
              <a:spcAft>
                <a:spcPts val="0"/>
              </a:spcAft>
              <a:defRPr sz="1400" b="1">
                <a:solidFill>
                  <a:srgbClr val="0A0D14"/>
                </a:solidFill>
                <a:latin typeface="Consolas"/>
              </a:defRPr>
            </a:pPr>
            <a:r>
              <a:rPr>
                <a:latin typeface="Consolas"/>
              </a:rPr>
              <a:t>6</a:t>
            </a:r>
          </a:p>
        </p:txBody>
      </p:sp>
      <p:sp>
        <p:nvSpPr>
          <p:cNvPr id="35" name="TextBox 34"/>
          <p:cNvSpPr txBox="1"/>
          <p:nvPr/>
        </p:nvSpPr>
        <p:spPr>
          <a:xfrm>
            <a:off x="8778240" y="4206240"/>
            <a:ext cx="2743200" cy="548640"/>
          </a:xfrm>
          <a:prstGeom prst="rect">
            <a:avLst/>
          </a:prstGeom>
          <a:noFill/>
        </p:spPr>
        <p:txBody>
          <a:bodyPr wrap="square"/>
          <a:lstStyle/>
          <a:p>
            <a:pPr algn="l">
              <a:lnSpc>
                <a:spcPts val="1600"/>
              </a:lnSpc>
              <a:spcBef>
                <a:spcPts val="0"/>
              </a:spcBef>
              <a:spcAft>
                <a:spcPts val="0"/>
              </a:spcAft>
              <a:defRPr sz="1400" b="1">
                <a:solidFill>
                  <a:srgbClr val="F1F5F9"/>
                </a:solidFill>
                <a:latin typeface="Calibri"/>
              </a:defRPr>
            </a:pPr>
            <a:r>
              <a:rPr>
                <a:latin typeface="Calibri"/>
              </a:rPr>
              <a:t>Multi-Evidence</a:t>
            </a:r>
            <a:br/>
            <a:r>
              <a:t>Decision Engine</a:t>
            </a:r>
          </a:p>
        </p:txBody>
      </p:sp>
      <p:sp>
        <p:nvSpPr>
          <p:cNvPr id="36" name="TextBox 35"/>
          <p:cNvSpPr txBox="1"/>
          <p:nvPr/>
        </p:nvSpPr>
        <p:spPr>
          <a:xfrm>
            <a:off x="8412480" y="4800600"/>
            <a:ext cx="3108960" cy="13716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Combines technical, identity, linguistic, infrastructure, historical, and relationship evidence. Outputs: Threat Class + Risk + Confidence + Evidence Contributions + Investigation Hypothesis.</a:t>
            </a:r>
          </a:p>
        </p:txBody>
      </p:sp>
      <p:sp>
        <p:nvSpPr>
          <p:cNvPr id="37" name="TextBox 36"/>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6/19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User Journey / Workflow</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From suspicious email to forensic investigation case</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3474720" cy="45720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27632"/>
            <a:ext cx="3200400" cy="320040"/>
          </a:xfrm>
          <a:prstGeom prst="rect">
            <a:avLst/>
          </a:prstGeom>
          <a:noFill/>
        </p:spPr>
        <p:txBody>
          <a:bodyPr wrap="square"/>
          <a:lstStyle/>
          <a:p>
            <a:pPr algn="l">
              <a:lnSpc>
                <a:spcPts val="1100"/>
              </a:lnSpc>
              <a:spcBef>
                <a:spcPts val="0"/>
              </a:spcBef>
              <a:spcAft>
                <a:spcPts val="0"/>
              </a:spcAft>
              <a:defRPr sz="1000" b="1">
                <a:solidFill>
                  <a:srgbClr val="0A0D14"/>
                </a:solidFill>
                <a:latin typeface="Consolas"/>
              </a:defRPr>
            </a:pPr>
            <a:r>
              <a:rPr>
                <a:latin typeface="Consolas"/>
              </a:rPr>
              <a:t>PHASE 1: INGESTION &amp; PRESERVATION</a:t>
            </a:r>
          </a:p>
        </p:txBody>
      </p:sp>
      <p:sp>
        <p:nvSpPr>
          <p:cNvPr id="9" name="Rounded Rectangle 8"/>
          <p:cNvSpPr/>
          <p:nvPr/>
        </p:nvSpPr>
        <p:spPr>
          <a:xfrm>
            <a:off x="731520" y="2011680"/>
            <a:ext cx="3474720" cy="3840480"/>
          </a:xfrm>
          <a:prstGeom prst="roundRect">
            <a:avLst>
              <a:gd name="adj" fmla="val 4000"/>
            </a:avLst>
          </a:prstGeom>
          <a:solidFill>
            <a:srgbClr val="10162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9456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 Upload suspicious .EML file</a:t>
            </a:r>
          </a:p>
        </p:txBody>
      </p:sp>
      <p:sp>
        <p:nvSpPr>
          <p:cNvPr id="11" name="TextBox 10"/>
          <p:cNvSpPr txBox="1"/>
          <p:nvPr/>
        </p:nvSpPr>
        <p:spPr>
          <a:xfrm>
            <a:off x="914400" y="260604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2. Calculate SHA-256 integrity hash</a:t>
            </a:r>
          </a:p>
        </p:txBody>
      </p:sp>
      <p:sp>
        <p:nvSpPr>
          <p:cNvPr id="12" name="TextBox 11"/>
          <p:cNvSpPr txBox="1"/>
          <p:nvPr/>
        </p:nvSpPr>
        <p:spPr>
          <a:xfrm>
            <a:off x="914400" y="301752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3. Parse MIME structure &amp; headers</a:t>
            </a:r>
          </a:p>
        </p:txBody>
      </p:sp>
      <p:sp>
        <p:nvSpPr>
          <p:cNvPr id="13" name="TextBox 12"/>
          <p:cNvSpPr txBox="1"/>
          <p:nvPr/>
        </p:nvSpPr>
        <p:spPr>
          <a:xfrm>
            <a:off x="914400" y="3428999"/>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4. Reconstruct Received chain</a:t>
            </a:r>
          </a:p>
        </p:txBody>
      </p:sp>
      <p:sp>
        <p:nvSpPr>
          <p:cNvPr id="14" name="TextBox 13"/>
          <p:cNvSpPr txBox="1"/>
          <p:nvPr/>
        </p:nvSpPr>
        <p:spPr>
          <a:xfrm>
            <a:off x="914400" y="384048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5. Store in encrypted evidence vault</a:t>
            </a:r>
          </a:p>
        </p:txBody>
      </p:sp>
      <p:sp>
        <p:nvSpPr>
          <p:cNvPr id="15" name="Rounded Rectangle 14"/>
          <p:cNvSpPr/>
          <p:nvPr/>
        </p:nvSpPr>
        <p:spPr>
          <a:xfrm>
            <a:off x="4480559" y="1554480"/>
            <a:ext cx="3474720" cy="45720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7719" y="1627632"/>
            <a:ext cx="3200400" cy="320040"/>
          </a:xfrm>
          <a:prstGeom prst="rect">
            <a:avLst/>
          </a:prstGeom>
          <a:noFill/>
        </p:spPr>
        <p:txBody>
          <a:bodyPr wrap="square"/>
          <a:lstStyle/>
          <a:p>
            <a:pPr algn="l">
              <a:lnSpc>
                <a:spcPts val="1100"/>
              </a:lnSpc>
              <a:spcBef>
                <a:spcPts val="0"/>
              </a:spcBef>
              <a:spcAft>
                <a:spcPts val="0"/>
              </a:spcAft>
              <a:defRPr sz="1000" b="1">
                <a:solidFill>
                  <a:srgbClr val="0A0D14"/>
                </a:solidFill>
                <a:latin typeface="Consolas"/>
              </a:defRPr>
            </a:pPr>
            <a:r>
              <a:rPr>
                <a:latin typeface="Consolas"/>
              </a:rPr>
              <a:t>PHASE 2: ANALYSIS &amp; INTELLIGENCE</a:t>
            </a:r>
          </a:p>
        </p:txBody>
      </p:sp>
      <p:sp>
        <p:nvSpPr>
          <p:cNvPr id="17" name="Rounded Rectangle 16"/>
          <p:cNvSpPr/>
          <p:nvPr/>
        </p:nvSpPr>
        <p:spPr>
          <a:xfrm>
            <a:off x="4480559" y="2011680"/>
            <a:ext cx="3474720" cy="3840480"/>
          </a:xfrm>
          <a:prstGeom prst="roundRect">
            <a:avLst>
              <a:gd name="adj" fmla="val 4000"/>
            </a:avLst>
          </a:prstGeom>
          <a:solidFill>
            <a:srgbClr val="1016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39" y="219456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6. Analyze SPF / DKIM / DMARC</a:t>
            </a:r>
          </a:p>
        </p:txBody>
      </p:sp>
      <p:sp>
        <p:nvSpPr>
          <p:cNvPr id="19" name="TextBox 18"/>
          <p:cNvSpPr txBox="1"/>
          <p:nvPr/>
        </p:nvSpPr>
        <p:spPr>
          <a:xfrm>
            <a:off x="4663439" y="260604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7. Compare From / Reply-To / Return-Path</a:t>
            </a:r>
          </a:p>
        </p:txBody>
      </p:sp>
      <p:sp>
        <p:nvSpPr>
          <p:cNvPr id="20" name="TextBox 19"/>
          <p:cNvSpPr txBox="1"/>
          <p:nvPr/>
        </p:nvSpPr>
        <p:spPr>
          <a:xfrm>
            <a:off x="4663439" y="301752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8. Detect lookalike domains</a:t>
            </a:r>
          </a:p>
        </p:txBody>
      </p:sp>
      <p:sp>
        <p:nvSpPr>
          <p:cNvPr id="21" name="TextBox 20"/>
          <p:cNvSpPr txBox="1"/>
          <p:nvPr/>
        </p:nvSpPr>
        <p:spPr>
          <a:xfrm>
            <a:off x="4663439" y="3428999"/>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9. Extract &amp; analyze URLs</a:t>
            </a:r>
          </a:p>
        </p:txBody>
      </p:sp>
      <p:sp>
        <p:nvSpPr>
          <p:cNvPr id="22" name="TextBox 21"/>
          <p:cNvSpPr txBox="1"/>
          <p:nvPr/>
        </p:nvSpPr>
        <p:spPr>
          <a:xfrm>
            <a:off x="4663439" y="384048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10. IP / ASN / Hosting analysis</a:t>
            </a:r>
          </a:p>
        </p:txBody>
      </p:sp>
      <p:sp>
        <p:nvSpPr>
          <p:cNvPr id="23" name="TextBox 22"/>
          <p:cNvSpPr txBox="1"/>
          <p:nvPr/>
        </p:nvSpPr>
        <p:spPr>
          <a:xfrm>
            <a:off x="4663439" y="425196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11. Run NLP / BEC analysis</a:t>
            </a:r>
          </a:p>
        </p:txBody>
      </p:sp>
      <p:sp>
        <p:nvSpPr>
          <p:cNvPr id="24" name="TextBox 23"/>
          <p:cNvSpPr txBox="1"/>
          <p:nvPr/>
        </p:nvSpPr>
        <p:spPr>
          <a:xfrm>
            <a:off x="4663439" y="466344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12. Query threat intelligence APIs</a:t>
            </a:r>
          </a:p>
        </p:txBody>
      </p:sp>
      <p:sp>
        <p:nvSpPr>
          <p:cNvPr id="25" name="Rounded Rectangle 24"/>
          <p:cNvSpPr/>
          <p:nvPr/>
        </p:nvSpPr>
        <p:spPr>
          <a:xfrm>
            <a:off x="8229600" y="1554480"/>
            <a:ext cx="3474720" cy="45720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60" y="1627632"/>
            <a:ext cx="3200400" cy="320040"/>
          </a:xfrm>
          <a:prstGeom prst="rect">
            <a:avLst/>
          </a:prstGeom>
          <a:noFill/>
        </p:spPr>
        <p:txBody>
          <a:bodyPr wrap="square"/>
          <a:lstStyle/>
          <a:p>
            <a:pPr algn="l">
              <a:lnSpc>
                <a:spcPts val="1100"/>
              </a:lnSpc>
              <a:spcBef>
                <a:spcPts val="0"/>
              </a:spcBef>
              <a:spcAft>
                <a:spcPts val="0"/>
              </a:spcAft>
              <a:defRPr sz="1000" b="1">
                <a:solidFill>
                  <a:srgbClr val="0A0D14"/>
                </a:solidFill>
                <a:latin typeface="Consolas"/>
              </a:defRPr>
            </a:pPr>
            <a:r>
              <a:rPr>
                <a:latin typeface="Consolas"/>
              </a:rPr>
              <a:t>PHASE 3: CORRELATION &amp; DECISION</a:t>
            </a:r>
          </a:p>
        </p:txBody>
      </p:sp>
      <p:sp>
        <p:nvSpPr>
          <p:cNvPr id="27" name="Rounded Rectangle 26"/>
          <p:cNvSpPr/>
          <p:nvPr/>
        </p:nvSpPr>
        <p:spPr>
          <a:xfrm>
            <a:off x="8229600" y="2011680"/>
            <a:ext cx="3474720" cy="3840480"/>
          </a:xfrm>
          <a:prstGeom prst="roundRect">
            <a:avLst>
              <a:gd name="adj" fmla="val 4000"/>
            </a:avLst>
          </a:prstGeom>
          <a:solidFill>
            <a:srgbClr val="1016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219456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13. Build evidence graph</a:t>
            </a:r>
          </a:p>
        </p:txBody>
      </p:sp>
      <p:sp>
        <p:nvSpPr>
          <p:cNvPr id="29" name="TextBox 28"/>
          <p:cNvSpPr txBox="1"/>
          <p:nvPr/>
        </p:nvSpPr>
        <p:spPr>
          <a:xfrm>
            <a:off x="8412480" y="260604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14. Search previous cases</a:t>
            </a:r>
          </a:p>
        </p:txBody>
      </p:sp>
      <p:sp>
        <p:nvSpPr>
          <p:cNvPr id="30" name="TextBox 29"/>
          <p:cNvSpPr txBox="1"/>
          <p:nvPr/>
        </p:nvSpPr>
        <p:spPr>
          <a:xfrm>
            <a:off x="8412480" y="301752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15. Discover related emails</a:t>
            </a:r>
          </a:p>
        </p:txBody>
      </p:sp>
      <p:sp>
        <p:nvSpPr>
          <p:cNvPr id="31" name="TextBox 30"/>
          <p:cNvSpPr txBox="1"/>
          <p:nvPr/>
        </p:nvSpPr>
        <p:spPr>
          <a:xfrm>
            <a:off x="8412480" y="3428999"/>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16. Create campaign relationship</a:t>
            </a:r>
          </a:p>
        </p:txBody>
      </p:sp>
      <p:sp>
        <p:nvSpPr>
          <p:cNvPr id="32" name="TextBox 31"/>
          <p:cNvSpPr txBox="1"/>
          <p:nvPr/>
        </p:nvSpPr>
        <p:spPr>
          <a:xfrm>
            <a:off x="8412480" y="384048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17. Calculate risk &amp; confidence</a:t>
            </a:r>
          </a:p>
        </p:txBody>
      </p:sp>
      <p:sp>
        <p:nvSpPr>
          <p:cNvPr id="33" name="TextBox 32"/>
          <p:cNvSpPr txBox="1"/>
          <p:nvPr/>
        </p:nvSpPr>
        <p:spPr>
          <a:xfrm>
            <a:off x="8412480" y="425196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18. Reconstruct attack path</a:t>
            </a:r>
          </a:p>
        </p:txBody>
      </p:sp>
      <p:sp>
        <p:nvSpPr>
          <p:cNvPr id="34" name="TextBox 33"/>
          <p:cNvSpPr txBox="1"/>
          <p:nvPr/>
        </p:nvSpPr>
        <p:spPr>
          <a:xfrm>
            <a:off x="8412480" y="4663440"/>
            <a:ext cx="3108960" cy="36576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19. Generate forensic report</a:t>
            </a:r>
          </a:p>
        </p:txBody>
      </p:sp>
      <p:sp>
        <p:nvSpPr>
          <p:cNvPr id="35" name="TextBox 34"/>
          <p:cNvSpPr txBox="1"/>
          <p:nvPr/>
        </p:nvSpPr>
        <p:spPr>
          <a:xfrm>
            <a:off x="4206240" y="3200400"/>
            <a:ext cx="365760" cy="365760"/>
          </a:xfrm>
          <a:prstGeom prst="rect">
            <a:avLst/>
          </a:prstGeom>
          <a:noFill/>
        </p:spPr>
        <p:txBody>
          <a:bodyPr wrap="square"/>
          <a:lstStyle/>
          <a:p>
            <a:pPr algn="ctr">
              <a:lnSpc>
                <a:spcPts val="2300"/>
              </a:lnSpc>
              <a:spcBef>
                <a:spcPts val="0"/>
              </a:spcBef>
              <a:spcAft>
                <a:spcPts val="0"/>
              </a:spcAft>
              <a:defRPr sz="2000" b="0">
                <a:solidFill>
                  <a:srgbClr val="06B6D4"/>
                </a:solidFill>
                <a:latin typeface="Calibri"/>
              </a:defRPr>
            </a:pPr>
            <a:r>
              <a:rPr>
                <a:latin typeface="Calibri"/>
              </a:rPr>
              <a:t>▶</a:t>
            </a:r>
          </a:p>
        </p:txBody>
      </p:sp>
      <p:sp>
        <p:nvSpPr>
          <p:cNvPr id="36" name="TextBox 35"/>
          <p:cNvSpPr txBox="1"/>
          <p:nvPr/>
        </p:nvSpPr>
        <p:spPr>
          <a:xfrm>
            <a:off x="7955279" y="3200400"/>
            <a:ext cx="365760" cy="365760"/>
          </a:xfrm>
          <a:prstGeom prst="rect">
            <a:avLst/>
          </a:prstGeom>
          <a:noFill/>
        </p:spPr>
        <p:txBody>
          <a:bodyPr wrap="square"/>
          <a:lstStyle/>
          <a:p>
            <a:pPr algn="ctr">
              <a:lnSpc>
                <a:spcPts val="2300"/>
              </a:lnSpc>
              <a:spcBef>
                <a:spcPts val="0"/>
              </a:spcBef>
              <a:spcAft>
                <a:spcPts val="0"/>
              </a:spcAft>
              <a:defRPr sz="2000" b="0">
                <a:solidFill>
                  <a:srgbClr val="06B6D4"/>
                </a:solidFill>
                <a:latin typeface="Calibri"/>
              </a:defRPr>
            </a:pPr>
            <a:r>
              <a:rPr>
                <a:latin typeface="Calibri"/>
              </a:rPr>
              <a:t>▶</a:t>
            </a:r>
          </a:p>
        </p:txBody>
      </p:sp>
      <p:sp>
        <p:nvSpPr>
          <p:cNvPr id="37" name="Rounded Rectangle 36"/>
          <p:cNvSpPr/>
          <p:nvPr/>
        </p:nvSpPr>
        <p:spPr>
          <a:xfrm>
            <a:off x="731520" y="5852160"/>
            <a:ext cx="10698480" cy="548640"/>
          </a:xfrm>
          <a:prstGeom prst="roundRect">
            <a:avLst>
              <a:gd name="adj" fmla="val 4000"/>
            </a:avLst>
          </a:prstGeom>
          <a:solidFill>
            <a:srgbClr val="18223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897880"/>
            <a:ext cx="10332720" cy="45720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ANALYST OUTPUT  │  Forensic Report with: Case ID, Evidence Hash, Header Analysis, Authentication Status, Identity Consistency, Infrastructure Findings, Threat Classification, Risk Score, Evidence Confidence, Related Entities, Campaign Relationships, Attack Path Timeline, Attribution Limitations, Chain of Custody</a:t>
            </a:r>
          </a:p>
        </p:txBody>
      </p:sp>
      <p:sp>
        <p:nvSpPr>
          <p:cNvPr id="39" name="TextBox 38"/>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7/19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UI/UX Overview</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Investigation Overview — Case #1042</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5029200" cy="46634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663440" cy="274320"/>
          </a:xfrm>
          <a:prstGeom prst="rect">
            <a:avLst/>
          </a:prstGeom>
          <a:noFill/>
        </p:spPr>
        <p:txBody>
          <a:bodyPr wrap="square"/>
          <a:lstStyle/>
          <a:p>
            <a:pPr algn="l">
              <a:lnSpc>
                <a:spcPts val="1100"/>
              </a:lnSpc>
              <a:spcBef>
                <a:spcPts val="0"/>
              </a:spcBef>
              <a:spcAft>
                <a:spcPts val="0"/>
              </a:spcAft>
              <a:defRPr sz="1000" b="1">
                <a:solidFill>
                  <a:srgbClr val="06B6D4"/>
                </a:solidFill>
                <a:latin typeface="Consolas"/>
              </a:defRPr>
            </a:pPr>
            <a:r>
              <a:rPr>
                <a:latin typeface="Consolas"/>
              </a:rPr>
              <a:t>INVESTIGATION OVERVIEW SCREEN</a:t>
            </a:r>
          </a:p>
        </p:txBody>
      </p:sp>
      <p:sp>
        <p:nvSpPr>
          <p:cNvPr id="9" name="Rounded Rectangle 8"/>
          <p:cNvSpPr/>
          <p:nvPr/>
        </p:nvSpPr>
        <p:spPr>
          <a:xfrm>
            <a:off x="914400" y="2148840"/>
            <a:ext cx="2286000" cy="1828800"/>
          </a:xfrm>
          <a:prstGeom prst="roundRect">
            <a:avLst>
              <a:gd name="adj" fmla="val 4000"/>
            </a:avLst>
          </a:prstGeom>
          <a:solidFill>
            <a:srgbClr val="18223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240280"/>
            <a:ext cx="2286000" cy="274320"/>
          </a:xfrm>
          <a:prstGeom prst="rect">
            <a:avLst/>
          </a:prstGeom>
          <a:noFill/>
        </p:spPr>
        <p:txBody>
          <a:bodyPr wrap="square"/>
          <a:lstStyle/>
          <a:p>
            <a:pPr algn="ctr">
              <a:lnSpc>
                <a:spcPts val="1000"/>
              </a:lnSpc>
              <a:spcBef>
                <a:spcPts val="0"/>
              </a:spcBef>
              <a:spcAft>
                <a:spcPts val="0"/>
              </a:spcAft>
              <a:defRPr sz="900" b="0">
                <a:solidFill>
                  <a:srgbClr val="475569"/>
                </a:solidFill>
                <a:latin typeface="Consolas"/>
              </a:defRPr>
            </a:pPr>
            <a:r>
              <a:rPr>
                <a:latin typeface="Consolas"/>
              </a:rPr>
              <a:t>THREAT INDEX</a:t>
            </a:r>
          </a:p>
        </p:txBody>
      </p:sp>
      <p:sp>
        <p:nvSpPr>
          <p:cNvPr id="11" name="TextBox 10"/>
          <p:cNvSpPr txBox="1"/>
          <p:nvPr/>
        </p:nvSpPr>
        <p:spPr>
          <a:xfrm>
            <a:off x="914400" y="2560320"/>
            <a:ext cx="2286000" cy="731520"/>
          </a:xfrm>
          <a:prstGeom prst="rect">
            <a:avLst/>
          </a:prstGeom>
          <a:noFill/>
        </p:spPr>
        <p:txBody>
          <a:bodyPr wrap="square"/>
          <a:lstStyle/>
          <a:p>
            <a:pPr algn="ctr">
              <a:lnSpc>
                <a:spcPts val="5900"/>
              </a:lnSpc>
              <a:spcBef>
                <a:spcPts val="0"/>
              </a:spcBef>
              <a:spcAft>
                <a:spcPts val="0"/>
              </a:spcAft>
              <a:defRPr sz="5200" b="1">
                <a:solidFill>
                  <a:srgbClr val="EF4444"/>
                </a:solidFill>
                <a:latin typeface="Consolas"/>
              </a:defRPr>
            </a:pPr>
            <a:r>
              <a:rPr>
                <a:latin typeface="Consolas"/>
              </a:rPr>
              <a:t>91</a:t>
            </a:r>
          </a:p>
        </p:txBody>
      </p:sp>
      <p:sp>
        <p:nvSpPr>
          <p:cNvPr id="12" name="TextBox 11"/>
          <p:cNvSpPr txBox="1"/>
          <p:nvPr/>
        </p:nvSpPr>
        <p:spPr>
          <a:xfrm>
            <a:off x="914400" y="3291840"/>
            <a:ext cx="2286000" cy="365760"/>
          </a:xfrm>
          <a:prstGeom prst="rect">
            <a:avLst/>
          </a:prstGeom>
          <a:noFill/>
        </p:spPr>
        <p:txBody>
          <a:bodyPr wrap="square"/>
          <a:lstStyle/>
          <a:p>
            <a:pPr algn="ctr">
              <a:lnSpc>
                <a:spcPts val="1100"/>
              </a:lnSpc>
              <a:spcBef>
                <a:spcPts val="0"/>
              </a:spcBef>
              <a:spcAft>
                <a:spcPts val="0"/>
              </a:spcAft>
              <a:defRPr sz="1000" b="0">
                <a:solidFill>
                  <a:srgbClr val="EF4444"/>
                </a:solidFill>
                <a:latin typeface="Consolas"/>
              </a:defRPr>
            </a:pPr>
            <a:r>
              <a:rPr>
                <a:latin typeface="Consolas"/>
              </a:rPr>
              <a:t>CRITICAL SEVERITY</a:t>
            </a:r>
          </a:p>
        </p:txBody>
      </p:sp>
      <p:sp>
        <p:nvSpPr>
          <p:cNvPr id="13" name="TextBox 12"/>
          <p:cNvSpPr txBox="1"/>
          <p:nvPr/>
        </p:nvSpPr>
        <p:spPr>
          <a:xfrm>
            <a:off x="914400" y="3566160"/>
            <a:ext cx="2286000" cy="274320"/>
          </a:xfrm>
          <a:prstGeom prst="rect">
            <a:avLst/>
          </a:prstGeom>
          <a:noFill/>
        </p:spPr>
        <p:txBody>
          <a:bodyPr wrap="square"/>
          <a:lstStyle/>
          <a:p>
            <a:pPr algn="ctr">
              <a:lnSpc>
                <a:spcPts val="900"/>
              </a:lnSpc>
              <a:spcBef>
                <a:spcPts val="0"/>
              </a:spcBef>
              <a:spcAft>
                <a:spcPts val="0"/>
              </a:spcAft>
              <a:defRPr sz="800" b="0">
                <a:solidFill>
                  <a:srgbClr val="475569"/>
                </a:solidFill>
                <a:latin typeface="Consolas"/>
              </a:defRPr>
            </a:pPr>
            <a:r>
              <a:rPr>
                <a:latin typeface="Consolas"/>
              </a:rPr>
              <a:t>BEC HIGH  |  REF #1042</a:t>
            </a:r>
          </a:p>
        </p:txBody>
      </p:sp>
      <p:sp>
        <p:nvSpPr>
          <p:cNvPr id="14" name="Rounded Rectangle 13"/>
          <p:cNvSpPr/>
          <p:nvPr/>
        </p:nvSpPr>
        <p:spPr>
          <a:xfrm>
            <a:off x="3383280" y="2148840"/>
            <a:ext cx="2194560" cy="1828800"/>
          </a:xfrm>
          <a:prstGeom prst="roundRect">
            <a:avLst>
              <a:gd name="adj" fmla="val 4000"/>
            </a:avLst>
          </a:prstGeom>
          <a:solidFill>
            <a:srgbClr val="182234"/>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240280"/>
            <a:ext cx="1920240" cy="274320"/>
          </a:xfrm>
          <a:prstGeom prst="rect">
            <a:avLst/>
          </a:prstGeom>
          <a:noFill/>
        </p:spPr>
        <p:txBody>
          <a:bodyPr wrap="square"/>
          <a:lstStyle/>
          <a:p>
            <a:pPr algn="ctr">
              <a:lnSpc>
                <a:spcPts val="1000"/>
              </a:lnSpc>
              <a:spcBef>
                <a:spcPts val="0"/>
              </a:spcBef>
              <a:spcAft>
                <a:spcPts val="0"/>
              </a:spcAft>
              <a:defRPr sz="900" b="0">
                <a:solidFill>
                  <a:srgbClr val="475569"/>
                </a:solidFill>
                <a:latin typeface="Consolas"/>
              </a:defRPr>
            </a:pPr>
            <a:r>
              <a:rPr>
                <a:latin typeface="Consolas"/>
              </a:rPr>
              <a:t>CONFIDENCE</a:t>
            </a:r>
          </a:p>
        </p:txBody>
      </p:sp>
      <p:sp>
        <p:nvSpPr>
          <p:cNvPr id="16" name="TextBox 15"/>
          <p:cNvSpPr txBox="1"/>
          <p:nvPr/>
        </p:nvSpPr>
        <p:spPr>
          <a:xfrm>
            <a:off x="3520440" y="2606040"/>
            <a:ext cx="192024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Model Confidence</a:t>
            </a:r>
          </a:p>
        </p:txBody>
      </p:sp>
      <p:sp>
        <p:nvSpPr>
          <p:cNvPr id="17" name="Rounded Rectangle 16"/>
          <p:cNvSpPr/>
          <p:nvPr/>
        </p:nvSpPr>
        <p:spPr>
          <a:xfrm>
            <a:off x="3520440" y="2834640"/>
            <a:ext cx="1920240" cy="137160"/>
          </a:xfrm>
          <a:prstGeom prst="roundRect">
            <a:avLst>
              <a:gd name="adj" fmla="val 4000"/>
            </a:avLst>
          </a:prstGeom>
          <a:solidFill>
            <a:srgbClr val="10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0440" y="2834640"/>
            <a:ext cx="1709928" cy="13716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0440" y="3017520"/>
            <a:ext cx="1920240" cy="182880"/>
          </a:xfrm>
          <a:prstGeom prst="rect">
            <a:avLst/>
          </a:prstGeom>
          <a:noFill/>
        </p:spPr>
        <p:txBody>
          <a:bodyPr wrap="square"/>
          <a:lstStyle/>
          <a:p>
            <a:pPr algn="r">
              <a:lnSpc>
                <a:spcPts val="1100"/>
              </a:lnSpc>
              <a:spcBef>
                <a:spcPts val="0"/>
              </a:spcBef>
              <a:spcAft>
                <a:spcPts val="0"/>
              </a:spcAft>
              <a:defRPr sz="1000" b="1">
                <a:solidFill>
                  <a:srgbClr val="06B6D4"/>
                </a:solidFill>
                <a:latin typeface="Consolas"/>
              </a:defRPr>
            </a:pPr>
            <a:r>
              <a:rPr>
                <a:latin typeface="Consolas"/>
              </a:rPr>
              <a:t>89.4%</a:t>
            </a:r>
          </a:p>
        </p:txBody>
      </p:sp>
      <p:sp>
        <p:nvSpPr>
          <p:cNvPr id="20" name="TextBox 19"/>
          <p:cNvSpPr txBox="1"/>
          <p:nvPr/>
        </p:nvSpPr>
        <p:spPr>
          <a:xfrm>
            <a:off x="3520440" y="3291840"/>
            <a:ext cx="192024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Evidence Confidence</a:t>
            </a:r>
          </a:p>
        </p:txBody>
      </p:sp>
      <p:sp>
        <p:nvSpPr>
          <p:cNvPr id="21" name="Rounded Rectangle 20"/>
          <p:cNvSpPr/>
          <p:nvPr/>
        </p:nvSpPr>
        <p:spPr>
          <a:xfrm>
            <a:off x="3520440" y="3520440"/>
            <a:ext cx="1920240" cy="137160"/>
          </a:xfrm>
          <a:prstGeom prst="roundRect">
            <a:avLst>
              <a:gd name="adj" fmla="val 4000"/>
            </a:avLst>
          </a:prstGeom>
          <a:solidFill>
            <a:srgbClr val="10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20440" y="3520440"/>
            <a:ext cx="1664208" cy="13716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20440" y="3703320"/>
            <a:ext cx="1920240" cy="182880"/>
          </a:xfrm>
          <a:prstGeom prst="rect">
            <a:avLst/>
          </a:prstGeom>
          <a:noFill/>
        </p:spPr>
        <p:txBody>
          <a:bodyPr wrap="square"/>
          <a:lstStyle/>
          <a:p>
            <a:pPr algn="r">
              <a:lnSpc>
                <a:spcPts val="1100"/>
              </a:lnSpc>
              <a:spcBef>
                <a:spcPts val="0"/>
              </a:spcBef>
              <a:spcAft>
                <a:spcPts val="0"/>
              </a:spcAft>
              <a:defRPr sz="1000" b="1">
                <a:solidFill>
                  <a:srgbClr val="10B981"/>
                </a:solidFill>
                <a:latin typeface="Consolas"/>
              </a:defRPr>
            </a:pPr>
            <a:r>
              <a:rPr>
                <a:latin typeface="Consolas"/>
              </a:rPr>
              <a:t>87.1%</a:t>
            </a:r>
          </a:p>
        </p:txBody>
      </p:sp>
      <p:sp>
        <p:nvSpPr>
          <p:cNvPr id="24" name="Rounded Rectangle 23"/>
          <p:cNvSpPr/>
          <p:nvPr/>
        </p:nvSpPr>
        <p:spPr>
          <a:xfrm>
            <a:off x="914400" y="4206240"/>
            <a:ext cx="2148840" cy="73152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251960"/>
            <a:ext cx="1965960" cy="18288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IDENTITY SYNC</a:t>
            </a:r>
          </a:p>
        </p:txBody>
      </p:sp>
      <p:sp>
        <p:nvSpPr>
          <p:cNvPr id="26" name="TextBox 25"/>
          <p:cNvSpPr txBox="1"/>
          <p:nvPr/>
        </p:nvSpPr>
        <p:spPr>
          <a:xfrm>
            <a:off x="1005840" y="4434840"/>
            <a:ext cx="1965960" cy="228600"/>
          </a:xfrm>
          <a:prstGeom prst="rect">
            <a:avLst/>
          </a:prstGeom>
          <a:noFill/>
        </p:spPr>
        <p:txBody>
          <a:bodyPr wrap="square"/>
          <a:lstStyle/>
          <a:p>
            <a:pPr algn="l">
              <a:lnSpc>
                <a:spcPts val="1800"/>
              </a:lnSpc>
              <a:spcBef>
                <a:spcPts val="0"/>
              </a:spcBef>
              <a:spcAft>
                <a:spcPts val="0"/>
              </a:spcAft>
              <a:defRPr sz="1600" b="1">
                <a:solidFill>
                  <a:srgbClr val="EF4444"/>
                </a:solidFill>
                <a:latin typeface="Consolas"/>
              </a:defRPr>
            </a:pPr>
            <a:r>
              <a:rPr>
                <a:latin typeface="Consolas"/>
              </a:rPr>
              <a:t>34/100</a:t>
            </a:r>
          </a:p>
        </p:txBody>
      </p:sp>
      <p:sp>
        <p:nvSpPr>
          <p:cNvPr id="27" name="TextBox 26"/>
          <p:cNvSpPr txBox="1"/>
          <p:nvPr/>
        </p:nvSpPr>
        <p:spPr>
          <a:xfrm>
            <a:off x="1005840" y="4709160"/>
            <a:ext cx="1965960" cy="182880"/>
          </a:xfrm>
          <a:prstGeom prst="rect">
            <a:avLst/>
          </a:prstGeom>
          <a:noFill/>
        </p:spPr>
        <p:txBody>
          <a:bodyPr wrap="square"/>
          <a:lstStyle/>
          <a:p>
            <a:pPr algn="l">
              <a:lnSpc>
                <a:spcPts val="900"/>
              </a:lnSpc>
              <a:spcBef>
                <a:spcPts val="0"/>
              </a:spcBef>
              <a:spcAft>
                <a:spcPts val="0"/>
              </a:spcAft>
              <a:defRPr sz="800" b="0">
                <a:solidFill>
                  <a:srgbClr val="94A3B8"/>
                </a:solidFill>
                <a:latin typeface="Calibri"/>
              </a:defRPr>
            </a:pPr>
            <a:r>
              <a:rPr>
                <a:latin typeface="Calibri"/>
              </a:rPr>
              <a:t>High Contradiction</a:t>
            </a:r>
          </a:p>
        </p:txBody>
      </p:sp>
      <p:sp>
        <p:nvSpPr>
          <p:cNvPr id="28" name="Rounded Rectangle 27"/>
          <p:cNvSpPr/>
          <p:nvPr/>
        </p:nvSpPr>
        <p:spPr>
          <a:xfrm>
            <a:off x="3291840" y="4206240"/>
            <a:ext cx="2148840" cy="73152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383280" y="4251960"/>
            <a:ext cx="1965960" cy="18288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RELATED EMAILS</a:t>
            </a:r>
          </a:p>
        </p:txBody>
      </p:sp>
      <p:sp>
        <p:nvSpPr>
          <p:cNvPr id="30" name="TextBox 29"/>
          <p:cNvSpPr txBox="1"/>
          <p:nvPr/>
        </p:nvSpPr>
        <p:spPr>
          <a:xfrm>
            <a:off x="3383280" y="4434840"/>
            <a:ext cx="1965960" cy="228600"/>
          </a:xfrm>
          <a:prstGeom prst="rect">
            <a:avLst/>
          </a:prstGeom>
          <a:noFill/>
        </p:spPr>
        <p:txBody>
          <a:bodyPr wrap="square"/>
          <a:lstStyle/>
          <a:p>
            <a:pPr algn="l">
              <a:lnSpc>
                <a:spcPts val="1800"/>
              </a:lnSpc>
              <a:spcBef>
                <a:spcPts val="0"/>
              </a:spcBef>
              <a:spcAft>
                <a:spcPts val="0"/>
              </a:spcAft>
              <a:defRPr sz="1600" b="1">
                <a:solidFill>
                  <a:srgbClr val="3B82F6"/>
                </a:solidFill>
                <a:latin typeface="Consolas"/>
              </a:defRPr>
            </a:pPr>
            <a:r>
              <a:rPr>
                <a:latin typeface="Consolas"/>
              </a:rPr>
              <a:t>03</a:t>
            </a:r>
          </a:p>
        </p:txBody>
      </p:sp>
      <p:sp>
        <p:nvSpPr>
          <p:cNvPr id="31" name="TextBox 30"/>
          <p:cNvSpPr txBox="1"/>
          <p:nvPr/>
        </p:nvSpPr>
        <p:spPr>
          <a:xfrm>
            <a:off x="3383280" y="4709160"/>
            <a:ext cx="1965960" cy="182880"/>
          </a:xfrm>
          <a:prstGeom prst="rect">
            <a:avLst/>
          </a:prstGeom>
          <a:noFill/>
        </p:spPr>
        <p:txBody>
          <a:bodyPr wrap="square"/>
          <a:lstStyle/>
          <a:p>
            <a:pPr algn="l">
              <a:lnSpc>
                <a:spcPts val="900"/>
              </a:lnSpc>
              <a:spcBef>
                <a:spcPts val="0"/>
              </a:spcBef>
              <a:spcAft>
                <a:spcPts val="0"/>
              </a:spcAft>
              <a:defRPr sz="800" b="0">
                <a:solidFill>
                  <a:srgbClr val="94A3B8"/>
                </a:solidFill>
                <a:latin typeface="Calibri"/>
              </a:defRPr>
            </a:pPr>
            <a:r>
              <a:rPr>
                <a:latin typeface="Calibri"/>
              </a:rPr>
              <a:t>Cluster #17</a:t>
            </a:r>
          </a:p>
        </p:txBody>
      </p:sp>
      <p:sp>
        <p:nvSpPr>
          <p:cNvPr id="32" name="Rounded Rectangle 31"/>
          <p:cNvSpPr/>
          <p:nvPr/>
        </p:nvSpPr>
        <p:spPr>
          <a:xfrm>
            <a:off x="914400" y="5029200"/>
            <a:ext cx="2148840" cy="73152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5074920"/>
            <a:ext cx="1965960" cy="18288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INFRA NODES</a:t>
            </a:r>
          </a:p>
        </p:txBody>
      </p:sp>
      <p:sp>
        <p:nvSpPr>
          <p:cNvPr id="34" name="TextBox 33"/>
          <p:cNvSpPr txBox="1"/>
          <p:nvPr/>
        </p:nvSpPr>
        <p:spPr>
          <a:xfrm>
            <a:off x="1005840" y="5257800"/>
            <a:ext cx="1965960" cy="228600"/>
          </a:xfrm>
          <a:prstGeom prst="rect">
            <a:avLst/>
          </a:prstGeom>
          <a:noFill/>
        </p:spPr>
        <p:txBody>
          <a:bodyPr wrap="square"/>
          <a:lstStyle/>
          <a:p>
            <a:pPr algn="l">
              <a:lnSpc>
                <a:spcPts val="1800"/>
              </a:lnSpc>
              <a:spcBef>
                <a:spcPts val="0"/>
              </a:spcBef>
              <a:spcAft>
                <a:spcPts val="0"/>
              </a:spcAft>
              <a:defRPr sz="1600" b="1">
                <a:solidFill>
                  <a:srgbClr val="06B6D4"/>
                </a:solidFill>
                <a:latin typeface="Consolas"/>
              </a:defRPr>
            </a:pPr>
            <a:r>
              <a:rPr>
                <a:latin typeface="Consolas"/>
              </a:rPr>
              <a:t>04</a:t>
            </a:r>
          </a:p>
        </p:txBody>
      </p:sp>
      <p:sp>
        <p:nvSpPr>
          <p:cNvPr id="35" name="TextBox 34"/>
          <p:cNvSpPr txBox="1"/>
          <p:nvPr/>
        </p:nvSpPr>
        <p:spPr>
          <a:xfrm>
            <a:off x="1005840" y="5532120"/>
            <a:ext cx="1965960" cy="182880"/>
          </a:xfrm>
          <a:prstGeom prst="rect">
            <a:avLst/>
          </a:prstGeom>
          <a:noFill/>
        </p:spPr>
        <p:txBody>
          <a:bodyPr wrap="square"/>
          <a:lstStyle/>
          <a:p>
            <a:pPr algn="l">
              <a:lnSpc>
                <a:spcPts val="900"/>
              </a:lnSpc>
              <a:spcBef>
                <a:spcPts val="0"/>
              </a:spcBef>
              <a:spcAft>
                <a:spcPts val="0"/>
              </a:spcAft>
              <a:defRPr sz="800" b="0">
                <a:solidFill>
                  <a:srgbClr val="94A3B8"/>
                </a:solidFill>
                <a:latin typeface="Calibri"/>
              </a:defRPr>
            </a:pPr>
            <a:r>
              <a:rPr>
                <a:latin typeface="Calibri"/>
              </a:rPr>
              <a:t>2 DC + 1 Lookalike</a:t>
            </a:r>
          </a:p>
        </p:txBody>
      </p:sp>
      <p:sp>
        <p:nvSpPr>
          <p:cNvPr id="36" name="Rounded Rectangle 35"/>
          <p:cNvSpPr/>
          <p:nvPr/>
        </p:nvSpPr>
        <p:spPr>
          <a:xfrm>
            <a:off x="3291840" y="5029200"/>
            <a:ext cx="2148840" cy="73152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83280" y="5074920"/>
            <a:ext cx="1965960" cy="18288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VAULT ARCHIVE</a:t>
            </a:r>
          </a:p>
        </p:txBody>
      </p:sp>
      <p:sp>
        <p:nvSpPr>
          <p:cNvPr id="38" name="TextBox 37"/>
          <p:cNvSpPr txBox="1"/>
          <p:nvPr/>
        </p:nvSpPr>
        <p:spPr>
          <a:xfrm>
            <a:off x="3383280" y="5257800"/>
            <a:ext cx="1965960" cy="228600"/>
          </a:xfrm>
          <a:prstGeom prst="rect">
            <a:avLst/>
          </a:prstGeom>
          <a:noFill/>
        </p:spPr>
        <p:txBody>
          <a:bodyPr wrap="square"/>
          <a:lstStyle/>
          <a:p>
            <a:pPr algn="l">
              <a:lnSpc>
                <a:spcPts val="1800"/>
              </a:lnSpc>
              <a:spcBef>
                <a:spcPts val="0"/>
              </a:spcBef>
              <a:spcAft>
                <a:spcPts val="0"/>
              </a:spcAft>
              <a:defRPr sz="1600" b="1">
                <a:solidFill>
                  <a:srgbClr val="10B981"/>
                </a:solidFill>
                <a:latin typeface="Consolas"/>
              </a:defRPr>
            </a:pPr>
            <a:r>
              <a:rPr>
                <a:latin typeface="Consolas"/>
              </a:rPr>
              <a:t>EV-1042-01</a:t>
            </a:r>
          </a:p>
        </p:txBody>
      </p:sp>
      <p:sp>
        <p:nvSpPr>
          <p:cNvPr id="39" name="TextBox 38"/>
          <p:cNvSpPr txBox="1"/>
          <p:nvPr/>
        </p:nvSpPr>
        <p:spPr>
          <a:xfrm>
            <a:off x="3383280" y="5532120"/>
            <a:ext cx="1965960" cy="182880"/>
          </a:xfrm>
          <a:prstGeom prst="rect">
            <a:avLst/>
          </a:prstGeom>
          <a:noFill/>
        </p:spPr>
        <p:txBody>
          <a:bodyPr wrap="square"/>
          <a:lstStyle/>
          <a:p>
            <a:pPr algn="l">
              <a:lnSpc>
                <a:spcPts val="900"/>
              </a:lnSpc>
              <a:spcBef>
                <a:spcPts val="0"/>
              </a:spcBef>
              <a:spcAft>
                <a:spcPts val="0"/>
              </a:spcAft>
              <a:defRPr sz="800" b="0">
                <a:solidFill>
                  <a:srgbClr val="94A3B8"/>
                </a:solidFill>
                <a:latin typeface="Calibri"/>
              </a:defRPr>
            </a:pPr>
            <a:r>
              <a:rPr>
                <a:latin typeface="Calibri"/>
              </a:rPr>
              <a:t>Merkle Tree Linked</a:t>
            </a:r>
          </a:p>
        </p:txBody>
      </p:sp>
      <p:sp>
        <p:nvSpPr>
          <p:cNvPr id="40" name="Rounded Rectangle 39"/>
          <p:cNvSpPr/>
          <p:nvPr/>
        </p:nvSpPr>
        <p:spPr>
          <a:xfrm>
            <a:off x="6035040" y="1554480"/>
            <a:ext cx="5394960" cy="46634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17920" y="1691640"/>
            <a:ext cx="5029200" cy="274320"/>
          </a:xfrm>
          <a:prstGeom prst="rect">
            <a:avLst/>
          </a:prstGeom>
          <a:noFill/>
        </p:spPr>
        <p:txBody>
          <a:bodyPr wrap="square"/>
          <a:lstStyle/>
          <a:p>
            <a:pPr algn="l">
              <a:lnSpc>
                <a:spcPts val="1100"/>
              </a:lnSpc>
              <a:spcBef>
                <a:spcPts val="0"/>
              </a:spcBef>
              <a:spcAft>
                <a:spcPts val="0"/>
              </a:spcAft>
              <a:defRPr sz="1000" b="1">
                <a:solidFill>
                  <a:srgbClr val="06B6D4"/>
                </a:solidFill>
                <a:latin typeface="Consolas"/>
              </a:defRPr>
            </a:pPr>
            <a:r>
              <a:rPr>
                <a:latin typeface="Consolas"/>
              </a:rPr>
              <a:t>SCREEN COMPONENTS</a:t>
            </a:r>
          </a:p>
        </p:txBody>
      </p:sp>
      <p:sp>
        <p:nvSpPr>
          <p:cNvPr id="42" name="Rounded Rectangle 41"/>
          <p:cNvSpPr/>
          <p:nvPr/>
        </p:nvSpPr>
        <p:spPr>
          <a:xfrm>
            <a:off x="6217920" y="2103120"/>
            <a:ext cx="502920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55080" y="2148840"/>
            <a:ext cx="4754880" cy="228600"/>
          </a:xfrm>
          <a:prstGeom prst="rect">
            <a:avLst/>
          </a:prstGeom>
          <a:noFill/>
        </p:spPr>
        <p:txBody>
          <a:bodyPr wrap="square"/>
          <a:lstStyle/>
          <a:p>
            <a:pPr algn="l">
              <a:lnSpc>
                <a:spcPts val="1200"/>
              </a:lnSpc>
              <a:spcBef>
                <a:spcPts val="0"/>
              </a:spcBef>
              <a:spcAft>
                <a:spcPts val="0"/>
              </a:spcAft>
              <a:defRPr sz="1100" b="1">
                <a:solidFill>
                  <a:srgbClr val="06B6D4"/>
                </a:solidFill>
                <a:latin typeface="Calibri"/>
              </a:defRPr>
            </a:pPr>
            <a:r>
              <a:rPr>
                <a:latin typeface="Calibri"/>
              </a:rPr>
              <a:t>Live Evidence Feed</a:t>
            </a:r>
          </a:p>
        </p:txBody>
      </p:sp>
      <p:sp>
        <p:nvSpPr>
          <p:cNvPr id="44" name="TextBox 43"/>
          <p:cNvSpPr txBox="1"/>
          <p:nvPr/>
        </p:nvSpPr>
        <p:spPr>
          <a:xfrm>
            <a:off x="6355080" y="2377440"/>
            <a:ext cx="4754880" cy="32004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Real-time triage stream with tactical packet inspection on MX clusters. FREEZE button pauses for audit.</a:t>
            </a:r>
          </a:p>
        </p:txBody>
      </p:sp>
      <p:sp>
        <p:nvSpPr>
          <p:cNvPr id="45" name="Rounded Rectangle 44"/>
          <p:cNvSpPr/>
          <p:nvPr/>
        </p:nvSpPr>
        <p:spPr>
          <a:xfrm>
            <a:off x="6217920" y="2816352"/>
            <a:ext cx="502920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55080" y="2862072"/>
            <a:ext cx="4754880" cy="228600"/>
          </a:xfrm>
          <a:prstGeom prst="rect">
            <a:avLst/>
          </a:prstGeom>
          <a:noFill/>
        </p:spPr>
        <p:txBody>
          <a:bodyPr wrap="square"/>
          <a:lstStyle/>
          <a:p>
            <a:pPr algn="l">
              <a:lnSpc>
                <a:spcPts val="1200"/>
              </a:lnSpc>
              <a:spcBef>
                <a:spcPts val="0"/>
              </a:spcBef>
              <a:spcAft>
                <a:spcPts val="0"/>
              </a:spcAft>
              <a:defRPr sz="1100" b="1">
                <a:solidFill>
                  <a:srgbClr val="EF4444"/>
                </a:solidFill>
                <a:latin typeface="Calibri"/>
              </a:defRPr>
            </a:pPr>
            <a:r>
              <a:rPr>
                <a:latin typeface="Calibri"/>
              </a:rPr>
              <a:t>Threat Matrix Card</a:t>
            </a:r>
          </a:p>
        </p:txBody>
      </p:sp>
      <p:sp>
        <p:nvSpPr>
          <p:cNvPr id="47" name="TextBox 46"/>
          <p:cNvSpPr txBox="1"/>
          <p:nvPr/>
        </p:nvSpPr>
        <p:spPr>
          <a:xfrm>
            <a:off x="6355080" y="3090672"/>
            <a:ext cx="4754880" cy="32004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Circular radial SVG gauge with 91/100 threat index. Model &amp; Evidence confidence bars with non-repudiation status.</a:t>
            </a:r>
          </a:p>
        </p:txBody>
      </p:sp>
      <p:sp>
        <p:nvSpPr>
          <p:cNvPr id="48" name="Rounded Rectangle 47"/>
          <p:cNvSpPr/>
          <p:nvPr/>
        </p:nvSpPr>
        <p:spPr>
          <a:xfrm>
            <a:off x="6217920" y="3529584"/>
            <a:ext cx="502920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3575304"/>
            <a:ext cx="4754880" cy="228600"/>
          </a:xfrm>
          <a:prstGeom prst="rect">
            <a:avLst/>
          </a:prstGeom>
          <a:noFill/>
        </p:spPr>
        <p:txBody>
          <a:bodyPr wrap="square"/>
          <a:lstStyle/>
          <a:p>
            <a:pPr algn="l">
              <a:lnSpc>
                <a:spcPts val="1200"/>
              </a:lnSpc>
              <a:spcBef>
                <a:spcPts val="0"/>
              </a:spcBef>
              <a:spcAft>
                <a:spcPts val="0"/>
              </a:spcAft>
              <a:defRPr sz="1100" b="1">
                <a:solidFill>
                  <a:srgbClr val="F59E0B"/>
                </a:solidFill>
                <a:latin typeface="Calibri"/>
              </a:defRPr>
            </a:pPr>
            <a:r>
              <a:rPr>
                <a:latin typeface="Calibri"/>
              </a:rPr>
              <a:t>Flagged Anomalies</a:t>
            </a:r>
          </a:p>
        </p:txBody>
      </p:sp>
      <p:sp>
        <p:nvSpPr>
          <p:cNvPr id="50" name="TextBox 49"/>
          <p:cNvSpPr txBox="1"/>
          <p:nvPr/>
        </p:nvSpPr>
        <p:spPr>
          <a:xfrm>
            <a:off x="6355080" y="3803904"/>
            <a:ext cx="4754880" cy="32004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Weighted anomaly signals: Reply-To mismatch (+35), Lookalike domain (+28), C-Suite impersonation (+22), Bulletproof VPS (+18), BEC urgency (+24).</a:t>
            </a:r>
          </a:p>
        </p:txBody>
      </p:sp>
      <p:sp>
        <p:nvSpPr>
          <p:cNvPr id="51" name="Rounded Rectangle 50"/>
          <p:cNvSpPr/>
          <p:nvPr/>
        </p:nvSpPr>
        <p:spPr>
          <a:xfrm>
            <a:off x="6217920" y="4242816"/>
            <a:ext cx="502920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355080" y="4288536"/>
            <a:ext cx="4754880" cy="228600"/>
          </a:xfrm>
          <a:prstGeom prst="rect">
            <a:avLst/>
          </a:prstGeom>
          <a:noFill/>
        </p:spPr>
        <p:txBody>
          <a:bodyPr wrap="square"/>
          <a:lstStyle/>
          <a:p>
            <a:pPr algn="l">
              <a:lnSpc>
                <a:spcPts val="1200"/>
              </a:lnSpc>
              <a:spcBef>
                <a:spcPts val="0"/>
              </a:spcBef>
              <a:spcAft>
                <a:spcPts val="0"/>
              </a:spcAft>
              <a:defRPr sz="1100" b="1">
                <a:solidFill>
                  <a:srgbClr val="10B981"/>
                </a:solidFill>
                <a:latin typeface="Calibri"/>
              </a:defRPr>
            </a:pPr>
            <a:r>
              <a:rPr>
                <a:latin typeface="Calibri"/>
              </a:rPr>
              <a:t>Identity Routing Vector</a:t>
            </a:r>
          </a:p>
        </p:txBody>
      </p:sp>
      <p:sp>
        <p:nvSpPr>
          <p:cNvPr id="53" name="TextBox 52"/>
          <p:cNvSpPr txBox="1"/>
          <p:nvPr/>
        </p:nvSpPr>
        <p:spPr>
          <a:xfrm>
            <a:off x="6355080" y="4517136"/>
            <a:ext cx="4754880" cy="32004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Visual comparison of Envelope From vs Reply-To vs Return-Path with SPOOFED / REDIRECT / MX-DROP status badges.</a:t>
            </a:r>
          </a:p>
        </p:txBody>
      </p:sp>
      <p:sp>
        <p:nvSpPr>
          <p:cNvPr id="54" name="Rounded Rectangle 53"/>
          <p:cNvSpPr/>
          <p:nvPr/>
        </p:nvSpPr>
        <p:spPr>
          <a:xfrm>
            <a:off x="6217920" y="4956048"/>
            <a:ext cx="502920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5080" y="5001768"/>
            <a:ext cx="4754880" cy="228600"/>
          </a:xfrm>
          <a:prstGeom prst="rect">
            <a:avLst/>
          </a:prstGeom>
          <a:noFill/>
        </p:spPr>
        <p:txBody>
          <a:bodyPr wrap="square"/>
          <a:lstStyle/>
          <a:p>
            <a:pPr algn="l">
              <a:lnSpc>
                <a:spcPts val="1200"/>
              </a:lnSpc>
              <a:spcBef>
                <a:spcPts val="0"/>
              </a:spcBef>
              <a:spcAft>
                <a:spcPts val="0"/>
              </a:spcAft>
              <a:defRPr sz="1100" b="1">
                <a:solidFill>
                  <a:srgbClr val="3B82F6"/>
                </a:solidFill>
                <a:latin typeface="Calibri"/>
              </a:defRPr>
            </a:pPr>
            <a:r>
              <a:rPr>
                <a:latin typeface="Calibri"/>
              </a:rPr>
              <a:t>Attack Path Pipeline</a:t>
            </a:r>
          </a:p>
        </p:txBody>
      </p:sp>
      <p:sp>
        <p:nvSpPr>
          <p:cNvPr id="56" name="TextBox 55"/>
          <p:cNvSpPr txBox="1"/>
          <p:nvPr/>
        </p:nvSpPr>
        <p:spPr>
          <a:xfrm>
            <a:off x="6355080" y="5230368"/>
            <a:ext cx="4754880" cy="32004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5-step visual flow: Identity Forgery -&gt; .eml Ingestion -&gt; TOR Exit IP -&gt; Lookalike Domain -&gt; Fast-Flux MX C2 Gate.</a:t>
            </a:r>
          </a:p>
        </p:txBody>
      </p:sp>
      <p:sp>
        <p:nvSpPr>
          <p:cNvPr id="57" name="Rounded Rectangle 56"/>
          <p:cNvSpPr/>
          <p:nvPr/>
        </p:nvSpPr>
        <p:spPr>
          <a:xfrm>
            <a:off x="6217920" y="5669280"/>
            <a:ext cx="5029200" cy="64008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55080" y="5715000"/>
            <a:ext cx="4754880" cy="228600"/>
          </a:xfrm>
          <a:prstGeom prst="rect">
            <a:avLst/>
          </a:prstGeom>
          <a:noFill/>
        </p:spPr>
        <p:txBody>
          <a:bodyPr wrap="square"/>
          <a:lstStyle/>
          <a:p>
            <a:pPr algn="l">
              <a:lnSpc>
                <a:spcPts val="1200"/>
              </a:lnSpc>
              <a:spcBef>
                <a:spcPts val="0"/>
              </a:spcBef>
              <a:spcAft>
                <a:spcPts val="0"/>
              </a:spcAft>
              <a:defRPr sz="1100" b="1">
                <a:solidFill>
                  <a:srgbClr val="F1F5F9"/>
                </a:solidFill>
                <a:latin typeface="Calibri"/>
              </a:defRPr>
            </a:pPr>
            <a:r>
              <a:rPr>
                <a:latin typeface="Calibri"/>
              </a:rPr>
              <a:t>Investigative Drilldowns</a:t>
            </a:r>
          </a:p>
        </p:txBody>
      </p:sp>
      <p:sp>
        <p:nvSpPr>
          <p:cNvPr id="59" name="TextBox 58"/>
          <p:cNvSpPr txBox="1"/>
          <p:nvPr/>
        </p:nvSpPr>
        <p:spPr>
          <a:xfrm>
            <a:off x="6355080" y="5943600"/>
            <a:ext cx="4754880" cy="32004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4 action buttons: Examine Identity (contradiction map), View Attack Graph (C2 topology), Campaign Correlation (3 matches), Export Audit (PDF).</a:t>
            </a:r>
          </a:p>
        </p:txBody>
      </p:sp>
      <p:sp>
        <p:nvSpPr>
          <p:cNvPr id="60" name="TextBox 59"/>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8/19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UI/UX: Identity Contradiction Engine</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Signature component — detecting sender identity fraud</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3474720" cy="4663440"/>
          </a:xfrm>
          <a:prstGeom prst="roundRect">
            <a:avLst>
              <a:gd name="adj" fmla="val 4000"/>
            </a:avLst>
          </a:prstGeom>
          <a:solidFill>
            <a:srgbClr val="10162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3108960" cy="274320"/>
          </a:xfrm>
          <a:prstGeom prst="rect">
            <a:avLst/>
          </a:prstGeom>
          <a:noFill/>
        </p:spPr>
        <p:txBody>
          <a:bodyPr wrap="square"/>
          <a:lstStyle/>
          <a:p>
            <a:pPr algn="l">
              <a:lnSpc>
                <a:spcPts val="1100"/>
              </a:lnSpc>
              <a:spcBef>
                <a:spcPts val="0"/>
              </a:spcBef>
              <a:spcAft>
                <a:spcPts val="0"/>
              </a:spcAft>
              <a:defRPr sz="1000" b="1">
                <a:solidFill>
                  <a:srgbClr val="06B6D4"/>
                </a:solidFill>
                <a:latin typeface="Consolas"/>
              </a:defRPr>
            </a:pPr>
            <a:r>
              <a:rPr>
                <a:latin typeface="Consolas"/>
              </a:rPr>
              <a:t>IDENTITY CONSISTENCY</a:t>
            </a:r>
          </a:p>
        </p:txBody>
      </p:sp>
      <p:sp>
        <p:nvSpPr>
          <p:cNvPr id="9" name="TextBox 8"/>
          <p:cNvSpPr txBox="1"/>
          <p:nvPr/>
        </p:nvSpPr>
        <p:spPr>
          <a:xfrm>
            <a:off x="914400" y="2057400"/>
            <a:ext cx="1371600" cy="640080"/>
          </a:xfrm>
          <a:prstGeom prst="rect">
            <a:avLst/>
          </a:prstGeom>
          <a:noFill/>
        </p:spPr>
        <p:txBody>
          <a:bodyPr wrap="square"/>
          <a:lstStyle/>
          <a:p>
            <a:pPr algn="l">
              <a:lnSpc>
                <a:spcPts val="5900"/>
              </a:lnSpc>
              <a:spcBef>
                <a:spcPts val="0"/>
              </a:spcBef>
              <a:spcAft>
                <a:spcPts val="0"/>
              </a:spcAft>
              <a:defRPr sz="5200" b="1">
                <a:solidFill>
                  <a:srgbClr val="EF4444"/>
                </a:solidFill>
                <a:latin typeface="Consolas"/>
              </a:defRPr>
            </a:pPr>
            <a:r>
              <a:rPr>
                <a:latin typeface="Consolas"/>
              </a:rPr>
              <a:t>34</a:t>
            </a:r>
          </a:p>
        </p:txBody>
      </p:sp>
      <p:sp>
        <p:nvSpPr>
          <p:cNvPr id="10" name="TextBox 9"/>
          <p:cNvSpPr txBox="1"/>
          <p:nvPr/>
        </p:nvSpPr>
        <p:spPr>
          <a:xfrm>
            <a:off x="2011680" y="2331720"/>
            <a:ext cx="1371600" cy="365760"/>
          </a:xfrm>
          <a:prstGeom prst="rect">
            <a:avLst/>
          </a:prstGeom>
          <a:noFill/>
        </p:spPr>
        <p:txBody>
          <a:bodyPr wrap="square"/>
          <a:lstStyle/>
          <a:p>
            <a:pPr algn="l">
              <a:lnSpc>
                <a:spcPts val="2300"/>
              </a:lnSpc>
              <a:spcBef>
                <a:spcPts val="0"/>
              </a:spcBef>
              <a:spcAft>
                <a:spcPts val="0"/>
              </a:spcAft>
              <a:defRPr sz="2000" b="0">
                <a:solidFill>
                  <a:srgbClr val="475569"/>
                </a:solidFill>
                <a:latin typeface="Consolas"/>
              </a:defRPr>
            </a:pPr>
            <a:r>
              <a:rPr>
                <a:latin typeface="Consolas"/>
              </a:rPr>
              <a:t>/ 100</a:t>
            </a:r>
          </a:p>
        </p:txBody>
      </p:sp>
      <p:sp>
        <p:nvSpPr>
          <p:cNvPr id="11" name="TextBox 10"/>
          <p:cNvSpPr txBox="1"/>
          <p:nvPr/>
        </p:nvSpPr>
        <p:spPr>
          <a:xfrm>
            <a:off x="914400" y="2743200"/>
            <a:ext cx="3108960" cy="274320"/>
          </a:xfrm>
          <a:prstGeom prst="rect">
            <a:avLst/>
          </a:prstGeom>
          <a:noFill/>
        </p:spPr>
        <p:txBody>
          <a:bodyPr wrap="square"/>
          <a:lstStyle/>
          <a:p>
            <a:pPr algn="l">
              <a:lnSpc>
                <a:spcPts val="1200"/>
              </a:lnSpc>
              <a:spcBef>
                <a:spcPts val="0"/>
              </a:spcBef>
              <a:spcAft>
                <a:spcPts val="0"/>
              </a:spcAft>
              <a:defRPr sz="1100" b="0">
                <a:solidFill>
                  <a:srgbClr val="94A3B8"/>
                </a:solidFill>
                <a:latin typeface="Calibri"/>
              </a:defRPr>
            </a:pPr>
            <a:r>
              <a:rPr>
                <a:latin typeface="Calibri"/>
              </a:rPr>
              <a:t>4 Severe Contradictions Detected</a:t>
            </a:r>
          </a:p>
        </p:txBody>
      </p:sp>
      <p:sp>
        <p:nvSpPr>
          <p:cNvPr id="12" name="Rounded Rectangle 11"/>
          <p:cNvSpPr/>
          <p:nvPr/>
        </p:nvSpPr>
        <p:spPr>
          <a:xfrm>
            <a:off x="914400" y="3108960"/>
            <a:ext cx="3108960" cy="137160"/>
          </a:xfrm>
          <a:prstGeom prst="roundRect">
            <a:avLst>
              <a:gd name="adj" fmla="val 4000"/>
            </a:avLst>
          </a:prstGeom>
          <a:solidFill>
            <a:srgbClr val="1822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3108960"/>
            <a:ext cx="1060704" cy="13716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383280"/>
            <a:ext cx="3108960" cy="228600"/>
          </a:xfrm>
          <a:prstGeom prst="rect">
            <a:avLst/>
          </a:prstGeom>
          <a:noFill/>
        </p:spPr>
        <p:txBody>
          <a:bodyPr wrap="square"/>
          <a:lstStyle/>
          <a:p>
            <a:pPr algn="l">
              <a:lnSpc>
                <a:spcPts val="900"/>
              </a:lnSpc>
              <a:spcBef>
                <a:spcPts val="0"/>
              </a:spcBef>
              <a:spcAft>
                <a:spcPts val="0"/>
              </a:spcAft>
              <a:defRPr sz="800" b="0">
                <a:solidFill>
                  <a:srgbClr val="475569"/>
                </a:solidFill>
                <a:latin typeface="Consolas"/>
              </a:defRPr>
            </a:pPr>
            <a:r>
              <a:rPr>
                <a:latin typeface="Consolas"/>
              </a:rPr>
              <a:t>DISCREPANCY HIERARCHY TREE</a:t>
            </a:r>
          </a:p>
        </p:txBody>
      </p:sp>
      <p:sp>
        <p:nvSpPr>
          <p:cNvPr id="15" name="Rounded Rectangle 14"/>
          <p:cNvSpPr/>
          <p:nvPr/>
        </p:nvSpPr>
        <p:spPr>
          <a:xfrm>
            <a:off x="914400" y="3657600"/>
            <a:ext cx="3108960" cy="32004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85032"/>
            <a:ext cx="914400" cy="22860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CLAIMED IDENTITY</a:t>
            </a:r>
          </a:p>
        </p:txBody>
      </p:sp>
      <p:sp>
        <p:nvSpPr>
          <p:cNvPr id="17" name="TextBox 16"/>
          <p:cNvSpPr txBox="1"/>
          <p:nvPr/>
        </p:nvSpPr>
        <p:spPr>
          <a:xfrm>
            <a:off x="1920240" y="3685032"/>
            <a:ext cx="1188720" cy="228600"/>
          </a:xfrm>
          <a:prstGeom prst="rect">
            <a:avLst/>
          </a:prstGeom>
          <a:noFill/>
        </p:spPr>
        <p:txBody>
          <a:bodyPr wrap="square"/>
          <a:lstStyle/>
          <a:p>
            <a:pPr algn="l">
              <a:lnSpc>
                <a:spcPts val="800"/>
              </a:lnSpc>
              <a:spcBef>
                <a:spcPts val="0"/>
              </a:spcBef>
              <a:spcAft>
                <a:spcPts val="0"/>
              </a:spcAft>
              <a:defRPr sz="700" b="1">
                <a:solidFill>
                  <a:srgbClr val="EF4444"/>
                </a:solidFill>
                <a:latin typeface="Consolas"/>
              </a:defRPr>
            </a:pPr>
            <a:r>
              <a:rPr>
                <a:latin typeface="Consolas"/>
              </a:rPr>
              <a:t>Robert Sterling (CFO)</a:t>
            </a:r>
          </a:p>
        </p:txBody>
      </p:sp>
      <p:sp>
        <p:nvSpPr>
          <p:cNvPr id="18" name="TextBox 17"/>
          <p:cNvSpPr txBox="1"/>
          <p:nvPr/>
        </p:nvSpPr>
        <p:spPr>
          <a:xfrm>
            <a:off x="3200400" y="3685032"/>
            <a:ext cx="731520" cy="228600"/>
          </a:xfrm>
          <a:prstGeom prst="rect">
            <a:avLst/>
          </a:prstGeom>
          <a:noFill/>
        </p:spPr>
        <p:txBody>
          <a:bodyPr wrap="square"/>
          <a:lstStyle/>
          <a:p>
            <a:pPr algn="r">
              <a:lnSpc>
                <a:spcPts val="600"/>
              </a:lnSpc>
              <a:spcBef>
                <a:spcPts val="0"/>
              </a:spcBef>
              <a:spcAft>
                <a:spcPts val="0"/>
              </a:spcAft>
              <a:defRPr sz="600" b="0">
                <a:solidFill>
                  <a:srgbClr val="EF4444"/>
                </a:solidFill>
                <a:latin typeface="Consolas"/>
              </a:defRPr>
            </a:pPr>
            <a:r>
              <a:rPr>
                <a:latin typeface="Consolas"/>
              </a:rPr>
              <a:t>Executive Spoof</a:t>
            </a:r>
          </a:p>
        </p:txBody>
      </p:sp>
      <p:sp>
        <p:nvSpPr>
          <p:cNvPr id="19" name="Rounded Rectangle 18"/>
          <p:cNvSpPr/>
          <p:nvPr/>
        </p:nvSpPr>
        <p:spPr>
          <a:xfrm>
            <a:off x="914400" y="4023360"/>
            <a:ext cx="3108960" cy="32004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050792"/>
            <a:ext cx="914400" cy="22860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RFC 5322 FROM</a:t>
            </a:r>
          </a:p>
        </p:txBody>
      </p:sp>
      <p:sp>
        <p:nvSpPr>
          <p:cNvPr id="21" name="TextBox 20"/>
          <p:cNvSpPr txBox="1"/>
          <p:nvPr/>
        </p:nvSpPr>
        <p:spPr>
          <a:xfrm>
            <a:off x="1920240" y="4050792"/>
            <a:ext cx="1188720" cy="228600"/>
          </a:xfrm>
          <a:prstGeom prst="rect">
            <a:avLst/>
          </a:prstGeom>
          <a:noFill/>
        </p:spPr>
        <p:txBody>
          <a:bodyPr wrap="square"/>
          <a:lstStyle/>
          <a:p>
            <a:pPr algn="l">
              <a:lnSpc>
                <a:spcPts val="800"/>
              </a:lnSpc>
              <a:spcBef>
                <a:spcPts val="0"/>
              </a:spcBef>
              <a:spcAft>
                <a:spcPts val="0"/>
              </a:spcAft>
              <a:defRPr sz="700" b="1">
                <a:solidFill>
                  <a:srgbClr val="EF4444"/>
                </a:solidFill>
                <a:latin typeface="Consolas"/>
              </a:defRPr>
            </a:pPr>
            <a:r>
              <a:rPr>
                <a:latin typeface="Consolas"/>
              </a:rPr>
              <a:t>r.sterling@acme-corp.co</a:t>
            </a:r>
          </a:p>
        </p:txBody>
      </p:sp>
      <p:sp>
        <p:nvSpPr>
          <p:cNvPr id="22" name="TextBox 21"/>
          <p:cNvSpPr txBox="1"/>
          <p:nvPr/>
        </p:nvSpPr>
        <p:spPr>
          <a:xfrm>
            <a:off x="3200400" y="4050792"/>
            <a:ext cx="731520" cy="228600"/>
          </a:xfrm>
          <a:prstGeom prst="rect">
            <a:avLst/>
          </a:prstGeom>
          <a:noFill/>
        </p:spPr>
        <p:txBody>
          <a:bodyPr wrap="square"/>
          <a:lstStyle/>
          <a:p>
            <a:pPr algn="r">
              <a:lnSpc>
                <a:spcPts val="600"/>
              </a:lnSpc>
              <a:spcBef>
                <a:spcPts val="0"/>
              </a:spcBef>
              <a:spcAft>
                <a:spcPts val="0"/>
              </a:spcAft>
              <a:defRPr sz="600" b="0">
                <a:solidFill>
                  <a:srgbClr val="EF4444"/>
                </a:solidFill>
                <a:latin typeface="Consolas"/>
              </a:defRPr>
            </a:pPr>
            <a:r>
              <a:rPr>
                <a:latin typeface="Consolas"/>
              </a:rPr>
              <a:t>Lookalike Domain</a:t>
            </a:r>
          </a:p>
        </p:txBody>
      </p:sp>
      <p:sp>
        <p:nvSpPr>
          <p:cNvPr id="23" name="Rounded Rectangle 22"/>
          <p:cNvSpPr/>
          <p:nvPr/>
        </p:nvSpPr>
        <p:spPr>
          <a:xfrm>
            <a:off x="914400" y="4389120"/>
            <a:ext cx="3108960" cy="32004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416552"/>
            <a:ext cx="914400" cy="22860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REPLY-TO</a:t>
            </a:r>
          </a:p>
        </p:txBody>
      </p:sp>
      <p:sp>
        <p:nvSpPr>
          <p:cNvPr id="25" name="TextBox 24"/>
          <p:cNvSpPr txBox="1"/>
          <p:nvPr/>
        </p:nvSpPr>
        <p:spPr>
          <a:xfrm>
            <a:off x="1920240" y="4416552"/>
            <a:ext cx="1188720" cy="228600"/>
          </a:xfrm>
          <a:prstGeom prst="rect">
            <a:avLst/>
          </a:prstGeom>
          <a:noFill/>
        </p:spPr>
        <p:txBody>
          <a:bodyPr wrap="square"/>
          <a:lstStyle/>
          <a:p>
            <a:pPr algn="l">
              <a:lnSpc>
                <a:spcPts val="800"/>
              </a:lnSpc>
              <a:spcBef>
                <a:spcPts val="0"/>
              </a:spcBef>
              <a:spcAft>
                <a:spcPts val="0"/>
              </a:spcAft>
              <a:defRPr sz="700" b="1">
                <a:solidFill>
                  <a:srgbClr val="EF4444"/>
                </a:solidFill>
                <a:latin typeface="Consolas"/>
              </a:defRPr>
            </a:pPr>
            <a:r>
              <a:rPr>
                <a:latin typeface="Consolas"/>
              </a:rPr>
              <a:t>r.sterling.wire@fin-gate.net</a:t>
            </a:r>
          </a:p>
        </p:txBody>
      </p:sp>
      <p:sp>
        <p:nvSpPr>
          <p:cNvPr id="26" name="TextBox 25"/>
          <p:cNvSpPr txBox="1"/>
          <p:nvPr/>
        </p:nvSpPr>
        <p:spPr>
          <a:xfrm>
            <a:off x="3200400" y="4416552"/>
            <a:ext cx="731520" cy="228600"/>
          </a:xfrm>
          <a:prstGeom prst="rect">
            <a:avLst/>
          </a:prstGeom>
          <a:noFill/>
        </p:spPr>
        <p:txBody>
          <a:bodyPr wrap="square"/>
          <a:lstStyle/>
          <a:p>
            <a:pPr algn="r">
              <a:lnSpc>
                <a:spcPts val="600"/>
              </a:lnSpc>
              <a:spcBef>
                <a:spcPts val="0"/>
              </a:spcBef>
              <a:spcAft>
                <a:spcPts val="0"/>
              </a:spcAft>
              <a:defRPr sz="600" b="0">
                <a:solidFill>
                  <a:srgbClr val="EF4444"/>
                </a:solidFill>
                <a:latin typeface="Consolas"/>
              </a:defRPr>
            </a:pPr>
            <a:r>
              <a:rPr>
                <a:latin typeface="Consolas"/>
              </a:rPr>
              <a:t>Rogue Receiver</a:t>
            </a:r>
          </a:p>
        </p:txBody>
      </p:sp>
      <p:sp>
        <p:nvSpPr>
          <p:cNvPr id="27" name="Rounded Rectangle 26"/>
          <p:cNvSpPr/>
          <p:nvPr/>
        </p:nvSpPr>
        <p:spPr>
          <a:xfrm>
            <a:off x="914400" y="4754880"/>
            <a:ext cx="3108960" cy="32004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4782312"/>
            <a:ext cx="914400" cy="22860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DKIM ALIGN</a:t>
            </a:r>
          </a:p>
        </p:txBody>
      </p:sp>
      <p:sp>
        <p:nvSpPr>
          <p:cNvPr id="29" name="TextBox 28"/>
          <p:cNvSpPr txBox="1"/>
          <p:nvPr/>
        </p:nvSpPr>
        <p:spPr>
          <a:xfrm>
            <a:off x="1920240" y="4782312"/>
            <a:ext cx="1188720" cy="228600"/>
          </a:xfrm>
          <a:prstGeom prst="rect">
            <a:avLst/>
          </a:prstGeom>
          <a:noFill/>
        </p:spPr>
        <p:txBody>
          <a:bodyPr wrap="square"/>
          <a:lstStyle/>
          <a:p>
            <a:pPr algn="l">
              <a:lnSpc>
                <a:spcPts val="800"/>
              </a:lnSpc>
              <a:spcBef>
                <a:spcPts val="0"/>
              </a:spcBef>
              <a:spcAft>
                <a:spcPts val="0"/>
              </a:spcAft>
              <a:defRPr sz="700" b="1">
                <a:solidFill>
                  <a:srgbClr val="F59E0B"/>
                </a:solidFill>
                <a:latin typeface="Consolas"/>
              </a:defRPr>
            </a:pPr>
            <a:r>
              <a:rPr>
                <a:latin typeface="Consolas"/>
              </a:rPr>
              <a:t>d=mail-bulkrelay.top</a:t>
            </a:r>
          </a:p>
        </p:txBody>
      </p:sp>
      <p:sp>
        <p:nvSpPr>
          <p:cNvPr id="30" name="TextBox 29"/>
          <p:cNvSpPr txBox="1"/>
          <p:nvPr/>
        </p:nvSpPr>
        <p:spPr>
          <a:xfrm>
            <a:off x="3200400" y="4782312"/>
            <a:ext cx="731520" cy="228600"/>
          </a:xfrm>
          <a:prstGeom prst="rect">
            <a:avLst/>
          </a:prstGeom>
          <a:noFill/>
        </p:spPr>
        <p:txBody>
          <a:bodyPr wrap="square"/>
          <a:lstStyle/>
          <a:p>
            <a:pPr algn="r">
              <a:lnSpc>
                <a:spcPts val="600"/>
              </a:lnSpc>
              <a:spcBef>
                <a:spcPts val="0"/>
              </a:spcBef>
              <a:spcAft>
                <a:spcPts val="0"/>
              </a:spcAft>
              <a:defRPr sz="600" b="0">
                <a:solidFill>
                  <a:srgbClr val="F59E0B"/>
                </a:solidFill>
                <a:latin typeface="Consolas"/>
              </a:defRPr>
            </a:pPr>
            <a:r>
              <a:rPr>
                <a:latin typeface="Consolas"/>
              </a:rPr>
              <a:t>Misaligned Sig</a:t>
            </a:r>
          </a:p>
        </p:txBody>
      </p:sp>
      <p:sp>
        <p:nvSpPr>
          <p:cNvPr id="31" name="Rounded Rectangle 30"/>
          <p:cNvSpPr/>
          <p:nvPr/>
        </p:nvSpPr>
        <p:spPr>
          <a:xfrm>
            <a:off x="914400" y="5120640"/>
            <a:ext cx="3108960" cy="32004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148072"/>
            <a:ext cx="914400" cy="22860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DMARC POLICY</a:t>
            </a:r>
          </a:p>
        </p:txBody>
      </p:sp>
      <p:sp>
        <p:nvSpPr>
          <p:cNvPr id="33" name="TextBox 32"/>
          <p:cNvSpPr txBox="1"/>
          <p:nvPr/>
        </p:nvSpPr>
        <p:spPr>
          <a:xfrm>
            <a:off x="1920240" y="5148072"/>
            <a:ext cx="1188720" cy="228600"/>
          </a:xfrm>
          <a:prstGeom prst="rect">
            <a:avLst/>
          </a:prstGeom>
          <a:noFill/>
        </p:spPr>
        <p:txBody>
          <a:bodyPr wrap="square"/>
          <a:lstStyle/>
          <a:p>
            <a:pPr algn="l">
              <a:lnSpc>
                <a:spcPts val="800"/>
              </a:lnSpc>
              <a:spcBef>
                <a:spcPts val="0"/>
              </a:spcBef>
              <a:spcAft>
                <a:spcPts val="0"/>
              </a:spcAft>
              <a:defRPr sz="700" b="1">
                <a:solidFill>
                  <a:srgbClr val="F59E0B"/>
                </a:solidFill>
                <a:latin typeface="Consolas"/>
              </a:defRPr>
            </a:pPr>
            <a:r>
              <a:rPr>
                <a:latin typeface="Consolas"/>
              </a:rPr>
              <a:t>p=none (Softfail)</a:t>
            </a:r>
          </a:p>
        </p:txBody>
      </p:sp>
      <p:sp>
        <p:nvSpPr>
          <p:cNvPr id="34" name="TextBox 33"/>
          <p:cNvSpPr txBox="1"/>
          <p:nvPr/>
        </p:nvSpPr>
        <p:spPr>
          <a:xfrm>
            <a:off x="3200400" y="5148072"/>
            <a:ext cx="731520" cy="228600"/>
          </a:xfrm>
          <a:prstGeom prst="rect">
            <a:avLst/>
          </a:prstGeom>
          <a:noFill/>
        </p:spPr>
        <p:txBody>
          <a:bodyPr wrap="square"/>
          <a:lstStyle/>
          <a:p>
            <a:pPr algn="r">
              <a:lnSpc>
                <a:spcPts val="600"/>
              </a:lnSpc>
              <a:spcBef>
                <a:spcPts val="0"/>
              </a:spcBef>
              <a:spcAft>
                <a:spcPts val="0"/>
              </a:spcAft>
              <a:defRPr sz="600" b="0">
                <a:solidFill>
                  <a:srgbClr val="F59E0B"/>
                </a:solidFill>
                <a:latin typeface="Consolas"/>
              </a:defRPr>
            </a:pPr>
            <a:r>
              <a:rPr>
                <a:latin typeface="Consolas"/>
              </a:rPr>
              <a:t>Bypass Active</a:t>
            </a:r>
          </a:p>
        </p:txBody>
      </p:sp>
      <p:sp>
        <p:nvSpPr>
          <p:cNvPr id="35" name="Rounded Rectangle 34"/>
          <p:cNvSpPr/>
          <p:nvPr/>
        </p:nvSpPr>
        <p:spPr>
          <a:xfrm>
            <a:off x="914400" y="5486400"/>
            <a:ext cx="3108960" cy="32004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5513832"/>
            <a:ext cx="914400" cy="22860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RETURN-PATH</a:t>
            </a:r>
          </a:p>
        </p:txBody>
      </p:sp>
      <p:sp>
        <p:nvSpPr>
          <p:cNvPr id="37" name="TextBox 36"/>
          <p:cNvSpPr txBox="1"/>
          <p:nvPr/>
        </p:nvSpPr>
        <p:spPr>
          <a:xfrm>
            <a:off x="1920240" y="5513832"/>
            <a:ext cx="1188720" cy="228600"/>
          </a:xfrm>
          <a:prstGeom prst="rect">
            <a:avLst/>
          </a:prstGeom>
          <a:noFill/>
        </p:spPr>
        <p:txBody>
          <a:bodyPr wrap="square"/>
          <a:lstStyle/>
          <a:p>
            <a:pPr algn="l">
              <a:lnSpc>
                <a:spcPts val="800"/>
              </a:lnSpc>
              <a:spcBef>
                <a:spcPts val="0"/>
              </a:spcBef>
              <a:spcAft>
                <a:spcPts val="0"/>
              </a:spcAft>
              <a:defRPr sz="700" b="1">
                <a:solidFill>
                  <a:srgbClr val="EF4444"/>
                </a:solidFill>
                <a:latin typeface="Consolas"/>
              </a:defRPr>
            </a:pPr>
            <a:r>
              <a:rPr>
                <a:latin typeface="Consolas"/>
              </a:rPr>
              <a:t>bounce@mal-infra-relay.ru</a:t>
            </a:r>
          </a:p>
        </p:txBody>
      </p:sp>
      <p:sp>
        <p:nvSpPr>
          <p:cNvPr id="38" name="TextBox 37"/>
          <p:cNvSpPr txBox="1"/>
          <p:nvPr/>
        </p:nvSpPr>
        <p:spPr>
          <a:xfrm>
            <a:off x="3200400" y="5513832"/>
            <a:ext cx="731520" cy="228600"/>
          </a:xfrm>
          <a:prstGeom prst="rect">
            <a:avLst/>
          </a:prstGeom>
          <a:noFill/>
        </p:spPr>
        <p:txBody>
          <a:bodyPr wrap="square"/>
          <a:lstStyle/>
          <a:p>
            <a:pPr algn="r">
              <a:lnSpc>
                <a:spcPts val="600"/>
              </a:lnSpc>
              <a:spcBef>
                <a:spcPts val="0"/>
              </a:spcBef>
              <a:spcAft>
                <a:spcPts val="0"/>
              </a:spcAft>
              <a:defRPr sz="600" b="0">
                <a:solidFill>
                  <a:srgbClr val="EF4444"/>
                </a:solidFill>
                <a:latin typeface="Consolas"/>
              </a:defRPr>
            </a:pPr>
            <a:r>
              <a:rPr>
                <a:latin typeface="Consolas"/>
              </a:rPr>
              <a:t>Offshore Relay</a:t>
            </a:r>
          </a:p>
        </p:txBody>
      </p:sp>
      <p:sp>
        <p:nvSpPr>
          <p:cNvPr id="39" name="Rounded Rectangle 38"/>
          <p:cNvSpPr/>
          <p:nvPr/>
        </p:nvSpPr>
        <p:spPr>
          <a:xfrm>
            <a:off x="914400" y="5852160"/>
            <a:ext cx="3108960" cy="32004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879592"/>
            <a:ext cx="914400" cy="228600"/>
          </a:xfrm>
          <a:prstGeom prst="rect">
            <a:avLst/>
          </a:prstGeom>
          <a:noFill/>
        </p:spPr>
        <p:txBody>
          <a:bodyPr wrap="square"/>
          <a:lstStyle/>
          <a:p>
            <a:pPr algn="l">
              <a:lnSpc>
                <a:spcPts val="800"/>
              </a:lnSpc>
              <a:spcBef>
                <a:spcPts val="0"/>
              </a:spcBef>
              <a:spcAft>
                <a:spcPts val="0"/>
              </a:spcAft>
              <a:defRPr sz="700" b="0">
                <a:solidFill>
                  <a:srgbClr val="475569"/>
                </a:solidFill>
                <a:latin typeface="Consolas"/>
              </a:defRPr>
            </a:pPr>
            <a:r>
              <a:rPr>
                <a:latin typeface="Consolas"/>
              </a:rPr>
              <a:t>SENDING IP</a:t>
            </a:r>
          </a:p>
        </p:txBody>
      </p:sp>
      <p:sp>
        <p:nvSpPr>
          <p:cNvPr id="41" name="TextBox 40"/>
          <p:cNvSpPr txBox="1"/>
          <p:nvPr/>
        </p:nvSpPr>
        <p:spPr>
          <a:xfrm>
            <a:off x="1920240" y="5879592"/>
            <a:ext cx="1188720" cy="228600"/>
          </a:xfrm>
          <a:prstGeom prst="rect">
            <a:avLst/>
          </a:prstGeom>
          <a:noFill/>
        </p:spPr>
        <p:txBody>
          <a:bodyPr wrap="square"/>
          <a:lstStyle/>
          <a:p>
            <a:pPr algn="l">
              <a:lnSpc>
                <a:spcPts val="800"/>
              </a:lnSpc>
              <a:spcBef>
                <a:spcPts val="0"/>
              </a:spcBef>
              <a:spcAft>
                <a:spcPts val="0"/>
              </a:spcAft>
              <a:defRPr sz="700" b="1">
                <a:solidFill>
                  <a:srgbClr val="EF4444"/>
                </a:solidFill>
                <a:latin typeface="Consolas"/>
              </a:defRPr>
            </a:pPr>
            <a:r>
              <a:rPr>
                <a:latin typeface="Consolas"/>
              </a:rPr>
              <a:t>185.220.101.5 (AS49453)</a:t>
            </a:r>
          </a:p>
        </p:txBody>
      </p:sp>
      <p:sp>
        <p:nvSpPr>
          <p:cNvPr id="42" name="TextBox 41"/>
          <p:cNvSpPr txBox="1"/>
          <p:nvPr/>
        </p:nvSpPr>
        <p:spPr>
          <a:xfrm>
            <a:off x="3200400" y="5879592"/>
            <a:ext cx="731520" cy="228600"/>
          </a:xfrm>
          <a:prstGeom prst="rect">
            <a:avLst/>
          </a:prstGeom>
          <a:noFill/>
        </p:spPr>
        <p:txBody>
          <a:bodyPr wrap="square"/>
          <a:lstStyle/>
          <a:p>
            <a:pPr algn="r">
              <a:lnSpc>
                <a:spcPts val="600"/>
              </a:lnSpc>
              <a:spcBef>
                <a:spcPts val="0"/>
              </a:spcBef>
              <a:spcAft>
                <a:spcPts val="0"/>
              </a:spcAft>
              <a:defRPr sz="600" b="0">
                <a:solidFill>
                  <a:srgbClr val="EF4444"/>
                </a:solidFill>
                <a:latin typeface="Consolas"/>
              </a:defRPr>
            </a:pPr>
            <a:r>
              <a:rPr>
                <a:latin typeface="Consolas"/>
              </a:rPr>
              <a:t>CyberBunker</a:t>
            </a:r>
          </a:p>
        </p:txBody>
      </p:sp>
      <p:sp>
        <p:nvSpPr>
          <p:cNvPr id="43" name="Rounded Rectangle 42"/>
          <p:cNvSpPr/>
          <p:nvPr/>
        </p:nvSpPr>
        <p:spPr>
          <a:xfrm>
            <a:off x="4480560" y="1554480"/>
            <a:ext cx="6949440" cy="46634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63440" y="1691640"/>
            <a:ext cx="6583680" cy="274320"/>
          </a:xfrm>
          <a:prstGeom prst="rect">
            <a:avLst/>
          </a:prstGeom>
          <a:noFill/>
        </p:spPr>
        <p:txBody>
          <a:bodyPr wrap="square"/>
          <a:lstStyle/>
          <a:p>
            <a:pPr algn="l">
              <a:lnSpc>
                <a:spcPts val="1100"/>
              </a:lnSpc>
              <a:spcBef>
                <a:spcPts val="0"/>
              </a:spcBef>
              <a:spcAft>
                <a:spcPts val="0"/>
              </a:spcAft>
              <a:defRPr sz="1000" b="1">
                <a:solidFill>
                  <a:srgbClr val="EF4444"/>
                </a:solidFill>
                <a:latin typeface="Consolas"/>
              </a:defRPr>
            </a:pPr>
            <a:r>
              <a:rPr>
                <a:latin typeface="Consolas"/>
              </a:rPr>
              <a:t>CONTRADICTION ALERT STACK  |  4 FLAGGED</a:t>
            </a:r>
          </a:p>
        </p:txBody>
      </p:sp>
      <p:sp>
        <p:nvSpPr>
          <p:cNvPr id="45" name="Rounded Rectangle 44"/>
          <p:cNvSpPr/>
          <p:nvPr/>
        </p:nvSpPr>
        <p:spPr>
          <a:xfrm>
            <a:off x="4663440" y="2103120"/>
            <a:ext cx="6583680" cy="914400"/>
          </a:xfrm>
          <a:prstGeom prst="roundRect">
            <a:avLst>
              <a:gd name="adj" fmla="val 4000"/>
            </a:avLst>
          </a:prstGeom>
          <a:solidFill>
            <a:srgbClr val="18223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663440" y="2103120"/>
            <a:ext cx="502920" cy="91440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663440" y="2377440"/>
            <a:ext cx="502920" cy="274320"/>
          </a:xfrm>
          <a:prstGeom prst="rect">
            <a:avLst/>
          </a:prstGeom>
          <a:noFill/>
        </p:spPr>
        <p:txBody>
          <a:bodyPr wrap="square"/>
          <a:lstStyle/>
          <a:p>
            <a:pPr algn="ctr">
              <a:lnSpc>
                <a:spcPts val="900"/>
              </a:lnSpc>
              <a:spcBef>
                <a:spcPts val="0"/>
              </a:spcBef>
              <a:spcAft>
                <a:spcPts val="0"/>
              </a:spcAft>
              <a:defRPr sz="800" b="1">
                <a:solidFill>
                  <a:srgbClr val="0A0D14"/>
                </a:solidFill>
                <a:latin typeface="Consolas"/>
              </a:defRPr>
            </a:pPr>
            <a:r>
              <a:rPr>
                <a:latin typeface="Consolas"/>
              </a:rPr>
              <a:t>IC-01</a:t>
            </a:r>
          </a:p>
        </p:txBody>
      </p:sp>
      <p:sp>
        <p:nvSpPr>
          <p:cNvPr id="48" name="TextBox 47"/>
          <p:cNvSpPr txBox="1"/>
          <p:nvPr/>
        </p:nvSpPr>
        <p:spPr>
          <a:xfrm>
            <a:off x="5303520" y="2176272"/>
            <a:ext cx="4114800" cy="274320"/>
          </a:xfrm>
          <a:prstGeom prst="rect">
            <a:avLst/>
          </a:prstGeom>
          <a:noFill/>
        </p:spPr>
        <p:txBody>
          <a:bodyPr wrap="square"/>
          <a:lstStyle/>
          <a:p>
            <a:pPr algn="l">
              <a:lnSpc>
                <a:spcPts val="1400"/>
              </a:lnSpc>
              <a:spcBef>
                <a:spcPts val="0"/>
              </a:spcBef>
              <a:spcAft>
                <a:spcPts val="0"/>
              </a:spcAft>
              <a:defRPr sz="1300" b="1">
                <a:solidFill>
                  <a:srgbClr val="F1F5F9"/>
                </a:solidFill>
                <a:latin typeface="Calibri"/>
              </a:defRPr>
            </a:pPr>
            <a:r>
              <a:rPr>
                <a:latin typeface="Calibri"/>
              </a:rPr>
              <a:t>Reply-To Routing Divergence</a:t>
            </a:r>
          </a:p>
        </p:txBody>
      </p:sp>
      <p:sp>
        <p:nvSpPr>
          <p:cNvPr id="49" name="TextBox 48"/>
          <p:cNvSpPr txBox="1"/>
          <p:nvPr/>
        </p:nvSpPr>
        <p:spPr>
          <a:xfrm>
            <a:off x="9875520" y="2176272"/>
            <a:ext cx="1188720" cy="228600"/>
          </a:xfrm>
          <a:prstGeom prst="rect">
            <a:avLst/>
          </a:prstGeom>
          <a:noFill/>
        </p:spPr>
        <p:txBody>
          <a:bodyPr wrap="square"/>
          <a:lstStyle/>
          <a:p>
            <a:pPr algn="r">
              <a:lnSpc>
                <a:spcPts val="900"/>
              </a:lnSpc>
              <a:spcBef>
                <a:spcPts val="0"/>
              </a:spcBef>
              <a:spcAft>
                <a:spcPts val="0"/>
              </a:spcAft>
              <a:defRPr sz="800" b="1">
                <a:solidFill>
                  <a:srgbClr val="EF4444"/>
                </a:solidFill>
                <a:latin typeface="Consolas"/>
              </a:defRPr>
            </a:pPr>
            <a:r>
              <a:rPr>
                <a:latin typeface="Consolas"/>
              </a:rPr>
              <a:t>HIGH RISK</a:t>
            </a:r>
          </a:p>
        </p:txBody>
      </p:sp>
      <p:sp>
        <p:nvSpPr>
          <p:cNvPr id="50" name="TextBox 49"/>
          <p:cNvSpPr txBox="1"/>
          <p:nvPr/>
        </p:nvSpPr>
        <p:spPr>
          <a:xfrm>
            <a:off x="5303520" y="2487168"/>
            <a:ext cx="585216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Mismatch between RFC 5322 From domain and Reply-To header. Inbound replies steer to external adversarial endpoint. Conf: 96%</a:t>
            </a:r>
          </a:p>
        </p:txBody>
      </p:sp>
      <p:sp>
        <p:nvSpPr>
          <p:cNvPr id="51" name="Rounded Rectangle 50"/>
          <p:cNvSpPr/>
          <p:nvPr/>
        </p:nvSpPr>
        <p:spPr>
          <a:xfrm>
            <a:off x="4663440" y="3154679"/>
            <a:ext cx="6583680" cy="914400"/>
          </a:xfrm>
          <a:prstGeom prst="roundRect">
            <a:avLst>
              <a:gd name="adj" fmla="val 4000"/>
            </a:avLst>
          </a:prstGeom>
          <a:solidFill>
            <a:srgbClr val="18223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4663440" y="3154679"/>
            <a:ext cx="502920" cy="91440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663440" y="3428999"/>
            <a:ext cx="502920" cy="274320"/>
          </a:xfrm>
          <a:prstGeom prst="rect">
            <a:avLst/>
          </a:prstGeom>
          <a:noFill/>
        </p:spPr>
        <p:txBody>
          <a:bodyPr wrap="square"/>
          <a:lstStyle/>
          <a:p>
            <a:pPr algn="ctr">
              <a:lnSpc>
                <a:spcPts val="900"/>
              </a:lnSpc>
              <a:spcBef>
                <a:spcPts val="0"/>
              </a:spcBef>
              <a:spcAft>
                <a:spcPts val="0"/>
              </a:spcAft>
              <a:defRPr sz="800" b="1">
                <a:solidFill>
                  <a:srgbClr val="0A0D14"/>
                </a:solidFill>
                <a:latin typeface="Consolas"/>
              </a:defRPr>
            </a:pPr>
            <a:r>
              <a:rPr>
                <a:latin typeface="Consolas"/>
              </a:rPr>
              <a:t>IC-02</a:t>
            </a:r>
          </a:p>
        </p:txBody>
      </p:sp>
      <p:sp>
        <p:nvSpPr>
          <p:cNvPr id="54" name="TextBox 53"/>
          <p:cNvSpPr txBox="1"/>
          <p:nvPr/>
        </p:nvSpPr>
        <p:spPr>
          <a:xfrm>
            <a:off x="5303520" y="3227831"/>
            <a:ext cx="4114800" cy="274320"/>
          </a:xfrm>
          <a:prstGeom prst="rect">
            <a:avLst/>
          </a:prstGeom>
          <a:noFill/>
        </p:spPr>
        <p:txBody>
          <a:bodyPr wrap="square"/>
          <a:lstStyle/>
          <a:p>
            <a:pPr algn="l">
              <a:lnSpc>
                <a:spcPts val="1400"/>
              </a:lnSpc>
              <a:spcBef>
                <a:spcPts val="0"/>
              </a:spcBef>
              <a:spcAft>
                <a:spcPts val="0"/>
              </a:spcAft>
              <a:defRPr sz="1300" b="1">
                <a:solidFill>
                  <a:srgbClr val="F1F5F9"/>
                </a:solidFill>
                <a:latin typeface="Calibri"/>
              </a:defRPr>
            </a:pPr>
            <a:r>
              <a:rPr>
                <a:latin typeface="Calibri"/>
              </a:rPr>
              <a:t>C-Suite Impersonation</a:t>
            </a:r>
          </a:p>
        </p:txBody>
      </p:sp>
      <p:sp>
        <p:nvSpPr>
          <p:cNvPr id="55" name="TextBox 54"/>
          <p:cNvSpPr txBox="1"/>
          <p:nvPr/>
        </p:nvSpPr>
        <p:spPr>
          <a:xfrm>
            <a:off x="9875520" y="3227831"/>
            <a:ext cx="1188720" cy="228600"/>
          </a:xfrm>
          <a:prstGeom prst="rect">
            <a:avLst/>
          </a:prstGeom>
          <a:noFill/>
        </p:spPr>
        <p:txBody>
          <a:bodyPr wrap="square"/>
          <a:lstStyle/>
          <a:p>
            <a:pPr algn="r">
              <a:lnSpc>
                <a:spcPts val="900"/>
              </a:lnSpc>
              <a:spcBef>
                <a:spcPts val="0"/>
              </a:spcBef>
              <a:spcAft>
                <a:spcPts val="0"/>
              </a:spcAft>
              <a:defRPr sz="800" b="1">
                <a:solidFill>
                  <a:srgbClr val="EF4444"/>
                </a:solidFill>
                <a:latin typeface="Consolas"/>
              </a:defRPr>
            </a:pPr>
            <a:r>
              <a:rPr>
                <a:latin typeface="Consolas"/>
              </a:rPr>
              <a:t>CRITICAL</a:t>
            </a:r>
          </a:p>
        </p:txBody>
      </p:sp>
      <p:sp>
        <p:nvSpPr>
          <p:cNvPr id="56" name="TextBox 55"/>
          <p:cNvSpPr txBox="1"/>
          <p:nvPr/>
        </p:nvSpPr>
        <p:spPr>
          <a:xfrm>
            <a:off x="5303520" y="3538727"/>
            <a:ext cx="585216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Display name mirrors Robert Sterling (CFO) while transmitting from unauthorized external infrastructure. Target: Executive Wire Auth.</a:t>
            </a:r>
          </a:p>
        </p:txBody>
      </p:sp>
      <p:sp>
        <p:nvSpPr>
          <p:cNvPr id="57" name="Rounded Rectangle 56"/>
          <p:cNvSpPr/>
          <p:nvPr/>
        </p:nvSpPr>
        <p:spPr>
          <a:xfrm>
            <a:off x="4663440" y="4206240"/>
            <a:ext cx="6583680" cy="914400"/>
          </a:xfrm>
          <a:prstGeom prst="roundRect">
            <a:avLst>
              <a:gd name="adj" fmla="val 4000"/>
            </a:avLst>
          </a:prstGeom>
          <a:solidFill>
            <a:srgbClr val="18223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663440" y="4206240"/>
            <a:ext cx="502920" cy="91440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63440" y="4480560"/>
            <a:ext cx="502920" cy="274320"/>
          </a:xfrm>
          <a:prstGeom prst="rect">
            <a:avLst/>
          </a:prstGeom>
          <a:noFill/>
        </p:spPr>
        <p:txBody>
          <a:bodyPr wrap="square"/>
          <a:lstStyle/>
          <a:p>
            <a:pPr algn="ctr">
              <a:lnSpc>
                <a:spcPts val="900"/>
              </a:lnSpc>
              <a:spcBef>
                <a:spcPts val="0"/>
              </a:spcBef>
              <a:spcAft>
                <a:spcPts val="0"/>
              </a:spcAft>
              <a:defRPr sz="800" b="1">
                <a:solidFill>
                  <a:srgbClr val="0A0D14"/>
                </a:solidFill>
                <a:latin typeface="Consolas"/>
              </a:defRPr>
            </a:pPr>
            <a:r>
              <a:rPr>
                <a:latin typeface="Consolas"/>
              </a:rPr>
              <a:t>IC-03</a:t>
            </a:r>
          </a:p>
        </p:txBody>
      </p:sp>
      <p:sp>
        <p:nvSpPr>
          <p:cNvPr id="60" name="TextBox 59"/>
          <p:cNvSpPr txBox="1"/>
          <p:nvPr/>
        </p:nvSpPr>
        <p:spPr>
          <a:xfrm>
            <a:off x="5303520" y="4279392"/>
            <a:ext cx="4114800" cy="274320"/>
          </a:xfrm>
          <a:prstGeom prst="rect">
            <a:avLst/>
          </a:prstGeom>
          <a:noFill/>
        </p:spPr>
        <p:txBody>
          <a:bodyPr wrap="square"/>
          <a:lstStyle/>
          <a:p>
            <a:pPr algn="l">
              <a:lnSpc>
                <a:spcPts val="1400"/>
              </a:lnSpc>
              <a:spcBef>
                <a:spcPts val="0"/>
              </a:spcBef>
              <a:spcAft>
                <a:spcPts val="0"/>
              </a:spcAft>
              <a:defRPr sz="1300" b="1">
                <a:solidFill>
                  <a:srgbClr val="F1F5F9"/>
                </a:solidFill>
                <a:latin typeface="Calibri"/>
              </a:defRPr>
            </a:pPr>
            <a:r>
              <a:rPr>
                <a:latin typeface="Calibri"/>
              </a:rPr>
              <a:t>Rogue Hosting Return-Path</a:t>
            </a:r>
          </a:p>
        </p:txBody>
      </p:sp>
      <p:sp>
        <p:nvSpPr>
          <p:cNvPr id="61" name="TextBox 60"/>
          <p:cNvSpPr txBox="1"/>
          <p:nvPr/>
        </p:nvSpPr>
        <p:spPr>
          <a:xfrm>
            <a:off x="9875520" y="4279392"/>
            <a:ext cx="1188720" cy="228600"/>
          </a:xfrm>
          <a:prstGeom prst="rect">
            <a:avLst/>
          </a:prstGeom>
          <a:noFill/>
        </p:spPr>
        <p:txBody>
          <a:bodyPr wrap="square"/>
          <a:lstStyle/>
          <a:p>
            <a:pPr algn="r">
              <a:lnSpc>
                <a:spcPts val="900"/>
              </a:lnSpc>
              <a:spcBef>
                <a:spcPts val="0"/>
              </a:spcBef>
              <a:spcAft>
                <a:spcPts val="0"/>
              </a:spcAft>
              <a:defRPr sz="800" b="1">
                <a:solidFill>
                  <a:srgbClr val="EF4444"/>
                </a:solidFill>
                <a:latin typeface="Consolas"/>
              </a:defRPr>
            </a:pPr>
            <a:r>
              <a:rPr>
                <a:latin typeface="Consolas"/>
              </a:rPr>
              <a:t>HIGH RISK</a:t>
            </a:r>
          </a:p>
        </p:txBody>
      </p:sp>
      <p:sp>
        <p:nvSpPr>
          <p:cNvPr id="62" name="TextBox 61"/>
          <p:cNvSpPr txBox="1"/>
          <p:nvPr/>
        </p:nvSpPr>
        <p:spPr>
          <a:xfrm>
            <a:off x="5303520" y="4590288"/>
            <a:ext cx="585216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Return-Path bounce destination resolved to Eastern European untrusted host notorious for bulletproof hosting and BEC operations. Geo: AS49453</a:t>
            </a:r>
          </a:p>
        </p:txBody>
      </p:sp>
      <p:sp>
        <p:nvSpPr>
          <p:cNvPr id="63" name="Rounded Rectangle 62"/>
          <p:cNvSpPr/>
          <p:nvPr/>
        </p:nvSpPr>
        <p:spPr>
          <a:xfrm>
            <a:off x="4663440" y="5257800"/>
            <a:ext cx="6583680" cy="914400"/>
          </a:xfrm>
          <a:prstGeom prst="roundRect">
            <a:avLst>
              <a:gd name="adj" fmla="val 4000"/>
            </a:avLst>
          </a:prstGeom>
          <a:solidFill>
            <a:srgbClr val="18223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663440" y="5257800"/>
            <a:ext cx="502920" cy="91440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663440" y="5532120"/>
            <a:ext cx="502920" cy="274320"/>
          </a:xfrm>
          <a:prstGeom prst="rect">
            <a:avLst/>
          </a:prstGeom>
          <a:noFill/>
        </p:spPr>
        <p:txBody>
          <a:bodyPr wrap="square"/>
          <a:lstStyle/>
          <a:p>
            <a:pPr algn="ctr">
              <a:lnSpc>
                <a:spcPts val="900"/>
              </a:lnSpc>
              <a:spcBef>
                <a:spcPts val="0"/>
              </a:spcBef>
              <a:spcAft>
                <a:spcPts val="0"/>
              </a:spcAft>
              <a:defRPr sz="800" b="1">
                <a:solidFill>
                  <a:srgbClr val="0A0D14"/>
                </a:solidFill>
                <a:latin typeface="Consolas"/>
              </a:defRPr>
            </a:pPr>
            <a:r>
              <a:rPr>
                <a:latin typeface="Consolas"/>
              </a:rPr>
              <a:t>IC-04</a:t>
            </a:r>
          </a:p>
        </p:txBody>
      </p:sp>
      <p:sp>
        <p:nvSpPr>
          <p:cNvPr id="66" name="TextBox 65"/>
          <p:cNvSpPr txBox="1"/>
          <p:nvPr/>
        </p:nvSpPr>
        <p:spPr>
          <a:xfrm>
            <a:off x="5303520" y="5330952"/>
            <a:ext cx="4114800" cy="274320"/>
          </a:xfrm>
          <a:prstGeom prst="rect">
            <a:avLst/>
          </a:prstGeom>
          <a:noFill/>
        </p:spPr>
        <p:txBody>
          <a:bodyPr wrap="square"/>
          <a:lstStyle/>
          <a:p>
            <a:pPr algn="l">
              <a:lnSpc>
                <a:spcPts val="1400"/>
              </a:lnSpc>
              <a:spcBef>
                <a:spcPts val="0"/>
              </a:spcBef>
              <a:spcAft>
                <a:spcPts val="0"/>
              </a:spcAft>
              <a:defRPr sz="1300" b="1">
                <a:solidFill>
                  <a:srgbClr val="F1F5F9"/>
                </a:solidFill>
                <a:latin typeface="Calibri"/>
              </a:defRPr>
            </a:pPr>
            <a:r>
              <a:rPr>
                <a:latin typeface="Calibri"/>
              </a:rPr>
              <a:t>Lookalike Homoglyph Domain</a:t>
            </a:r>
          </a:p>
        </p:txBody>
      </p:sp>
      <p:sp>
        <p:nvSpPr>
          <p:cNvPr id="67" name="TextBox 66"/>
          <p:cNvSpPr txBox="1"/>
          <p:nvPr/>
        </p:nvSpPr>
        <p:spPr>
          <a:xfrm>
            <a:off x="9875520" y="5330952"/>
            <a:ext cx="1188720" cy="228600"/>
          </a:xfrm>
          <a:prstGeom prst="rect">
            <a:avLst/>
          </a:prstGeom>
          <a:noFill/>
        </p:spPr>
        <p:txBody>
          <a:bodyPr wrap="square"/>
          <a:lstStyle/>
          <a:p>
            <a:pPr algn="r">
              <a:lnSpc>
                <a:spcPts val="900"/>
              </a:lnSpc>
              <a:spcBef>
                <a:spcPts val="0"/>
              </a:spcBef>
              <a:spcAft>
                <a:spcPts val="0"/>
              </a:spcAft>
              <a:defRPr sz="800" b="1">
                <a:solidFill>
                  <a:srgbClr val="F59E0B"/>
                </a:solidFill>
                <a:latin typeface="Consolas"/>
              </a:defRPr>
            </a:pPr>
            <a:r>
              <a:rPr>
                <a:latin typeface="Consolas"/>
              </a:rPr>
              <a:t>SUSPICIOUS</a:t>
            </a:r>
          </a:p>
        </p:txBody>
      </p:sp>
      <p:sp>
        <p:nvSpPr>
          <p:cNvPr id="68" name="TextBox 67"/>
          <p:cNvSpPr txBox="1"/>
          <p:nvPr/>
        </p:nvSpPr>
        <p:spPr>
          <a:xfrm>
            <a:off x="5303520" y="5641848"/>
            <a:ext cx="585216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Sender domain acme-corp.co has Levenshtein distance of 1 against authoritative acme-corp.com. WHOIS Age: 6d 04h.</a:t>
            </a:r>
          </a:p>
        </p:txBody>
      </p:sp>
      <p:sp>
        <p:nvSpPr>
          <p:cNvPr id="69" name="TextBox 68"/>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9/19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UI/UX: Investigation Graph</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Correlation topology — 14-node multi-vector threat nexus</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6400800" cy="4663440"/>
          </a:xfrm>
          <a:prstGeom prst="roundRect">
            <a:avLst>
              <a:gd name="adj" fmla="val 4000"/>
            </a:avLst>
          </a:prstGeom>
          <a:solidFill>
            <a:srgbClr val="080E1A"/>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6035040" cy="274320"/>
          </a:xfrm>
          <a:prstGeom prst="rect">
            <a:avLst/>
          </a:prstGeom>
          <a:noFill/>
        </p:spPr>
        <p:txBody>
          <a:bodyPr wrap="square"/>
          <a:lstStyle/>
          <a:p>
            <a:pPr algn="l">
              <a:lnSpc>
                <a:spcPts val="1000"/>
              </a:lnSpc>
              <a:spcBef>
                <a:spcPts val="0"/>
              </a:spcBef>
              <a:spcAft>
                <a:spcPts val="0"/>
              </a:spcAft>
              <a:defRPr sz="900" b="1">
                <a:solidFill>
                  <a:srgbClr val="06B6D4"/>
                </a:solidFill>
                <a:latin typeface="Consolas"/>
              </a:defRPr>
            </a:pPr>
            <a:r>
              <a:rPr>
                <a:latin typeface="Consolas"/>
              </a:rPr>
              <a:t>CORRELATION TOPOLOGY  |  14 NODES  |  APEX-WIRE-FIN9 CLUSTER</a:t>
            </a:r>
          </a:p>
        </p:txBody>
      </p:sp>
      <p:sp>
        <p:nvSpPr>
          <p:cNvPr id="9" name="Oval 8"/>
          <p:cNvSpPr/>
          <p:nvPr/>
        </p:nvSpPr>
        <p:spPr>
          <a:xfrm>
            <a:off x="3200400" y="2743200"/>
            <a:ext cx="495300" cy="495300"/>
          </a:xfrm>
          <a:prstGeom prst="ellipse">
            <a:avLst/>
          </a:prstGeom>
          <a:solidFill>
            <a:srgbClr val="182234"/>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0" y="3256788"/>
            <a:ext cx="1097280" cy="274320"/>
          </a:xfrm>
          <a:prstGeom prst="rect">
            <a:avLst/>
          </a:prstGeom>
          <a:noFill/>
        </p:spPr>
        <p:txBody>
          <a:bodyPr wrap="square"/>
          <a:lstStyle/>
          <a:p>
            <a:pPr algn="ctr">
              <a:lnSpc>
                <a:spcPts val="800"/>
              </a:lnSpc>
              <a:spcBef>
                <a:spcPts val="0"/>
              </a:spcBef>
              <a:spcAft>
                <a:spcPts val="0"/>
              </a:spcAft>
              <a:defRPr sz="700" b="1">
                <a:solidFill>
                  <a:srgbClr val="06B6D4"/>
                </a:solidFill>
                <a:latin typeface="Consolas"/>
              </a:defRPr>
            </a:pPr>
            <a:r>
              <a:rPr>
                <a:latin typeface="Consolas"/>
              </a:rPr>
              <a:t>EML-1042-A</a:t>
            </a:r>
          </a:p>
        </p:txBody>
      </p:sp>
      <p:sp>
        <p:nvSpPr>
          <p:cNvPr id="11" name="TextBox 10"/>
          <p:cNvSpPr txBox="1"/>
          <p:nvPr/>
        </p:nvSpPr>
        <p:spPr>
          <a:xfrm>
            <a:off x="2926080" y="3403092"/>
            <a:ext cx="1097280" cy="182880"/>
          </a:xfrm>
          <a:prstGeom prst="rect">
            <a:avLst/>
          </a:prstGeom>
          <a:noFill/>
        </p:spPr>
        <p:txBody>
          <a:bodyPr wrap="square"/>
          <a:lstStyle/>
          <a:p>
            <a:pPr algn="ctr">
              <a:lnSpc>
                <a:spcPts val="600"/>
              </a:lnSpc>
              <a:spcBef>
                <a:spcPts val="0"/>
              </a:spcBef>
              <a:spcAft>
                <a:spcPts val="0"/>
              </a:spcAft>
              <a:defRPr sz="600" b="0">
                <a:solidFill>
                  <a:srgbClr val="475569"/>
                </a:solidFill>
                <a:latin typeface="Calibri"/>
              </a:defRPr>
            </a:pPr>
            <a:r>
              <a:rPr>
                <a:latin typeface="Calibri"/>
              </a:rPr>
              <a:t>Target Wire Fraud</a:t>
            </a:r>
          </a:p>
        </p:txBody>
      </p:sp>
      <p:sp>
        <p:nvSpPr>
          <p:cNvPr id="12" name="Oval 11"/>
          <p:cNvSpPr/>
          <p:nvPr/>
        </p:nvSpPr>
        <p:spPr>
          <a:xfrm>
            <a:off x="1828800" y="2011680"/>
            <a:ext cx="355600" cy="355600"/>
          </a:xfrm>
          <a:prstGeom prst="ellipse">
            <a:avLst/>
          </a:prstGeom>
          <a:solidFill>
            <a:srgbClr val="18223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2385568"/>
            <a:ext cx="1097280" cy="274320"/>
          </a:xfrm>
          <a:prstGeom prst="rect">
            <a:avLst/>
          </a:prstGeom>
          <a:noFill/>
        </p:spPr>
        <p:txBody>
          <a:bodyPr wrap="square"/>
          <a:lstStyle/>
          <a:p>
            <a:pPr algn="ctr">
              <a:lnSpc>
                <a:spcPts val="800"/>
              </a:lnSpc>
              <a:spcBef>
                <a:spcPts val="0"/>
              </a:spcBef>
              <a:spcAft>
                <a:spcPts val="0"/>
              </a:spcAft>
              <a:defRPr sz="700" b="1">
                <a:solidFill>
                  <a:srgbClr val="10B981"/>
                </a:solidFill>
                <a:latin typeface="Consolas"/>
              </a:defRPr>
            </a:pPr>
            <a:r>
              <a:rPr>
                <a:latin typeface="Consolas"/>
              </a:rPr>
              <a:t>R. Sterling</a:t>
            </a:r>
          </a:p>
        </p:txBody>
      </p:sp>
      <p:sp>
        <p:nvSpPr>
          <p:cNvPr id="14" name="TextBox 13"/>
          <p:cNvSpPr txBox="1"/>
          <p:nvPr/>
        </p:nvSpPr>
        <p:spPr>
          <a:xfrm>
            <a:off x="1554480" y="2531872"/>
            <a:ext cx="1097280" cy="182880"/>
          </a:xfrm>
          <a:prstGeom prst="rect">
            <a:avLst/>
          </a:prstGeom>
          <a:noFill/>
        </p:spPr>
        <p:txBody>
          <a:bodyPr wrap="square"/>
          <a:lstStyle/>
          <a:p>
            <a:pPr algn="ctr">
              <a:lnSpc>
                <a:spcPts val="600"/>
              </a:lnSpc>
              <a:spcBef>
                <a:spcPts val="0"/>
              </a:spcBef>
              <a:spcAft>
                <a:spcPts val="0"/>
              </a:spcAft>
              <a:defRPr sz="600" b="0">
                <a:solidFill>
                  <a:srgbClr val="475569"/>
                </a:solidFill>
                <a:latin typeface="Calibri"/>
              </a:defRPr>
            </a:pPr>
            <a:r>
              <a:rPr>
                <a:latin typeface="Calibri"/>
              </a:rPr>
              <a:t>Spoofed CFO</a:t>
            </a:r>
          </a:p>
        </p:txBody>
      </p:sp>
      <p:sp>
        <p:nvSpPr>
          <p:cNvPr id="15" name="Oval 14"/>
          <p:cNvSpPr/>
          <p:nvPr/>
        </p:nvSpPr>
        <p:spPr>
          <a:xfrm>
            <a:off x="4754880" y="2011680"/>
            <a:ext cx="355600" cy="355600"/>
          </a:xfrm>
          <a:prstGeom prst="ellipse">
            <a:avLst/>
          </a:prstGeom>
          <a:solidFill>
            <a:srgbClr val="182234"/>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60" y="2385568"/>
            <a:ext cx="1097280" cy="274320"/>
          </a:xfrm>
          <a:prstGeom prst="rect">
            <a:avLst/>
          </a:prstGeom>
          <a:noFill/>
        </p:spPr>
        <p:txBody>
          <a:bodyPr wrap="square"/>
          <a:lstStyle/>
          <a:p>
            <a:pPr algn="ctr">
              <a:lnSpc>
                <a:spcPts val="800"/>
              </a:lnSpc>
              <a:spcBef>
                <a:spcPts val="0"/>
              </a:spcBef>
              <a:spcAft>
                <a:spcPts val="0"/>
              </a:spcAft>
              <a:defRPr sz="700" b="1">
                <a:solidFill>
                  <a:srgbClr val="3B82F6"/>
                </a:solidFill>
                <a:latin typeface="Consolas"/>
              </a:defRPr>
            </a:pPr>
            <a:r>
              <a:rPr>
                <a:latin typeface="Consolas"/>
              </a:rPr>
              <a:t>acme-corp.co</a:t>
            </a:r>
          </a:p>
        </p:txBody>
      </p:sp>
      <p:sp>
        <p:nvSpPr>
          <p:cNvPr id="17" name="TextBox 16"/>
          <p:cNvSpPr txBox="1"/>
          <p:nvPr/>
        </p:nvSpPr>
        <p:spPr>
          <a:xfrm>
            <a:off x="4480560" y="2531872"/>
            <a:ext cx="1097280" cy="182880"/>
          </a:xfrm>
          <a:prstGeom prst="rect">
            <a:avLst/>
          </a:prstGeom>
          <a:noFill/>
        </p:spPr>
        <p:txBody>
          <a:bodyPr wrap="square"/>
          <a:lstStyle/>
          <a:p>
            <a:pPr algn="ctr">
              <a:lnSpc>
                <a:spcPts val="600"/>
              </a:lnSpc>
              <a:spcBef>
                <a:spcPts val="0"/>
              </a:spcBef>
              <a:spcAft>
                <a:spcPts val="0"/>
              </a:spcAft>
              <a:defRPr sz="600" b="0">
                <a:solidFill>
                  <a:srgbClr val="475569"/>
                </a:solidFill>
                <a:latin typeface="Calibri"/>
              </a:defRPr>
            </a:pPr>
            <a:r>
              <a:rPr>
                <a:latin typeface="Calibri"/>
              </a:rPr>
              <a:t>Typosquat</a:t>
            </a:r>
          </a:p>
        </p:txBody>
      </p:sp>
      <p:sp>
        <p:nvSpPr>
          <p:cNvPr id="18" name="Oval 17"/>
          <p:cNvSpPr/>
          <p:nvPr/>
        </p:nvSpPr>
        <p:spPr>
          <a:xfrm>
            <a:off x="3200400" y="4114800"/>
            <a:ext cx="457200" cy="457200"/>
          </a:xfrm>
          <a:prstGeom prst="ellipse">
            <a:avLst/>
          </a:prstGeom>
          <a:solidFill>
            <a:srgbClr val="182234"/>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0" y="4590288"/>
            <a:ext cx="1097280" cy="274320"/>
          </a:xfrm>
          <a:prstGeom prst="rect">
            <a:avLst/>
          </a:prstGeom>
          <a:noFill/>
        </p:spPr>
        <p:txBody>
          <a:bodyPr wrap="square"/>
          <a:lstStyle/>
          <a:p>
            <a:pPr algn="ctr">
              <a:lnSpc>
                <a:spcPts val="800"/>
              </a:lnSpc>
              <a:spcBef>
                <a:spcPts val="0"/>
              </a:spcBef>
              <a:spcAft>
                <a:spcPts val="0"/>
              </a:spcAft>
              <a:defRPr sz="700" b="1">
                <a:solidFill>
                  <a:srgbClr val="EF4444"/>
                </a:solidFill>
                <a:latin typeface="Consolas"/>
              </a:defRPr>
            </a:pPr>
            <a:r>
              <a:rPr>
                <a:latin typeface="Consolas"/>
              </a:rPr>
              <a:t>185.220.101.5</a:t>
            </a:r>
          </a:p>
        </p:txBody>
      </p:sp>
      <p:sp>
        <p:nvSpPr>
          <p:cNvPr id="20" name="TextBox 19"/>
          <p:cNvSpPr txBox="1"/>
          <p:nvPr/>
        </p:nvSpPr>
        <p:spPr>
          <a:xfrm>
            <a:off x="2926080" y="4736592"/>
            <a:ext cx="1097280" cy="182880"/>
          </a:xfrm>
          <a:prstGeom prst="rect">
            <a:avLst/>
          </a:prstGeom>
          <a:noFill/>
        </p:spPr>
        <p:txBody>
          <a:bodyPr wrap="square"/>
          <a:lstStyle/>
          <a:p>
            <a:pPr algn="ctr">
              <a:lnSpc>
                <a:spcPts val="600"/>
              </a:lnSpc>
              <a:spcBef>
                <a:spcPts val="0"/>
              </a:spcBef>
              <a:spcAft>
                <a:spcPts val="0"/>
              </a:spcAft>
              <a:defRPr sz="600" b="0">
                <a:solidFill>
                  <a:srgbClr val="475569"/>
                </a:solidFill>
                <a:latin typeface="Calibri"/>
              </a:defRPr>
            </a:pPr>
            <a:r>
              <a:rPr>
                <a:latin typeface="Calibri"/>
              </a:rPr>
              <a:t>AS49453 Bulletproof</a:t>
            </a:r>
          </a:p>
        </p:txBody>
      </p:sp>
      <p:sp>
        <p:nvSpPr>
          <p:cNvPr id="21" name="Oval 20"/>
          <p:cNvSpPr/>
          <p:nvPr/>
        </p:nvSpPr>
        <p:spPr>
          <a:xfrm>
            <a:off x="1828800" y="4754880"/>
            <a:ext cx="317500" cy="317500"/>
          </a:xfrm>
          <a:prstGeom prst="ellipse">
            <a:avLst/>
          </a:prstGeom>
          <a:solidFill>
            <a:srgbClr val="182234"/>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54480" y="5090668"/>
            <a:ext cx="1097280" cy="274320"/>
          </a:xfrm>
          <a:prstGeom prst="rect">
            <a:avLst/>
          </a:prstGeom>
          <a:noFill/>
        </p:spPr>
        <p:txBody>
          <a:bodyPr wrap="square"/>
          <a:lstStyle/>
          <a:p>
            <a:pPr algn="ctr">
              <a:lnSpc>
                <a:spcPts val="800"/>
              </a:lnSpc>
              <a:spcBef>
                <a:spcPts val="0"/>
              </a:spcBef>
              <a:spcAft>
                <a:spcPts val="0"/>
              </a:spcAft>
              <a:defRPr sz="700" b="1">
                <a:solidFill>
                  <a:srgbClr val="F59E0B"/>
                </a:solidFill>
                <a:latin typeface="Consolas"/>
              </a:defRPr>
            </a:pPr>
            <a:r>
              <a:rPr>
                <a:latin typeface="Consolas"/>
              </a:rPr>
              <a:t>wire-verif.biz</a:t>
            </a:r>
          </a:p>
        </p:txBody>
      </p:sp>
      <p:sp>
        <p:nvSpPr>
          <p:cNvPr id="23" name="TextBox 22"/>
          <p:cNvSpPr txBox="1"/>
          <p:nvPr/>
        </p:nvSpPr>
        <p:spPr>
          <a:xfrm>
            <a:off x="1554480" y="5236972"/>
            <a:ext cx="1097280" cy="182880"/>
          </a:xfrm>
          <a:prstGeom prst="rect">
            <a:avLst/>
          </a:prstGeom>
          <a:noFill/>
        </p:spPr>
        <p:txBody>
          <a:bodyPr wrap="square"/>
          <a:lstStyle/>
          <a:p>
            <a:pPr algn="ctr">
              <a:lnSpc>
                <a:spcPts val="600"/>
              </a:lnSpc>
              <a:spcBef>
                <a:spcPts val="0"/>
              </a:spcBef>
              <a:spcAft>
                <a:spcPts val="0"/>
              </a:spcAft>
              <a:defRPr sz="600" b="0">
                <a:solidFill>
                  <a:srgbClr val="475569"/>
                </a:solidFill>
                <a:latin typeface="Calibri"/>
              </a:defRPr>
            </a:pPr>
            <a:r>
              <a:rPr>
                <a:latin typeface="Calibri"/>
              </a:rPr>
              <a:t>Phish Portal</a:t>
            </a:r>
          </a:p>
        </p:txBody>
      </p:sp>
      <p:sp>
        <p:nvSpPr>
          <p:cNvPr id="24" name="Oval 23"/>
          <p:cNvSpPr/>
          <p:nvPr/>
        </p:nvSpPr>
        <p:spPr>
          <a:xfrm>
            <a:off x="4754880" y="4754880"/>
            <a:ext cx="355600" cy="355600"/>
          </a:xfrm>
          <a:prstGeom prst="ellipse">
            <a:avLst/>
          </a:prstGeom>
          <a:solidFill>
            <a:srgbClr val="182234"/>
          </a:solidFill>
          <a:ln w="19050">
            <a:solidFill>
              <a:srgbClr val="AC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60" y="5128768"/>
            <a:ext cx="1097280" cy="274320"/>
          </a:xfrm>
          <a:prstGeom prst="rect">
            <a:avLst/>
          </a:prstGeom>
          <a:noFill/>
        </p:spPr>
        <p:txBody>
          <a:bodyPr wrap="square"/>
          <a:lstStyle/>
          <a:p>
            <a:pPr algn="ctr">
              <a:lnSpc>
                <a:spcPts val="800"/>
              </a:lnSpc>
              <a:spcBef>
                <a:spcPts val="0"/>
              </a:spcBef>
              <a:spcAft>
                <a:spcPts val="0"/>
              </a:spcAft>
              <a:defRPr sz="700" b="1">
                <a:solidFill>
                  <a:srgbClr val="ACEDFF"/>
                </a:solidFill>
                <a:latin typeface="Consolas"/>
              </a:defRPr>
            </a:pPr>
            <a:r>
              <a:rPr>
                <a:latin typeface="Consolas"/>
              </a:rPr>
              <a:t>Campaign #17</a:t>
            </a:r>
          </a:p>
        </p:txBody>
      </p:sp>
      <p:sp>
        <p:nvSpPr>
          <p:cNvPr id="26" name="TextBox 25"/>
          <p:cNvSpPr txBox="1"/>
          <p:nvPr/>
        </p:nvSpPr>
        <p:spPr>
          <a:xfrm>
            <a:off x="4480560" y="5275072"/>
            <a:ext cx="1097280" cy="182880"/>
          </a:xfrm>
          <a:prstGeom prst="rect">
            <a:avLst/>
          </a:prstGeom>
          <a:noFill/>
        </p:spPr>
        <p:txBody>
          <a:bodyPr wrap="square"/>
          <a:lstStyle/>
          <a:p>
            <a:pPr algn="ctr">
              <a:lnSpc>
                <a:spcPts val="600"/>
              </a:lnSpc>
              <a:spcBef>
                <a:spcPts val="0"/>
              </a:spcBef>
              <a:spcAft>
                <a:spcPts val="0"/>
              </a:spcAft>
              <a:defRPr sz="600" b="0">
                <a:solidFill>
                  <a:srgbClr val="475569"/>
                </a:solidFill>
                <a:latin typeface="Calibri"/>
              </a:defRPr>
            </a:pPr>
            <a:r>
              <a:rPr>
                <a:latin typeface="Calibri"/>
              </a:rPr>
              <a:t>Apex Wire BEC</a:t>
            </a:r>
          </a:p>
        </p:txBody>
      </p:sp>
      <p:sp>
        <p:nvSpPr>
          <p:cNvPr id="27" name="Oval 26"/>
          <p:cNvSpPr/>
          <p:nvPr/>
        </p:nvSpPr>
        <p:spPr>
          <a:xfrm>
            <a:off x="1371600" y="3200400"/>
            <a:ext cx="266700" cy="266700"/>
          </a:xfrm>
          <a:prstGeom prst="ellipse">
            <a:avLst/>
          </a:prstGeom>
          <a:solidFill>
            <a:srgbClr val="182234"/>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97280" y="3485388"/>
            <a:ext cx="1097280" cy="274320"/>
          </a:xfrm>
          <a:prstGeom prst="rect">
            <a:avLst/>
          </a:prstGeom>
          <a:noFill/>
        </p:spPr>
        <p:txBody>
          <a:bodyPr wrap="square"/>
          <a:lstStyle/>
          <a:p>
            <a:pPr algn="ctr">
              <a:lnSpc>
                <a:spcPts val="800"/>
              </a:lnSpc>
              <a:spcBef>
                <a:spcPts val="0"/>
              </a:spcBef>
              <a:spcAft>
                <a:spcPts val="0"/>
              </a:spcAft>
              <a:defRPr sz="700" b="1">
                <a:solidFill>
                  <a:srgbClr val="06B6D4"/>
                </a:solidFill>
                <a:latin typeface="Consolas"/>
              </a:defRPr>
            </a:pPr>
            <a:r>
              <a:rPr>
                <a:latin typeface="Consolas"/>
              </a:rPr>
              <a:t>#EML-0988-B</a:t>
            </a:r>
          </a:p>
        </p:txBody>
      </p:sp>
      <p:sp>
        <p:nvSpPr>
          <p:cNvPr id="29" name="Oval 28"/>
          <p:cNvSpPr/>
          <p:nvPr/>
        </p:nvSpPr>
        <p:spPr>
          <a:xfrm>
            <a:off x="5029200" y="3200400"/>
            <a:ext cx="266700" cy="266700"/>
          </a:xfrm>
          <a:prstGeom prst="ellipse">
            <a:avLst/>
          </a:prstGeom>
          <a:solidFill>
            <a:srgbClr val="182234"/>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3485388"/>
            <a:ext cx="1097280" cy="274320"/>
          </a:xfrm>
          <a:prstGeom prst="rect">
            <a:avLst/>
          </a:prstGeom>
          <a:noFill/>
        </p:spPr>
        <p:txBody>
          <a:bodyPr wrap="square"/>
          <a:lstStyle/>
          <a:p>
            <a:pPr algn="ctr">
              <a:lnSpc>
                <a:spcPts val="800"/>
              </a:lnSpc>
              <a:spcBef>
                <a:spcPts val="0"/>
              </a:spcBef>
              <a:spcAft>
                <a:spcPts val="0"/>
              </a:spcAft>
              <a:defRPr sz="700" b="1">
                <a:solidFill>
                  <a:srgbClr val="06B6D4"/>
                </a:solidFill>
                <a:latin typeface="Consolas"/>
              </a:defRPr>
            </a:pPr>
            <a:r>
              <a:rPr>
                <a:latin typeface="Consolas"/>
              </a:rPr>
              <a:t>#EML-1011-C</a:t>
            </a:r>
          </a:p>
        </p:txBody>
      </p:sp>
      <p:sp>
        <p:nvSpPr>
          <p:cNvPr id="31" name="Oval 30"/>
          <p:cNvSpPr/>
          <p:nvPr/>
        </p:nvSpPr>
        <p:spPr>
          <a:xfrm>
            <a:off x="3200400" y="1645920"/>
            <a:ext cx="317500" cy="317500"/>
          </a:xfrm>
          <a:prstGeom prst="ellipse">
            <a:avLst/>
          </a:prstGeom>
          <a:solidFill>
            <a:srgbClr val="18223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26080" y="1981708"/>
            <a:ext cx="1097280" cy="274320"/>
          </a:xfrm>
          <a:prstGeom prst="rect">
            <a:avLst/>
          </a:prstGeom>
          <a:noFill/>
        </p:spPr>
        <p:txBody>
          <a:bodyPr wrap="square"/>
          <a:lstStyle/>
          <a:p>
            <a:pPr algn="ctr">
              <a:lnSpc>
                <a:spcPts val="800"/>
              </a:lnSpc>
              <a:spcBef>
                <a:spcPts val="0"/>
              </a:spcBef>
              <a:spcAft>
                <a:spcPts val="0"/>
              </a:spcAft>
              <a:defRPr sz="700" b="1">
                <a:solidFill>
                  <a:srgbClr val="10B981"/>
                </a:solidFill>
                <a:latin typeface="Consolas"/>
              </a:defRPr>
            </a:pPr>
            <a:r>
              <a:rPr>
                <a:latin typeface="Consolas"/>
              </a:rPr>
              <a:t>acme-corp.com</a:t>
            </a:r>
          </a:p>
        </p:txBody>
      </p:sp>
      <p:sp>
        <p:nvSpPr>
          <p:cNvPr id="33" name="TextBox 32"/>
          <p:cNvSpPr txBox="1"/>
          <p:nvPr/>
        </p:nvSpPr>
        <p:spPr>
          <a:xfrm>
            <a:off x="2926080" y="2128012"/>
            <a:ext cx="1097280" cy="182880"/>
          </a:xfrm>
          <a:prstGeom prst="rect">
            <a:avLst/>
          </a:prstGeom>
          <a:noFill/>
        </p:spPr>
        <p:txBody>
          <a:bodyPr wrap="square"/>
          <a:lstStyle/>
          <a:p>
            <a:pPr algn="ctr">
              <a:lnSpc>
                <a:spcPts val="600"/>
              </a:lnSpc>
              <a:spcBef>
                <a:spcPts val="0"/>
              </a:spcBef>
              <a:spcAft>
                <a:spcPts val="0"/>
              </a:spcAft>
              <a:defRPr sz="600" b="0">
                <a:solidFill>
                  <a:srgbClr val="475569"/>
                </a:solidFill>
                <a:latin typeface="Calibri"/>
              </a:defRPr>
            </a:pPr>
            <a:r>
              <a:rPr>
                <a:latin typeface="Calibri"/>
              </a:rPr>
              <a:t>Genuine</a:t>
            </a:r>
          </a:p>
        </p:txBody>
      </p:sp>
      <p:sp>
        <p:nvSpPr>
          <p:cNvPr id="34" name="TextBox 33"/>
          <p:cNvSpPr txBox="1"/>
          <p:nvPr/>
        </p:nvSpPr>
        <p:spPr>
          <a:xfrm>
            <a:off x="2560320" y="2331720"/>
            <a:ext cx="1097280" cy="137160"/>
          </a:xfrm>
          <a:prstGeom prst="rect">
            <a:avLst/>
          </a:prstGeom>
          <a:noFill/>
        </p:spPr>
        <p:txBody>
          <a:bodyPr wrap="square"/>
          <a:lstStyle/>
          <a:p>
            <a:pPr algn="ctr">
              <a:lnSpc>
                <a:spcPts val="500"/>
              </a:lnSpc>
              <a:spcBef>
                <a:spcPts val="0"/>
              </a:spcBef>
              <a:spcAft>
                <a:spcPts val="0"/>
              </a:spcAft>
              <a:defRPr sz="500" b="0">
                <a:solidFill>
                  <a:srgbClr val="475569"/>
                </a:solidFill>
                <a:latin typeface="Consolas"/>
              </a:defRPr>
            </a:pPr>
            <a:r>
              <a:rPr>
                <a:latin typeface="Consolas"/>
              </a:rPr>
              <a:t>SPOOFS</a:t>
            </a:r>
          </a:p>
        </p:txBody>
      </p:sp>
      <p:sp>
        <p:nvSpPr>
          <p:cNvPr id="35" name="TextBox 34"/>
          <p:cNvSpPr txBox="1"/>
          <p:nvPr/>
        </p:nvSpPr>
        <p:spPr>
          <a:xfrm>
            <a:off x="4114800" y="2331720"/>
            <a:ext cx="1097280" cy="137160"/>
          </a:xfrm>
          <a:prstGeom prst="rect">
            <a:avLst/>
          </a:prstGeom>
          <a:noFill/>
        </p:spPr>
        <p:txBody>
          <a:bodyPr wrap="square"/>
          <a:lstStyle/>
          <a:p>
            <a:pPr algn="ctr">
              <a:lnSpc>
                <a:spcPts val="500"/>
              </a:lnSpc>
              <a:spcBef>
                <a:spcPts val="0"/>
              </a:spcBef>
              <a:spcAft>
                <a:spcPts val="0"/>
              </a:spcAft>
              <a:defRPr sz="500" b="0">
                <a:solidFill>
                  <a:srgbClr val="475569"/>
                </a:solidFill>
                <a:latin typeface="Consolas"/>
              </a:defRPr>
            </a:pPr>
            <a:r>
              <a:rPr>
                <a:latin typeface="Consolas"/>
              </a:rPr>
              <a:t>RESOLVES TO</a:t>
            </a:r>
          </a:p>
        </p:txBody>
      </p:sp>
      <p:sp>
        <p:nvSpPr>
          <p:cNvPr id="36" name="TextBox 35"/>
          <p:cNvSpPr txBox="1"/>
          <p:nvPr/>
        </p:nvSpPr>
        <p:spPr>
          <a:xfrm>
            <a:off x="3200400" y="3429000"/>
            <a:ext cx="1097280" cy="137160"/>
          </a:xfrm>
          <a:prstGeom prst="rect">
            <a:avLst/>
          </a:prstGeom>
          <a:noFill/>
        </p:spPr>
        <p:txBody>
          <a:bodyPr wrap="square"/>
          <a:lstStyle/>
          <a:p>
            <a:pPr algn="ctr">
              <a:lnSpc>
                <a:spcPts val="500"/>
              </a:lnSpc>
              <a:spcBef>
                <a:spcPts val="0"/>
              </a:spcBef>
              <a:spcAft>
                <a:spcPts val="0"/>
              </a:spcAft>
              <a:defRPr sz="500" b="0">
                <a:solidFill>
                  <a:srgbClr val="EF4444"/>
                </a:solidFill>
                <a:latin typeface="Consolas"/>
              </a:defRPr>
            </a:pPr>
            <a:r>
              <a:rPr>
                <a:latin typeface="Consolas"/>
              </a:rPr>
              <a:t>SENDS VIA</a:t>
            </a:r>
          </a:p>
        </p:txBody>
      </p:sp>
      <p:sp>
        <p:nvSpPr>
          <p:cNvPr id="37" name="TextBox 36"/>
          <p:cNvSpPr txBox="1"/>
          <p:nvPr/>
        </p:nvSpPr>
        <p:spPr>
          <a:xfrm>
            <a:off x="2286000" y="4434840"/>
            <a:ext cx="1097280" cy="137160"/>
          </a:xfrm>
          <a:prstGeom prst="rect">
            <a:avLst/>
          </a:prstGeom>
          <a:noFill/>
        </p:spPr>
        <p:txBody>
          <a:bodyPr wrap="square"/>
          <a:lstStyle/>
          <a:p>
            <a:pPr algn="ctr">
              <a:lnSpc>
                <a:spcPts val="500"/>
              </a:lnSpc>
              <a:spcBef>
                <a:spcPts val="0"/>
              </a:spcBef>
              <a:spcAft>
                <a:spcPts val="0"/>
              </a:spcAft>
              <a:defRPr sz="500" b="0">
                <a:solidFill>
                  <a:srgbClr val="475569"/>
                </a:solidFill>
                <a:latin typeface="Consolas"/>
              </a:defRPr>
            </a:pPr>
            <a:r>
              <a:rPr>
                <a:latin typeface="Consolas"/>
              </a:rPr>
              <a:t>SHARES HOSTING</a:t>
            </a:r>
          </a:p>
        </p:txBody>
      </p:sp>
      <p:sp>
        <p:nvSpPr>
          <p:cNvPr id="38" name="TextBox 37"/>
          <p:cNvSpPr txBox="1"/>
          <p:nvPr/>
        </p:nvSpPr>
        <p:spPr>
          <a:xfrm>
            <a:off x="4389120" y="4434840"/>
            <a:ext cx="1097280" cy="137160"/>
          </a:xfrm>
          <a:prstGeom prst="rect">
            <a:avLst/>
          </a:prstGeom>
          <a:noFill/>
        </p:spPr>
        <p:txBody>
          <a:bodyPr wrap="square"/>
          <a:lstStyle/>
          <a:p>
            <a:pPr algn="ctr">
              <a:lnSpc>
                <a:spcPts val="500"/>
              </a:lnSpc>
              <a:spcBef>
                <a:spcPts val="0"/>
              </a:spcBef>
              <a:spcAft>
                <a:spcPts val="0"/>
              </a:spcAft>
              <a:defRPr sz="500" b="0">
                <a:solidFill>
                  <a:srgbClr val="EF4444"/>
                </a:solidFill>
                <a:latin typeface="Consolas"/>
              </a:defRPr>
            </a:pPr>
            <a:r>
              <a:rPr>
                <a:latin typeface="Consolas"/>
              </a:rPr>
              <a:t>ATTRIBUTED TO</a:t>
            </a:r>
          </a:p>
        </p:txBody>
      </p:sp>
      <p:sp>
        <p:nvSpPr>
          <p:cNvPr id="39" name="Rounded Rectangle 38"/>
          <p:cNvSpPr/>
          <p:nvPr/>
        </p:nvSpPr>
        <p:spPr>
          <a:xfrm>
            <a:off x="914400" y="5669280"/>
            <a:ext cx="3200400"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5687568"/>
            <a:ext cx="914400" cy="228600"/>
          </a:xfrm>
          <a:prstGeom prst="rect">
            <a:avLst/>
          </a:prstGeom>
          <a:noFill/>
        </p:spPr>
        <p:txBody>
          <a:bodyPr wrap="square"/>
          <a:lstStyle/>
          <a:p>
            <a:pPr algn="l">
              <a:lnSpc>
                <a:spcPts val="800"/>
              </a:lnSpc>
              <a:spcBef>
                <a:spcPts val="0"/>
              </a:spcBef>
              <a:spcAft>
                <a:spcPts val="0"/>
              </a:spcAft>
              <a:defRPr sz="700" b="0">
                <a:solidFill>
                  <a:srgbClr val="EF4444"/>
                </a:solidFill>
                <a:latin typeface="Consolas"/>
              </a:defRPr>
            </a:pPr>
            <a:r>
              <a:rPr>
                <a:latin typeface="Consolas"/>
              </a:rPr>
              <a:t>● HOSTILE</a:t>
            </a:r>
          </a:p>
        </p:txBody>
      </p:sp>
      <p:sp>
        <p:nvSpPr>
          <p:cNvPr id="41" name="TextBox 40"/>
          <p:cNvSpPr txBox="1"/>
          <p:nvPr/>
        </p:nvSpPr>
        <p:spPr>
          <a:xfrm>
            <a:off x="2011680" y="5687568"/>
            <a:ext cx="914400" cy="228600"/>
          </a:xfrm>
          <a:prstGeom prst="rect">
            <a:avLst/>
          </a:prstGeom>
          <a:noFill/>
        </p:spPr>
        <p:txBody>
          <a:bodyPr wrap="square"/>
          <a:lstStyle/>
          <a:p>
            <a:pPr algn="l">
              <a:lnSpc>
                <a:spcPts val="800"/>
              </a:lnSpc>
              <a:spcBef>
                <a:spcPts val="0"/>
              </a:spcBef>
              <a:spcAft>
                <a:spcPts val="0"/>
              </a:spcAft>
              <a:defRPr sz="700" b="0">
                <a:solidFill>
                  <a:srgbClr val="06B6D4"/>
                </a:solidFill>
                <a:latin typeface="Consolas"/>
              </a:defRPr>
            </a:pPr>
            <a:r>
              <a:rPr>
                <a:latin typeface="Consolas"/>
              </a:rPr>
              <a:t>● CORE</a:t>
            </a:r>
          </a:p>
        </p:txBody>
      </p:sp>
      <p:sp>
        <p:nvSpPr>
          <p:cNvPr id="42" name="TextBox 41"/>
          <p:cNvSpPr txBox="1"/>
          <p:nvPr/>
        </p:nvSpPr>
        <p:spPr>
          <a:xfrm>
            <a:off x="3017520" y="5687568"/>
            <a:ext cx="914400" cy="228600"/>
          </a:xfrm>
          <a:prstGeom prst="rect">
            <a:avLst/>
          </a:prstGeom>
          <a:noFill/>
        </p:spPr>
        <p:txBody>
          <a:bodyPr wrap="square"/>
          <a:lstStyle/>
          <a:p>
            <a:pPr algn="l">
              <a:lnSpc>
                <a:spcPts val="800"/>
              </a:lnSpc>
              <a:spcBef>
                <a:spcPts val="0"/>
              </a:spcBef>
              <a:spcAft>
                <a:spcPts val="0"/>
              </a:spcAft>
              <a:defRPr sz="700" b="0">
                <a:solidFill>
                  <a:srgbClr val="10B981"/>
                </a:solidFill>
                <a:latin typeface="Consolas"/>
              </a:defRPr>
            </a:pPr>
            <a:r>
              <a:rPr>
                <a:latin typeface="Consolas"/>
              </a:rPr>
              <a:t>● VERIFIED</a:t>
            </a:r>
          </a:p>
        </p:txBody>
      </p:sp>
      <p:sp>
        <p:nvSpPr>
          <p:cNvPr id="43" name="Rounded Rectangle 42"/>
          <p:cNvSpPr/>
          <p:nvPr/>
        </p:nvSpPr>
        <p:spPr>
          <a:xfrm>
            <a:off x="7406640" y="1554480"/>
            <a:ext cx="4023360" cy="4663440"/>
          </a:xfrm>
          <a:prstGeom prst="roundRect">
            <a:avLst>
              <a:gd name="adj" fmla="val 4000"/>
            </a:avLst>
          </a:prstGeom>
          <a:solidFill>
            <a:srgbClr val="10162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589520" y="1691640"/>
            <a:ext cx="3657600" cy="274320"/>
          </a:xfrm>
          <a:prstGeom prst="rect">
            <a:avLst/>
          </a:prstGeom>
          <a:noFill/>
        </p:spPr>
        <p:txBody>
          <a:bodyPr wrap="square"/>
          <a:lstStyle/>
          <a:p>
            <a:pPr algn="l">
              <a:lnSpc>
                <a:spcPts val="1100"/>
              </a:lnSpc>
              <a:spcBef>
                <a:spcPts val="0"/>
              </a:spcBef>
              <a:spcAft>
                <a:spcPts val="0"/>
              </a:spcAft>
              <a:defRPr sz="1000" b="1">
                <a:solidFill>
                  <a:srgbClr val="06B6D4"/>
                </a:solidFill>
                <a:latin typeface="Consolas"/>
              </a:defRPr>
            </a:pPr>
            <a:r>
              <a:rPr>
                <a:latin typeface="Consolas"/>
              </a:rPr>
              <a:t>SELECTED ENTITY INTEL</a:t>
            </a:r>
          </a:p>
        </p:txBody>
      </p:sp>
      <p:sp>
        <p:nvSpPr>
          <p:cNvPr id="45" name="TextBox 44"/>
          <p:cNvSpPr txBox="1"/>
          <p:nvPr/>
        </p:nvSpPr>
        <p:spPr>
          <a:xfrm>
            <a:off x="7589520" y="2103120"/>
            <a:ext cx="3657600" cy="182880"/>
          </a:xfrm>
          <a:prstGeom prst="rect">
            <a:avLst/>
          </a:prstGeom>
          <a:noFill/>
        </p:spPr>
        <p:txBody>
          <a:bodyPr wrap="square"/>
          <a:lstStyle/>
          <a:p>
            <a:pPr algn="l">
              <a:lnSpc>
                <a:spcPts val="1000"/>
              </a:lnSpc>
              <a:spcBef>
                <a:spcPts val="0"/>
              </a:spcBef>
              <a:spcAft>
                <a:spcPts val="0"/>
              </a:spcAft>
              <a:defRPr sz="900" b="1">
                <a:solidFill>
                  <a:srgbClr val="EF4444"/>
                </a:solidFill>
                <a:latin typeface="Consolas"/>
              </a:defRPr>
            </a:pPr>
            <a:r>
              <a:rPr>
                <a:latin typeface="Consolas"/>
              </a:rPr>
              <a:t>IP ADDRESS  |  HIGH RISK</a:t>
            </a:r>
          </a:p>
        </p:txBody>
      </p:sp>
      <p:sp>
        <p:nvSpPr>
          <p:cNvPr id="46" name="TextBox 45"/>
          <p:cNvSpPr txBox="1"/>
          <p:nvPr/>
        </p:nvSpPr>
        <p:spPr>
          <a:xfrm>
            <a:off x="7589520" y="2377440"/>
            <a:ext cx="3657600" cy="365760"/>
          </a:xfrm>
          <a:prstGeom prst="rect">
            <a:avLst/>
          </a:prstGeom>
          <a:noFill/>
        </p:spPr>
        <p:txBody>
          <a:bodyPr wrap="square"/>
          <a:lstStyle/>
          <a:p>
            <a:pPr algn="l">
              <a:lnSpc>
                <a:spcPts val="2300"/>
              </a:lnSpc>
              <a:spcBef>
                <a:spcPts val="0"/>
              </a:spcBef>
              <a:spcAft>
                <a:spcPts val="0"/>
              </a:spcAft>
              <a:defRPr sz="2000" b="1">
                <a:solidFill>
                  <a:srgbClr val="F1F5F9"/>
                </a:solidFill>
                <a:latin typeface="Consolas"/>
              </a:defRPr>
            </a:pPr>
            <a:r>
              <a:rPr>
                <a:latin typeface="Consolas"/>
              </a:rPr>
              <a:t>185.220.101.5</a:t>
            </a:r>
          </a:p>
        </p:txBody>
      </p:sp>
      <p:sp>
        <p:nvSpPr>
          <p:cNvPr id="47" name="TextBox 46"/>
          <p:cNvSpPr txBox="1"/>
          <p:nvPr/>
        </p:nvSpPr>
        <p:spPr>
          <a:xfrm>
            <a:off x="7589520" y="2788920"/>
            <a:ext cx="22860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onsolas"/>
              </a:defRPr>
            </a:pPr>
            <a:r>
              <a:rPr>
                <a:latin typeface="Consolas"/>
              </a:rPr>
              <a:t>REPUTATION</a:t>
            </a:r>
          </a:p>
        </p:txBody>
      </p:sp>
      <p:sp>
        <p:nvSpPr>
          <p:cNvPr id="48" name="TextBox 47"/>
          <p:cNvSpPr txBox="1"/>
          <p:nvPr/>
        </p:nvSpPr>
        <p:spPr>
          <a:xfrm>
            <a:off x="7589520" y="3017520"/>
            <a:ext cx="2286000" cy="365760"/>
          </a:xfrm>
          <a:prstGeom prst="rect">
            <a:avLst/>
          </a:prstGeom>
          <a:noFill/>
        </p:spPr>
        <p:txBody>
          <a:bodyPr wrap="square"/>
          <a:lstStyle/>
          <a:p>
            <a:pPr algn="l">
              <a:lnSpc>
                <a:spcPts val="2700"/>
              </a:lnSpc>
              <a:spcBef>
                <a:spcPts val="0"/>
              </a:spcBef>
              <a:spcAft>
                <a:spcPts val="0"/>
              </a:spcAft>
              <a:defRPr sz="2400" b="1">
                <a:solidFill>
                  <a:srgbClr val="EF4444"/>
                </a:solidFill>
                <a:latin typeface="Consolas"/>
              </a:defRPr>
            </a:pPr>
            <a:r>
              <a:rPr>
                <a:latin typeface="Consolas"/>
              </a:rPr>
              <a:t>94/100</a:t>
            </a:r>
          </a:p>
        </p:txBody>
      </p:sp>
      <p:sp>
        <p:nvSpPr>
          <p:cNvPr id="49" name="TextBox 48"/>
          <p:cNvSpPr txBox="1"/>
          <p:nvPr/>
        </p:nvSpPr>
        <p:spPr>
          <a:xfrm>
            <a:off x="7589520" y="3566160"/>
            <a:ext cx="3657600" cy="182880"/>
          </a:xfrm>
          <a:prstGeom prst="rect">
            <a:avLst/>
          </a:prstGeom>
          <a:noFill/>
        </p:spPr>
        <p:txBody>
          <a:bodyPr wrap="square"/>
          <a:lstStyle/>
          <a:p>
            <a:pPr algn="l">
              <a:lnSpc>
                <a:spcPts val="900"/>
              </a:lnSpc>
              <a:spcBef>
                <a:spcPts val="0"/>
              </a:spcBef>
              <a:spcAft>
                <a:spcPts val="0"/>
              </a:spcAft>
              <a:defRPr sz="800" b="0">
                <a:solidFill>
                  <a:srgbClr val="475569"/>
                </a:solidFill>
                <a:latin typeface="Consolas"/>
              </a:defRPr>
            </a:pPr>
            <a:r>
              <a:rPr>
                <a:latin typeface="Consolas"/>
              </a:rPr>
              <a:t>GEOLOCATION</a:t>
            </a:r>
          </a:p>
        </p:txBody>
      </p:sp>
      <p:sp>
        <p:nvSpPr>
          <p:cNvPr id="50" name="TextBox 49"/>
          <p:cNvSpPr txBox="1"/>
          <p:nvPr/>
        </p:nvSpPr>
        <p:spPr>
          <a:xfrm>
            <a:off x="7589520" y="3749040"/>
            <a:ext cx="3657600" cy="36576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Frankfurt, DE</a:t>
            </a:r>
          </a:p>
        </p:txBody>
      </p:sp>
      <p:sp>
        <p:nvSpPr>
          <p:cNvPr id="51" name="TextBox 50"/>
          <p:cNvSpPr txBox="1"/>
          <p:nvPr/>
        </p:nvSpPr>
        <p:spPr>
          <a:xfrm>
            <a:off x="7589520" y="4206240"/>
            <a:ext cx="3657600" cy="182880"/>
          </a:xfrm>
          <a:prstGeom prst="rect">
            <a:avLst/>
          </a:prstGeom>
          <a:noFill/>
        </p:spPr>
        <p:txBody>
          <a:bodyPr wrap="square"/>
          <a:lstStyle/>
          <a:p>
            <a:pPr algn="l">
              <a:lnSpc>
                <a:spcPts val="900"/>
              </a:lnSpc>
              <a:spcBef>
                <a:spcPts val="0"/>
              </a:spcBef>
              <a:spcAft>
                <a:spcPts val="0"/>
              </a:spcAft>
              <a:defRPr sz="800" b="0">
                <a:solidFill>
                  <a:srgbClr val="475569"/>
                </a:solidFill>
                <a:latin typeface="Consolas"/>
              </a:defRPr>
            </a:pPr>
            <a:r>
              <a:rPr>
                <a:latin typeface="Consolas"/>
              </a:rPr>
              <a:t>AUTONOMOUS SYSTEM</a:t>
            </a:r>
          </a:p>
        </p:txBody>
      </p:sp>
      <p:sp>
        <p:nvSpPr>
          <p:cNvPr id="52" name="TextBox 51"/>
          <p:cNvSpPr txBox="1"/>
          <p:nvPr/>
        </p:nvSpPr>
        <p:spPr>
          <a:xfrm>
            <a:off x="7589520" y="4389120"/>
            <a:ext cx="3657600" cy="36576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AS49453 (Bulletproof)</a:t>
            </a:r>
          </a:p>
        </p:txBody>
      </p:sp>
      <p:sp>
        <p:nvSpPr>
          <p:cNvPr id="53" name="TextBox 52"/>
          <p:cNvSpPr txBox="1"/>
          <p:nvPr/>
        </p:nvSpPr>
        <p:spPr>
          <a:xfrm>
            <a:off x="7589520" y="4846320"/>
            <a:ext cx="3657600" cy="182880"/>
          </a:xfrm>
          <a:prstGeom prst="rect">
            <a:avLst/>
          </a:prstGeom>
          <a:noFill/>
        </p:spPr>
        <p:txBody>
          <a:bodyPr wrap="square"/>
          <a:lstStyle/>
          <a:p>
            <a:pPr algn="l">
              <a:lnSpc>
                <a:spcPts val="900"/>
              </a:lnSpc>
              <a:spcBef>
                <a:spcPts val="0"/>
              </a:spcBef>
              <a:spcAft>
                <a:spcPts val="0"/>
              </a:spcAft>
              <a:defRPr sz="800" b="0">
                <a:solidFill>
                  <a:srgbClr val="475569"/>
                </a:solidFill>
                <a:latin typeface="Consolas"/>
              </a:defRPr>
            </a:pPr>
            <a:r>
              <a:rPr>
                <a:latin typeface="Consolas"/>
              </a:rPr>
              <a:t>CROSS-CASE CORRELATION</a:t>
            </a:r>
          </a:p>
        </p:txBody>
      </p:sp>
      <p:sp>
        <p:nvSpPr>
          <p:cNvPr id="54" name="TextBox 53"/>
          <p:cNvSpPr txBox="1"/>
          <p:nvPr/>
        </p:nvSpPr>
        <p:spPr>
          <a:xfrm>
            <a:off x="7589520" y="5029200"/>
            <a:ext cx="3657600" cy="36576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Connected to 3 active fraud cases, 1 threat campaign, and 4 known financial lure templates in past 14 days.</a:t>
            </a:r>
          </a:p>
        </p:txBody>
      </p:sp>
      <p:sp>
        <p:nvSpPr>
          <p:cNvPr id="55" name="TextBox 54"/>
          <p:cNvSpPr txBox="1"/>
          <p:nvPr/>
        </p:nvSpPr>
        <p:spPr>
          <a:xfrm>
            <a:off x="7589520" y="5486400"/>
            <a:ext cx="3657600" cy="182880"/>
          </a:xfrm>
          <a:prstGeom prst="rect">
            <a:avLst/>
          </a:prstGeom>
          <a:noFill/>
        </p:spPr>
        <p:txBody>
          <a:bodyPr wrap="square"/>
          <a:lstStyle/>
          <a:p>
            <a:pPr algn="l">
              <a:lnSpc>
                <a:spcPts val="900"/>
              </a:lnSpc>
              <a:spcBef>
                <a:spcPts val="0"/>
              </a:spcBef>
              <a:spcAft>
                <a:spcPts val="0"/>
              </a:spcAft>
              <a:defRPr sz="800" b="0">
                <a:solidFill>
                  <a:srgbClr val="475569"/>
                </a:solidFill>
                <a:latin typeface="Consolas"/>
              </a:defRPr>
            </a:pPr>
            <a:r>
              <a:rPr>
                <a:latin typeface="Consolas"/>
              </a:rPr>
              <a:t>SHA-256</a:t>
            </a:r>
          </a:p>
        </p:txBody>
      </p:sp>
      <p:sp>
        <p:nvSpPr>
          <p:cNvPr id="56" name="TextBox 55"/>
          <p:cNvSpPr txBox="1"/>
          <p:nvPr/>
        </p:nvSpPr>
        <p:spPr>
          <a:xfrm>
            <a:off x="7589520" y="5669280"/>
            <a:ext cx="3657600" cy="36576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7f83b1657ff1fc53...</a:t>
            </a:r>
          </a:p>
        </p:txBody>
      </p:sp>
      <p:sp>
        <p:nvSpPr>
          <p:cNvPr id="57" name="Rounded Rectangle 56"/>
          <p:cNvSpPr/>
          <p:nvPr/>
        </p:nvSpPr>
        <p:spPr>
          <a:xfrm>
            <a:off x="7589520" y="5669280"/>
            <a:ext cx="3657600" cy="41148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589520" y="5696712"/>
            <a:ext cx="3657600" cy="365760"/>
          </a:xfrm>
          <a:prstGeom prst="rect">
            <a:avLst/>
          </a:prstGeom>
          <a:noFill/>
        </p:spPr>
        <p:txBody>
          <a:bodyPr wrap="square"/>
          <a:lstStyle/>
          <a:p>
            <a:pPr algn="ctr">
              <a:lnSpc>
                <a:spcPts val="1100"/>
              </a:lnSpc>
              <a:spcBef>
                <a:spcPts val="0"/>
              </a:spcBef>
              <a:spcAft>
                <a:spcPts val="0"/>
              </a:spcAft>
              <a:defRPr sz="1000" b="1">
                <a:solidFill>
                  <a:srgbClr val="0A0D14"/>
                </a:solidFill>
                <a:latin typeface="Calibri"/>
              </a:defRPr>
            </a:pPr>
            <a:r>
              <a:rPr>
                <a:latin typeface="Calibri"/>
              </a:rPr>
              <a:t>SEAL ARTIFACT INTO EVIDENCE VAULT</a:t>
            </a:r>
          </a:p>
        </p:txBody>
      </p:sp>
      <p:sp>
        <p:nvSpPr>
          <p:cNvPr id="59" name="TextBox 58"/>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10/19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System Architecture</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High-level forensic intelligence platform architecture</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10698480" cy="685800"/>
          </a:xfrm>
          <a:prstGeom prst="roundRect">
            <a:avLst>
              <a:gd name="adj" fmla="val 4000"/>
            </a:avLst>
          </a:prstGeom>
          <a:solidFill>
            <a:srgbClr val="10162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554480"/>
            <a:ext cx="73152" cy="68580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27632"/>
            <a:ext cx="3657600" cy="274320"/>
          </a:xfrm>
          <a:prstGeom prst="rect">
            <a:avLst/>
          </a:prstGeom>
          <a:noFill/>
        </p:spPr>
        <p:txBody>
          <a:bodyPr wrap="square"/>
          <a:lstStyle/>
          <a:p>
            <a:pPr algn="l">
              <a:lnSpc>
                <a:spcPts val="1300"/>
              </a:lnSpc>
              <a:spcBef>
                <a:spcPts val="0"/>
              </a:spcBef>
              <a:spcAft>
                <a:spcPts val="0"/>
              </a:spcAft>
              <a:defRPr sz="1200" b="1">
                <a:solidFill>
                  <a:srgbClr val="06B6D4"/>
                </a:solidFill>
                <a:latin typeface="Consolas"/>
              </a:defRPr>
            </a:pPr>
            <a:r>
              <a:rPr>
                <a:latin typeface="Consolas"/>
              </a:rPr>
              <a:t>1. EVIDENCE ACQUISITION</a:t>
            </a:r>
          </a:p>
        </p:txBody>
      </p:sp>
      <p:sp>
        <p:nvSpPr>
          <p:cNvPr id="10" name="TextBox 9"/>
          <p:cNvSpPr txBox="1"/>
          <p:nvPr/>
        </p:nvSpPr>
        <p:spPr>
          <a:xfrm>
            <a:off x="1005840" y="1901952"/>
            <a:ext cx="1024128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MIME structure | Headers | Body | URLs | Attachments | Metadata | SHA-256</a:t>
            </a:r>
          </a:p>
        </p:txBody>
      </p:sp>
      <p:sp>
        <p:nvSpPr>
          <p:cNvPr id="11" name="Rounded Rectangle 10"/>
          <p:cNvSpPr/>
          <p:nvPr/>
        </p:nvSpPr>
        <p:spPr>
          <a:xfrm>
            <a:off x="731520" y="2377440"/>
            <a:ext cx="10698480" cy="685800"/>
          </a:xfrm>
          <a:prstGeom prst="roundRect">
            <a:avLst>
              <a:gd name="adj" fmla="val 4000"/>
            </a:avLst>
          </a:prstGeom>
          <a:solidFill>
            <a:srgbClr val="10162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377440"/>
            <a:ext cx="73152" cy="685800"/>
          </a:xfrm>
          <a:prstGeom prst="roundRect">
            <a:avLst>
              <a:gd name="adj" fmla="val 4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450592"/>
            <a:ext cx="3657600" cy="274320"/>
          </a:xfrm>
          <a:prstGeom prst="rect">
            <a:avLst/>
          </a:prstGeom>
          <a:noFill/>
        </p:spPr>
        <p:txBody>
          <a:bodyPr wrap="square"/>
          <a:lstStyle/>
          <a:p>
            <a:pPr algn="l">
              <a:lnSpc>
                <a:spcPts val="1300"/>
              </a:lnSpc>
              <a:spcBef>
                <a:spcPts val="0"/>
              </a:spcBef>
              <a:spcAft>
                <a:spcPts val="0"/>
              </a:spcAft>
              <a:defRPr sz="1200" b="1">
                <a:solidFill>
                  <a:srgbClr val="3B82F6"/>
                </a:solidFill>
                <a:latin typeface="Consolas"/>
              </a:defRPr>
            </a:pPr>
            <a:r>
              <a:rPr>
                <a:latin typeface="Consolas"/>
              </a:rPr>
              <a:t>2. EVIDENCE NORMALIZATION</a:t>
            </a:r>
          </a:p>
        </p:txBody>
      </p:sp>
      <p:sp>
        <p:nvSpPr>
          <p:cNvPr id="14" name="TextBox 13"/>
          <p:cNvSpPr txBox="1"/>
          <p:nvPr/>
        </p:nvSpPr>
        <p:spPr>
          <a:xfrm>
            <a:off x="1005840" y="2724912"/>
            <a:ext cx="1024128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RFC-aware parsing | Header canonicalization | Received-hop ordering | URL/Domain normalization</a:t>
            </a:r>
          </a:p>
        </p:txBody>
      </p:sp>
      <p:sp>
        <p:nvSpPr>
          <p:cNvPr id="15" name="Rounded Rectangle 14"/>
          <p:cNvSpPr/>
          <p:nvPr/>
        </p:nvSpPr>
        <p:spPr>
          <a:xfrm>
            <a:off x="731520" y="3200400"/>
            <a:ext cx="10698480" cy="685800"/>
          </a:xfrm>
          <a:prstGeom prst="roundRect">
            <a:avLst>
              <a:gd name="adj" fmla="val 4000"/>
            </a:avLst>
          </a:prstGeom>
          <a:solidFill>
            <a:srgbClr val="10162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200400"/>
            <a:ext cx="73152" cy="68580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273552"/>
            <a:ext cx="3657600" cy="274320"/>
          </a:xfrm>
          <a:prstGeom prst="rect">
            <a:avLst/>
          </a:prstGeom>
          <a:noFill/>
        </p:spPr>
        <p:txBody>
          <a:bodyPr wrap="square"/>
          <a:lstStyle/>
          <a:p>
            <a:pPr algn="l">
              <a:lnSpc>
                <a:spcPts val="1300"/>
              </a:lnSpc>
              <a:spcBef>
                <a:spcPts val="0"/>
              </a:spcBef>
              <a:spcAft>
                <a:spcPts val="0"/>
              </a:spcAft>
              <a:defRPr sz="1200" b="1">
                <a:solidFill>
                  <a:srgbClr val="EF4444"/>
                </a:solidFill>
                <a:latin typeface="Consolas"/>
              </a:defRPr>
            </a:pPr>
            <a:r>
              <a:rPr>
                <a:latin typeface="Consolas"/>
              </a:rPr>
              <a:t>3. FORENSIC ENGINES</a:t>
            </a:r>
          </a:p>
        </p:txBody>
      </p:sp>
      <p:sp>
        <p:nvSpPr>
          <p:cNvPr id="18" name="TextBox 17"/>
          <p:cNvSpPr txBox="1"/>
          <p:nvPr/>
        </p:nvSpPr>
        <p:spPr>
          <a:xfrm>
            <a:off x="1005840" y="3547872"/>
            <a:ext cx="1024128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Identity Contradiction | Infrastructure Fingerprint | Campaign Similarity | Evidence Reliability</a:t>
            </a:r>
          </a:p>
        </p:txBody>
      </p:sp>
      <p:sp>
        <p:nvSpPr>
          <p:cNvPr id="19" name="Rounded Rectangle 18"/>
          <p:cNvSpPr/>
          <p:nvPr/>
        </p:nvSpPr>
        <p:spPr>
          <a:xfrm>
            <a:off x="731520" y="4023360"/>
            <a:ext cx="10698480" cy="685800"/>
          </a:xfrm>
          <a:prstGeom prst="roundRect">
            <a:avLst>
              <a:gd name="adj" fmla="val 4000"/>
            </a:avLst>
          </a:prstGeom>
          <a:solidFill>
            <a:srgbClr val="1016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 y="4023360"/>
            <a:ext cx="73152" cy="68580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096512"/>
            <a:ext cx="3657600" cy="274320"/>
          </a:xfrm>
          <a:prstGeom prst="rect">
            <a:avLst/>
          </a:prstGeom>
          <a:noFill/>
        </p:spPr>
        <p:txBody>
          <a:bodyPr wrap="square"/>
          <a:lstStyle/>
          <a:p>
            <a:pPr algn="l">
              <a:lnSpc>
                <a:spcPts val="1300"/>
              </a:lnSpc>
              <a:spcBef>
                <a:spcPts val="0"/>
              </a:spcBef>
              <a:spcAft>
                <a:spcPts val="0"/>
              </a:spcAft>
              <a:defRPr sz="1200" b="1">
                <a:solidFill>
                  <a:srgbClr val="F59E0B"/>
                </a:solidFill>
                <a:latin typeface="Consolas"/>
              </a:defRPr>
            </a:pPr>
            <a:r>
              <a:rPr>
                <a:latin typeface="Consolas"/>
              </a:rPr>
              <a:t>4. INTELLIGENCE + AI</a:t>
            </a:r>
          </a:p>
        </p:txBody>
      </p:sp>
      <p:sp>
        <p:nvSpPr>
          <p:cNvPr id="22" name="TextBox 21"/>
          <p:cNvSpPr txBox="1"/>
          <p:nvPr/>
        </p:nvSpPr>
        <p:spPr>
          <a:xfrm>
            <a:off x="1005840" y="4370832"/>
            <a:ext cx="1024128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Transformer NLP | XGBoost Structured ML | DNS/RDAP | IP/ASN/GeoIP | Threat Intelligence</a:t>
            </a:r>
          </a:p>
        </p:txBody>
      </p:sp>
      <p:sp>
        <p:nvSpPr>
          <p:cNvPr id="23" name="Rounded Rectangle 22"/>
          <p:cNvSpPr/>
          <p:nvPr/>
        </p:nvSpPr>
        <p:spPr>
          <a:xfrm>
            <a:off x="731520" y="4846320"/>
            <a:ext cx="10698480" cy="685800"/>
          </a:xfrm>
          <a:prstGeom prst="roundRect">
            <a:avLst>
              <a:gd name="adj" fmla="val 4000"/>
            </a:avLst>
          </a:prstGeom>
          <a:solidFill>
            <a:srgbClr val="1016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 y="4846320"/>
            <a:ext cx="73152" cy="68580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4919472"/>
            <a:ext cx="3657600" cy="274320"/>
          </a:xfrm>
          <a:prstGeom prst="rect">
            <a:avLst/>
          </a:prstGeom>
          <a:noFill/>
        </p:spPr>
        <p:txBody>
          <a:bodyPr wrap="square"/>
          <a:lstStyle/>
          <a:p>
            <a:pPr algn="l">
              <a:lnSpc>
                <a:spcPts val="1300"/>
              </a:lnSpc>
              <a:spcBef>
                <a:spcPts val="0"/>
              </a:spcBef>
              <a:spcAft>
                <a:spcPts val="0"/>
              </a:spcAft>
              <a:defRPr sz="1200" b="1">
                <a:solidFill>
                  <a:srgbClr val="10B981"/>
                </a:solidFill>
                <a:latin typeface="Consolas"/>
              </a:defRPr>
            </a:pPr>
            <a:r>
              <a:rPr>
                <a:latin typeface="Consolas"/>
              </a:rPr>
              <a:t>5. CORRELATION</a:t>
            </a:r>
          </a:p>
        </p:txBody>
      </p:sp>
      <p:sp>
        <p:nvSpPr>
          <p:cNvPr id="26" name="TextBox 25"/>
          <p:cNvSpPr txBox="1"/>
          <p:nvPr/>
        </p:nvSpPr>
        <p:spPr>
          <a:xfrm>
            <a:off x="1005840" y="5193792"/>
            <a:ext cx="1024128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Email | Domain | IP | ASN | URL | Identity | Related Emails | Campaign Discovery</a:t>
            </a:r>
          </a:p>
        </p:txBody>
      </p:sp>
      <p:sp>
        <p:nvSpPr>
          <p:cNvPr id="27" name="Rounded Rectangle 26"/>
          <p:cNvSpPr/>
          <p:nvPr/>
        </p:nvSpPr>
        <p:spPr>
          <a:xfrm>
            <a:off x="731520" y="5669280"/>
            <a:ext cx="10698480" cy="685800"/>
          </a:xfrm>
          <a:prstGeom prst="roundRect">
            <a:avLst>
              <a:gd name="adj" fmla="val 4000"/>
            </a:avLst>
          </a:prstGeom>
          <a:solidFill>
            <a:srgbClr val="101622"/>
          </a:solidFill>
          <a:ln w="12700">
            <a:solidFill>
              <a:srgbClr val="AC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 y="5669280"/>
            <a:ext cx="73152" cy="685800"/>
          </a:xfrm>
          <a:prstGeom prst="roundRect">
            <a:avLst>
              <a:gd name="adj" fmla="val 4000"/>
            </a:avLst>
          </a:prstGeom>
          <a:solidFill>
            <a:srgbClr val="AC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5840" y="5742432"/>
            <a:ext cx="3657600" cy="274320"/>
          </a:xfrm>
          <a:prstGeom prst="rect">
            <a:avLst/>
          </a:prstGeom>
          <a:noFill/>
        </p:spPr>
        <p:txBody>
          <a:bodyPr wrap="square"/>
          <a:lstStyle/>
          <a:p>
            <a:pPr algn="l">
              <a:lnSpc>
                <a:spcPts val="1300"/>
              </a:lnSpc>
              <a:spcBef>
                <a:spcPts val="0"/>
              </a:spcBef>
              <a:spcAft>
                <a:spcPts val="0"/>
              </a:spcAft>
              <a:defRPr sz="1200" b="1">
                <a:solidFill>
                  <a:srgbClr val="ACEDFF"/>
                </a:solidFill>
                <a:latin typeface="Consolas"/>
              </a:defRPr>
            </a:pPr>
            <a:r>
              <a:rPr>
                <a:latin typeface="Consolas"/>
              </a:rPr>
              <a:t>6. FORENSIC DECISION</a:t>
            </a:r>
          </a:p>
        </p:txBody>
      </p:sp>
      <p:sp>
        <p:nvSpPr>
          <p:cNvPr id="30" name="TextBox 29"/>
          <p:cNvSpPr txBox="1"/>
          <p:nvPr/>
        </p:nvSpPr>
        <p:spPr>
          <a:xfrm>
            <a:off x="1005840" y="6016752"/>
            <a:ext cx="10241280" cy="27432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Threat Class | Risk | Confidence | Evidence Contribution | Attribution Hypothesis</a:t>
            </a:r>
          </a:p>
        </p:txBody>
      </p:sp>
      <p:sp>
        <p:nvSpPr>
          <p:cNvPr id="31" name="Rounded Rectangle 30"/>
          <p:cNvSpPr/>
          <p:nvPr/>
        </p:nvSpPr>
        <p:spPr>
          <a:xfrm>
            <a:off x="9875520" y="1554480"/>
            <a:ext cx="1554480" cy="68580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75520" y="1645920"/>
            <a:ext cx="1554480" cy="182880"/>
          </a:xfrm>
          <a:prstGeom prst="rect">
            <a:avLst/>
          </a:prstGeom>
          <a:noFill/>
        </p:spPr>
        <p:txBody>
          <a:bodyPr wrap="square"/>
          <a:lstStyle/>
          <a:p>
            <a:pPr algn="ctr">
              <a:lnSpc>
                <a:spcPts val="800"/>
              </a:lnSpc>
              <a:spcBef>
                <a:spcPts val="0"/>
              </a:spcBef>
              <a:spcAft>
                <a:spcPts val="0"/>
              </a:spcAft>
              <a:defRPr sz="700" b="0">
                <a:solidFill>
                  <a:srgbClr val="475569"/>
                </a:solidFill>
                <a:latin typeface="Consolas"/>
              </a:defRPr>
            </a:pPr>
            <a:r>
              <a:rPr>
                <a:latin typeface="Consolas"/>
              </a:rPr>
              <a:t>STORAGE</a:t>
            </a:r>
          </a:p>
        </p:txBody>
      </p:sp>
      <p:sp>
        <p:nvSpPr>
          <p:cNvPr id="33" name="TextBox 32"/>
          <p:cNvSpPr txBox="1"/>
          <p:nvPr/>
        </p:nvSpPr>
        <p:spPr>
          <a:xfrm>
            <a:off x="9875520" y="1828800"/>
            <a:ext cx="1554480" cy="182880"/>
          </a:xfrm>
          <a:prstGeom prst="rect">
            <a:avLst/>
          </a:prstGeom>
          <a:noFill/>
        </p:spPr>
        <p:txBody>
          <a:bodyPr wrap="square"/>
          <a:lstStyle/>
          <a:p>
            <a:pPr algn="ctr">
              <a:lnSpc>
                <a:spcPts val="900"/>
              </a:lnSpc>
              <a:spcBef>
                <a:spcPts val="0"/>
              </a:spcBef>
              <a:spcAft>
                <a:spcPts val="0"/>
              </a:spcAft>
              <a:defRPr sz="800" b="0">
                <a:solidFill>
                  <a:srgbClr val="10B981"/>
                </a:solidFill>
                <a:latin typeface="Consolas"/>
              </a:defRPr>
            </a:pPr>
            <a:r>
              <a:rPr>
                <a:latin typeface="Consolas"/>
              </a:rPr>
              <a:t>PostgreSQL</a:t>
            </a:r>
          </a:p>
        </p:txBody>
      </p:sp>
      <p:sp>
        <p:nvSpPr>
          <p:cNvPr id="34" name="TextBox 33"/>
          <p:cNvSpPr txBox="1"/>
          <p:nvPr/>
        </p:nvSpPr>
        <p:spPr>
          <a:xfrm>
            <a:off x="9875520" y="2011680"/>
            <a:ext cx="1554480" cy="182880"/>
          </a:xfrm>
          <a:prstGeom prst="rect">
            <a:avLst/>
          </a:prstGeom>
          <a:noFill/>
        </p:spPr>
        <p:txBody>
          <a:bodyPr wrap="square"/>
          <a:lstStyle/>
          <a:p>
            <a:pPr algn="ctr">
              <a:lnSpc>
                <a:spcPts val="900"/>
              </a:lnSpc>
              <a:spcBef>
                <a:spcPts val="0"/>
              </a:spcBef>
              <a:spcAft>
                <a:spcPts val="0"/>
              </a:spcAft>
              <a:defRPr sz="800" b="0">
                <a:solidFill>
                  <a:srgbClr val="3B82F6"/>
                </a:solidFill>
                <a:latin typeface="Consolas"/>
              </a:defRPr>
            </a:pPr>
            <a:r>
              <a:rPr>
                <a:latin typeface="Consolas"/>
              </a:rPr>
              <a:t>Neo4j + MinIO</a:t>
            </a:r>
          </a:p>
        </p:txBody>
      </p:sp>
      <p:sp>
        <p:nvSpPr>
          <p:cNvPr id="35" name="Rounded Rectangle 34"/>
          <p:cNvSpPr/>
          <p:nvPr/>
        </p:nvSpPr>
        <p:spPr>
          <a:xfrm>
            <a:off x="731520" y="5669280"/>
            <a:ext cx="8961120" cy="685800"/>
          </a:xfrm>
          <a:prstGeom prst="roundRect">
            <a:avLst>
              <a:gd name="adj" fmla="val 4000"/>
            </a:avLst>
          </a:prstGeom>
          <a:solidFill>
            <a:srgbClr val="18223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400" y="5715000"/>
            <a:ext cx="8595360" cy="182880"/>
          </a:xfrm>
          <a:prstGeom prst="rect">
            <a:avLst/>
          </a:prstGeom>
          <a:noFill/>
        </p:spPr>
        <p:txBody>
          <a:bodyPr wrap="square"/>
          <a:lstStyle/>
          <a:p>
            <a:pPr algn="l">
              <a:lnSpc>
                <a:spcPts val="1100"/>
              </a:lnSpc>
              <a:spcBef>
                <a:spcPts val="0"/>
              </a:spcBef>
              <a:spcAft>
                <a:spcPts val="0"/>
              </a:spcAft>
              <a:defRPr sz="1000" b="1">
                <a:solidFill>
                  <a:srgbClr val="10B981"/>
                </a:solidFill>
                <a:latin typeface="Consolas"/>
              </a:defRPr>
            </a:pPr>
            <a:r>
              <a:rPr>
                <a:latin typeface="Consolas"/>
              </a:rPr>
              <a:t>OUTPUT: INVESTIGATION CASE</a:t>
            </a:r>
          </a:p>
        </p:txBody>
      </p:sp>
      <p:sp>
        <p:nvSpPr>
          <p:cNvPr id="37" name="TextBox 36"/>
          <p:cNvSpPr txBox="1"/>
          <p:nvPr/>
        </p:nvSpPr>
        <p:spPr>
          <a:xfrm>
            <a:off x="914400" y="5989320"/>
            <a:ext cx="8595360" cy="27432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Timeline | Graph | Map | Evidence Package | Related Campaigns | Forensic Report | Chain of Custody</a:t>
            </a:r>
          </a:p>
        </p:txBody>
      </p:sp>
      <p:sp>
        <p:nvSpPr>
          <p:cNvPr id="38" name="TextBox 37"/>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11/19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Technology Stack</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Technologies supported by project references</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2560320" cy="2286000"/>
          </a:xfrm>
          <a:prstGeom prst="roundRect">
            <a:avLst>
              <a:gd name="adj" fmla="val 4000"/>
            </a:avLst>
          </a:prstGeom>
          <a:solidFill>
            <a:srgbClr val="10162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554480"/>
            <a:ext cx="2560320" cy="36576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00200"/>
            <a:ext cx="2560320" cy="274320"/>
          </a:xfrm>
          <a:prstGeom prst="rect">
            <a:avLst/>
          </a:prstGeom>
          <a:noFill/>
        </p:spPr>
        <p:txBody>
          <a:bodyPr wrap="square"/>
          <a:lstStyle/>
          <a:p>
            <a:pPr algn="ctr">
              <a:lnSpc>
                <a:spcPts val="1100"/>
              </a:lnSpc>
              <a:spcBef>
                <a:spcPts val="0"/>
              </a:spcBef>
              <a:spcAft>
                <a:spcPts val="0"/>
              </a:spcAft>
              <a:defRPr sz="1000" b="1">
                <a:solidFill>
                  <a:srgbClr val="0A0D14"/>
                </a:solidFill>
                <a:latin typeface="Consolas"/>
              </a:defRPr>
            </a:pPr>
            <a:r>
              <a:rPr>
                <a:latin typeface="Consolas"/>
              </a:rPr>
              <a:t>LANGUAGES</a:t>
            </a:r>
          </a:p>
        </p:txBody>
      </p:sp>
      <p:sp>
        <p:nvSpPr>
          <p:cNvPr id="10" name="TextBox 9"/>
          <p:cNvSpPr txBox="1"/>
          <p:nvPr/>
        </p:nvSpPr>
        <p:spPr>
          <a:xfrm>
            <a:off x="914400" y="210312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Python</a:t>
            </a:r>
          </a:p>
        </p:txBody>
      </p:sp>
      <p:sp>
        <p:nvSpPr>
          <p:cNvPr id="11" name="TextBox 10"/>
          <p:cNvSpPr txBox="1"/>
          <p:nvPr/>
        </p:nvSpPr>
        <p:spPr>
          <a:xfrm>
            <a:off x="914400" y="251460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TypeScript</a:t>
            </a:r>
          </a:p>
        </p:txBody>
      </p:sp>
      <p:sp>
        <p:nvSpPr>
          <p:cNvPr id="12" name="TextBox 11"/>
          <p:cNvSpPr txBox="1"/>
          <p:nvPr/>
        </p:nvSpPr>
        <p:spPr>
          <a:xfrm>
            <a:off x="914400" y="292608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SQL</a:t>
            </a:r>
          </a:p>
        </p:txBody>
      </p:sp>
      <p:sp>
        <p:nvSpPr>
          <p:cNvPr id="13" name="TextBox 12"/>
          <p:cNvSpPr txBox="1"/>
          <p:nvPr/>
        </p:nvSpPr>
        <p:spPr>
          <a:xfrm>
            <a:off x="914400" y="333756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Cypher</a:t>
            </a:r>
          </a:p>
        </p:txBody>
      </p:sp>
      <p:sp>
        <p:nvSpPr>
          <p:cNvPr id="14" name="Rounded Rectangle 13"/>
          <p:cNvSpPr/>
          <p:nvPr/>
        </p:nvSpPr>
        <p:spPr>
          <a:xfrm>
            <a:off x="3566160" y="1554480"/>
            <a:ext cx="2560320" cy="2286000"/>
          </a:xfrm>
          <a:prstGeom prst="roundRect">
            <a:avLst>
              <a:gd name="adj" fmla="val 4000"/>
            </a:avLst>
          </a:prstGeom>
          <a:solidFill>
            <a:srgbClr val="10162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566160" y="1554480"/>
            <a:ext cx="2560320" cy="365760"/>
          </a:xfrm>
          <a:prstGeom prst="roundRect">
            <a:avLst>
              <a:gd name="adj" fmla="val 4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1600200"/>
            <a:ext cx="2560320" cy="274320"/>
          </a:xfrm>
          <a:prstGeom prst="rect">
            <a:avLst/>
          </a:prstGeom>
          <a:noFill/>
        </p:spPr>
        <p:txBody>
          <a:bodyPr wrap="square"/>
          <a:lstStyle/>
          <a:p>
            <a:pPr algn="ctr">
              <a:lnSpc>
                <a:spcPts val="1100"/>
              </a:lnSpc>
              <a:spcBef>
                <a:spcPts val="0"/>
              </a:spcBef>
              <a:spcAft>
                <a:spcPts val="0"/>
              </a:spcAft>
              <a:defRPr sz="1000" b="1">
                <a:solidFill>
                  <a:srgbClr val="0A0D14"/>
                </a:solidFill>
                <a:latin typeface="Consolas"/>
              </a:defRPr>
            </a:pPr>
            <a:r>
              <a:rPr>
                <a:latin typeface="Consolas"/>
              </a:rPr>
              <a:t>BACKEND</a:t>
            </a:r>
          </a:p>
        </p:txBody>
      </p:sp>
      <p:sp>
        <p:nvSpPr>
          <p:cNvPr id="17" name="TextBox 16"/>
          <p:cNvSpPr txBox="1"/>
          <p:nvPr/>
        </p:nvSpPr>
        <p:spPr>
          <a:xfrm>
            <a:off x="3749040" y="210312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FastAPI</a:t>
            </a:r>
          </a:p>
        </p:txBody>
      </p:sp>
      <p:sp>
        <p:nvSpPr>
          <p:cNvPr id="18" name="TextBox 17"/>
          <p:cNvSpPr txBox="1"/>
          <p:nvPr/>
        </p:nvSpPr>
        <p:spPr>
          <a:xfrm>
            <a:off x="3749040" y="251460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Python email/MIME</a:t>
            </a:r>
          </a:p>
        </p:txBody>
      </p:sp>
      <p:sp>
        <p:nvSpPr>
          <p:cNvPr id="19" name="TextBox 18"/>
          <p:cNvSpPr txBox="1"/>
          <p:nvPr/>
        </p:nvSpPr>
        <p:spPr>
          <a:xfrm>
            <a:off x="3749040" y="292608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RFC-aware analysis</a:t>
            </a:r>
          </a:p>
        </p:txBody>
      </p:sp>
      <p:sp>
        <p:nvSpPr>
          <p:cNvPr id="20" name="Rounded Rectangle 19"/>
          <p:cNvSpPr/>
          <p:nvPr/>
        </p:nvSpPr>
        <p:spPr>
          <a:xfrm>
            <a:off x="6400800" y="1554480"/>
            <a:ext cx="2560320" cy="2286000"/>
          </a:xfrm>
          <a:prstGeom prst="roundRect">
            <a:avLst>
              <a:gd name="adj" fmla="val 4000"/>
            </a:avLst>
          </a:prstGeom>
          <a:solidFill>
            <a:srgbClr val="1016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0" y="1554480"/>
            <a:ext cx="2560320" cy="36576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600200"/>
            <a:ext cx="2560320" cy="274320"/>
          </a:xfrm>
          <a:prstGeom prst="rect">
            <a:avLst/>
          </a:prstGeom>
          <a:noFill/>
        </p:spPr>
        <p:txBody>
          <a:bodyPr wrap="square"/>
          <a:lstStyle/>
          <a:p>
            <a:pPr algn="ctr">
              <a:lnSpc>
                <a:spcPts val="1100"/>
              </a:lnSpc>
              <a:spcBef>
                <a:spcPts val="0"/>
              </a:spcBef>
              <a:spcAft>
                <a:spcPts val="0"/>
              </a:spcAft>
              <a:defRPr sz="1000" b="1">
                <a:solidFill>
                  <a:srgbClr val="0A0D14"/>
                </a:solidFill>
                <a:latin typeface="Consolas"/>
              </a:defRPr>
            </a:pPr>
            <a:r>
              <a:rPr>
                <a:latin typeface="Consolas"/>
              </a:rPr>
              <a:t>AI / ML</a:t>
            </a:r>
          </a:p>
        </p:txBody>
      </p:sp>
      <p:sp>
        <p:nvSpPr>
          <p:cNvPr id="23" name="TextBox 22"/>
          <p:cNvSpPr txBox="1"/>
          <p:nvPr/>
        </p:nvSpPr>
        <p:spPr>
          <a:xfrm>
            <a:off x="6583680" y="210312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Transformer NLP</a:t>
            </a:r>
          </a:p>
        </p:txBody>
      </p:sp>
      <p:sp>
        <p:nvSpPr>
          <p:cNvPr id="24" name="TextBox 23"/>
          <p:cNvSpPr txBox="1"/>
          <p:nvPr/>
        </p:nvSpPr>
        <p:spPr>
          <a:xfrm>
            <a:off x="6583680" y="251460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XGBoost</a:t>
            </a:r>
          </a:p>
        </p:txBody>
      </p:sp>
      <p:sp>
        <p:nvSpPr>
          <p:cNvPr id="25" name="TextBox 24"/>
          <p:cNvSpPr txBox="1"/>
          <p:nvPr/>
        </p:nvSpPr>
        <p:spPr>
          <a:xfrm>
            <a:off x="6583680" y="292608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SHAP (Explainability)</a:t>
            </a:r>
          </a:p>
        </p:txBody>
      </p:sp>
      <p:sp>
        <p:nvSpPr>
          <p:cNvPr id="26" name="Rounded Rectangle 25"/>
          <p:cNvSpPr/>
          <p:nvPr/>
        </p:nvSpPr>
        <p:spPr>
          <a:xfrm>
            <a:off x="9235440" y="1554480"/>
            <a:ext cx="2560320" cy="2286000"/>
          </a:xfrm>
          <a:prstGeom prst="roundRect">
            <a:avLst>
              <a:gd name="adj" fmla="val 4000"/>
            </a:avLst>
          </a:prstGeom>
          <a:solidFill>
            <a:srgbClr val="1016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35440" y="1554480"/>
            <a:ext cx="2560320" cy="36576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0" y="1600200"/>
            <a:ext cx="2560320" cy="274320"/>
          </a:xfrm>
          <a:prstGeom prst="rect">
            <a:avLst/>
          </a:prstGeom>
          <a:noFill/>
        </p:spPr>
        <p:txBody>
          <a:bodyPr wrap="square"/>
          <a:lstStyle/>
          <a:p>
            <a:pPr algn="ctr">
              <a:lnSpc>
                <a:spcPts val="1100"/>
              </a:lnSpc>
              <a:spcBef>
                <a:spcPts val="0"/>
              </a:spcBef>
              <a:spcAft>
                <a:spcPts val="0"/>
              </a:spcAft>
              <a:defRPr sz="1000" b="1">
                <a:solidFill>
                  <a:srgbClr val="0A0D14"/>
                </a:solidFill>
                <a:latin typeface="Consolas"/>
              </a:defRPr>
            </a:pPr>
            <a:r>
              <a:rPr>
                <a:latin typeface="Consolas"/>
              </a:rPr>
              <a:t>DATABASE</a:t>
            </a:r>
          </a:p>
        </p:txBody>
      </p:sp>
      <p:sp>
        <p:nvSpPr>
          <p:cNvPr id="29" name="TextBox 28"/>
          <p:cNvSpPr txBox="1"/>
          <p:nvPr/>
        </p:nvSpPr>
        <p:spPr>
          <a:xfrm>
            <a:off x="9418320" y="210312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PostgreSQL</a:t>
            </a:r>
          </a:p>
        </p:txBody>
      </p:sp>
      <p:sp>
        <p:nvSpPr>
          <p:cNvPr id="30" name="TextBox 29"/>
          <p:cNvSpPr txBox="1"/>
          <p:nvPr/>
        </p:nvSpPr>
        <p:spPr>
          <a:xfrm>
            <a:off x="9418320" y="251460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Neo4j + Cypher</a:t>
            </a:r>
          </a:p>
        </p:txBody>
      </p:sp>
      <p:sp>
        <p:nvSpPr>
          <p:cNvPr id="31" name="TextBox 30"/>
          <p:cNvSpPr txBox="1"/>
          <p:nvPr/>
        </p:nvSpPr>
        <p:spPr>
          <a:xfrm>
            <a:off x="9418320" y="292608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MinIO (Object Store)</a:t>
            </a:r>
          </a:p>
        </p:txBody>
      </p:sp>
      <p:sp>
        <p:nvSpPr>
          <p:cNvPr id="32" name="Rounded Rectangle 31"/>
          <p:cNvSpPr/>
          <p:nvPr/>
        </p:nvSpPr>
        <p:spPr>
          <a:xfrm>
            <a:off x="731520" y="4114800"/>
            <a:ext cx="2560320" cy="2286000"/>
          </a:xfrm>
          <a:prstGeom prst="roundRect">
            <a:avLst>
              <a:gd name="adj" fmla="val 4000"/>
            </a:avLst>
          </a:prstGeom>
          <a:solidFill>
            <a:srgbClr val="101622"/>
          </a:solidFill>
          <a:ln w="12700">
            <a:solidFill>
              <a:srgbClr val="AC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1520" y="4114800"/>
            <a:ext cx="2560320" cy="365760"/>
          </a:xfrm>
          <a:prstGeom prst="roundRect">
            <a:avLst>
              <a:gd name="adj" fmla="val 4000"/>
            </a:avLst>
          </a:prstGeom>
          <a:solidFill>
            <a:srgbClr val="AC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4160520"/>
            <a:ext cx="2560320" cy="274320"/>
          </a:xfrm>
          <a:prstGeom prst="rect">
            <a:avLst/>
          </a:prstGeom>
          <a:noFill/>
        </p:spPr>
        <p:txBody>
          <a:bodyPr wrap="square"/>
          <a:lstStyle/>
          <a:p>
            <a:pPr algn="ctr">
              <a:lnSpc>
                <a:spcPts val="1100"/>
              </a:lnSpc>
              <a:spcBef>
                <a:spcPts val="0"/>
              </a:spcBef>
              <a:spcAft>
                <a:spcPts val="0"/>
              </a:spcAft>
              <a:defRPr sz="1000" b="1">
                <a:solidFill>
                  <a:srgbClr val="0A0D14"/>
                </a:solidFill>
                <a:latin typeface="Consolas"/>
              </a:defRPr>
            </a:pPr>
            <a:r>
              <a:rPr>
                <a:latin typeface="Consolas"/>
              </a:rPr>
              <a:t>FRONTEND</a:t>
            </a:r>
          </a:p>
        </p:txBody>
      </p:sp>
      <p:sp>
        <p:nvSpPr>
          <p:cNvPr id="35" name="TextBox 34"/>
          <p:cNvSpPr txBox="1"/>
          <p:nvPr/>
        </p:nvSpPr>
        <p:spPr>
          <a:xfrm>
            <a:off x="914400" y="466344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React + TypeScript</a:t>
            </a:r>
          </a:p>
        </p:txBody>
      </p:sp>
      <p:sp>
        <p:nvSpPr>
          <p:cNvPr id="36" name="TextBox 35"/>
          <p:cNvSpPr txBox="1"/>
          <p:nvPr/>
        </p:nvSpPr>
        <p:spPr>
          <a:xfrm>
            <a:off x="914400" y="507492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Leaflet (Maps)</a:t>
            </a:r>
          </a:p>
        </p:txBody>
      </p:sp>
      <p:sp>
        <p:nvSpPr>
          <p:cNvPr id="37" name="TextBox 36"/>
          <p:cNvSpPr txBox="1"/>
          <p:nvPr/>
        </p:nvSpPr>
        <p:spPr>
          <a:xfrm>
            <a:off x="914400" y="548640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React Flow (Graphs)</a:t>
            </a:r>
          </a:p>
        </p:txBody>
      </p:sp>
      <p:sp>
        <p:nvSpPr>
          <p:cNvPr id="38" name="Rounded Rectangle 37"/>
          <p:cNvSpPr/>
          <p:nvPr/>
        </p:nvSpPr>
        <p:spPr>
          <a:xfrm>
            <a:off x="3566160" y="4114800"/>
            <a:ext cx="2560320" cy="2286000"/>
          </a:xfrm>
          <a:prstGeom prst="roundRect">
            <a:avLst>
              <a:gd name="adj" fmla="val 4000"/>
            </a:avLst>
          </a:prstGeom>
          <a:solidFill>
            <a:srgbClr val="10162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566160" y="4114800"/>
            <a:ext cx="2560320" cy="36576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66160" y="4160520"/>
            <a:ext cx="2560320" cy="274320"/>
          </a:xfrm>
          <a:prstGeom prst="rect">
            <a:avLst/>
          </a:prstGeom>
          <a:noFill/>
        </p:spPr>
        <p:txBody>
          <a:bodyPr wrap="square"/>
          <a:lstStyle/>
          <a:p>
            <a:pPr algn="ctr">
              <a:lnSpc>
                <a:spcPts val="1100"/>
              </a:lnSpc>
              <a:spcBef>
                <a:spcPts val="0"/>
              </a:spcBef>
              <a:spcAft>
                <a:spcPts val="0"/>
              </a:spcAft>
              <a:defRPr sz="1000" b="1">
                <a:solidFill>
                  <a:srgbClr val="0A0D14"/>
                </a:solidFill>
                <a:latin typeface="Consolas"/>
              </a:defRPr>
            </a:pPr>
            <a:r>
              <a:rPr>
                <a:latin typeface="Consolas"/>
              </a:rPr>
              <a:t>INTELLIGENCE</a:t>
            </a:r>
          </a:p>
        </p:txBody>
      </p:sp>
      <p:sp>
        <p:nvSpPr>
          <p:cNvPr id="41" name="TextBox 40"/>
          <p:cNvSpPr txBox="1"/>
          <p:nvPr/>
        </p:nvSpPr>
        <p:spPr>
          <a:xfrm>
            <a:off x="3749040" y="466344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VirusTotal</a:t>
            </a:r>
          </a:p>
        </p:txBody>
      </p:sp>
      <p:sp>
        <p:nvSpPr>
          <p:cNvPr id="42" name="TextBox 41"/>
          <p:cNvSpPr txBox="1"/>
          <p:nvPr/>
        </p:nvSpPr>
        <p:spPr>
          <a:xfrm>
            <a:off x="3749040" y="507492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AbuseIPDB</a:t>
            </a:r>
          </a:p>
        </p:txBody>
      </p:sp>
      <p:sp>
        <p:nvSpPr>
          <p:cNvPr id="43" name="TextBox 42"/>
          <p:cNvSpPr txBox="1"/>
          <p:nvPr/>
        </p:nvSpPr>
        <p:spPr>
          <a:xfrm>
            <a:off x="3749040" y="548640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RDAP / DNS / GeoIP</a:t>
            </a:r>
          </a:p>
        </p:txBody>
      </p:sp>
      <p:sp>
        <p:nvSpPr>
          <p:cNvPr id="44" name="Rounded Rectangle 43"/>
          <p:cNvSpPr/>
          <p:nvPr/>
        </p:nvSpPr>
        <p:spPr>
          <a:xfrm>
            <a:off x="6400800" y="4114800"/>
            <a:ext cx="2560320" cy="2286000"/>
          </a:xfrm>
          <a:prstGeom prst="roundRect">
            <a:avLst>
              <a:gd name="adj" fmla="val 4000"/>
            </a:avLst>
          </a:prstGeom>
          <a:solidFill>
            <a:srgbClr val="101622"/>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6400800" y="4114800"/>
            <a:ext cx="2560320" cy="365760"/>
          </a:xfrm>
          <a:prstGeom prst="roundRect">
            <a:avLst>
              <a:gd name="adj" fmla="val 4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0" y="4160520"/>
            <a:ext cx="2560320" cy="274320"/>
          </a:xfrm>
          <a:prstGeom prst="rect">
            <a:avLst/>
          </a:prstGeom>
          <a:noFill/>
        </p:spPr>
        <p:txBody>
          <a:bodyPr wrap="square"/>
          <a:lstStyle/>
          <a:p>
            <a:pPr algn="ctr">
              <a:lnSpc>
                <a:spcPts val="1100"/>
              </a:lnSpc>
              <a:spcBef>
                <a:spcPts val="0"/>
              </a:spcBef>
              <a:spcAft>
                <a:spcPts val="0"/>
              </a:spcAft>
              <a:defRPr sz="1000" b="1">
                <a:solidFill>
                  <a:srgbClr val="0A0D14"/>
                </a:solidFill>
                <a:latin typeface="Consolas"/>
              </a:defRPr>
            </a:pPr>
            <a:r>
              <a:rPr>
                <a:latin typeface="Consolas"/>
              </a:rPr>
              <a:t>REPORTING</a:t>
            </a:r>
          </a:p>
        </p:txBody>
      </p:sp>
      <p:sp>
        <p:nvSpPr>
          <p:cNvPr id="47" name="TextBox 46"/>
          <p:cNvSpPr txBox="1"/>
          <p:nvPr/>
        </p:nvSpPr>
        <p:spPr>
          <a:xfrm>
            <a:off x="6583680" y="466344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ReportLab (PDF)</a:t>
            </a:r>
          </a:p>
        </p:txBody>
      </p:sp>
      <p:sp>
        <p:nvSpPr>
          <p:cNvPr id="48" name="TextBox 47"/>
          <p:cNvSpPr txBox="1"/>
          <p:nvPr/>
        </p:nvSpPr>
        <p:spPr>
          <a:xfrm>
            <a:off x="6583680" y="507492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SHA-256 Integrity</a:t>
            </a:r>
          </a:p>
        </p:txBody>
      </p:sp>
      <p:sp>
        <p:nvSpPr>
          <p:cNvPr id="49" name="TextBox 48"/>
          <p:cNvSpPr txBox="1"/>
          <p:nvPr/>
        </p:nvSpPr>
        <p:spPr>
          <a:xfrm>
            <a:off x="6583680" y="548640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Chain of Custody</a:t>
            </a:r>
          </a:p>
        </p:txBody>
      </p:sp>
      <p:sp>
        <p:nvSpPr>
          <p:cNvPr id="50" name="Rounded Rectangle 49"/>
          <p:cNvSpPr/>
          <p:nvPr/>
        </p:nvSpPr>
        <p:spPr>
          <a:xfrm>
            <a:off x="9235440" y="4114800"/>
            <a:ext cx="2560320" cy="2286000"/>
          </a:xfrm>
          <a:prstGeom prst="roundRect">
            <a:avLst>
              <a:gd name="adj" fmla="val 4000"/>
            </a:avLst>
          </a:prstGeom>
          <a:solidFill>
            <a:srgbClr val="101622"/>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235440" y="4114800"/>
            <a:ext cx="2560320" cy="365760"/>
          </a:xfrm>
          <a:prstGeom prst="roundRect">
            <a:avLst>
              <a:gd name="adj" fmla="val 4000"/>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35440" y="4160520"/>
            <a:ext cx="2560320" cy="274320"/>
          </a:xfrm>
          <a:prstGeom prst="rect">
            <a:avLst/>
          </a:prstGeom>
          <a:noFill/>
        </p:spPr>
        <p:txBody>
          <a:bodyPr wrap="square"/>
          <a:lstStyle/>
          <a:p>
            <a:pPr algn="ctr">
              <a:lnSpc>
                <a:spcPts val="1100"/>
              </a:lnSpc>
              <a:spcBef>
                <a:spcPts val="0"/>
              </a:spcBef>
              <a:spcAft>
                <a:spcPts val="0"/>
              </a:spcAft>
              <a:defRPr sz="1000" b="1">
                <a:solidFill>
                  <a:srgbClr val="0A0D14"/>
                </a:solidFill>
                <a:latin typeface="Consolas"/>
              </a:defRPr>
            </a:pPr>
            <a:r>
              <a:rPr>
                <a:latin typeface="Consolas"/>
              </a:rPr>
              <a:t>DEPLOYMENT</a:t>
            </a:r>
          </a:p>
        </p:txBody>
      </p:sp>
      <p:sp>
        <p:nvSpPr>
          <p:cNvPr id="53" name="TextBox 52"/>
          <p:cNvSpPr txBox="1"/>
          <p:nvPr/>
        </p:nvSpPr>
        <p:spPr>
          <a:xfrm>
            <a:off x="9418320" y="466344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Docker Compose</a:t>
            </a:r>
          </a:p>
        </p:txBody>
      </p:sp>
      <p:sp>
        <p:nvSpPr>
          <p:cNvPr id="54" name="TextBox 53"/>
          <p:cNvSpPr txBox="1"/>
          <p:nvPr/>
        </p:nvSpPr>
        <p:spPr>
          <a:xfrm>
            <a:off x="9418320" y="507492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Containerized Services</a:t>
            </a:r>
          </a:p>
        </p:txBody>
      </p:sp>
      <p:sp>
        <p:nvSpPr>
          <p:cNvPr id="55" name="TextBox 54"/>
          <p:cNvSpPr txBox="1"/>
          <p:nvPr/>
        </p:nvSpPr>
        <p:spPr>
          <a:xfrm>
            <a:off x="9418320" y="5486400"/>
            <a:ext cx="2194560" cy="320040"/>
          </a:xfrm>
          <a:prstGeom prst="rect">
            <a:avLst/>
          </a:prstGeom>
          <a:noFill/>
        </p:spPr>
        <p:txBody>
          <a:bodyPr wrap="square"/>
          <a:lstStyle/>
          <a:p>
            <a:pPr algn="l">
              <a:lnSpc>
                <a:spcPts val="1300"/>
              </a:lnSpc>
              <a:spcBef>
                <a:spcPts val="0"/>
              </a:spcBef>
              <a:spcAft>
                <a:spcPts val="0"/>
              </a:spcAft>
              <a:defRPr sz="1200" b="0">
                <a:solidFill>
                  <a:srgbClr val="F1F5F9"/>
                </a:solidFill>
                <a:latin typeface="Calibri"/>
              </a:defRPr>
            </a:pPr>
            <a:r>
              <a:rPr>
                <a:latin typeface="Calibri"/>
              </a:rPr>
              <a:t>▸  Modular Architecture</a:t>
            </a:r>
          </a:p>
        </p:txBody>
      </p:sp>
      <p:sp>
        <p:nvSpPr>
          <p:cNvPr id="56" name="TextBox 55"/>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12/19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Graph Data Model</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Neo4j entity-relationship model for forensic correlation</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5029200" cy="46634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663440" cy="274320"/>
          </a:xfrm>
          <a:prstGeom prst="rect">
            <a:avLst/>
          </a:prstGeom>
          <a:noFill/>
        </p:spPr>
        <p:txBody>
          <a:bodyPr wrap="square"/>
          <a:lstStyle/>
          <a:p>
            <a:pPr algn="l">
              <a:lnSpc>
                <a:spcPts val="1100"/>
              </a:lnSpc>
              <a:spcBef>
                <a:spcPts val="0"/>
              </a:spcBef>
              <a:spcAft>
                <a:spcPts val="0"/>
              </a:spcAft>
              <a:defRPr sz="1000" b="1">
                <a:solidFill>
                  <a:srgbClr val="3B82F6"/>
                </a:solidFill>
                <a:latin typeface="Consolas"/>
              </a:defRPr>
            </a:pPr>
            <a:r>
              <a:rPr>
                <a:latin typeface="Consolas"/>
              </a:rPr>
              <a:t>GRAPH ENTITIES</a:t>
            </a:r>
          </a:p>
        </p:txBody>
      </p:sp>
      <p:sp>
        <p:nvSpPr>
          <p:cNvPr id="9" name="Rounded Rectangle 8"/>
          <p:cNvSpPr/>
          <p:nvPr/>
        </p:nvSpPr>
        <p:spPr>
          <a:xfrm>
            <a:off x="914400" y="2103120"/>
            <a:ext cx="1645920" cy="292608"/>
          </a:xfrm>
          <a:prstGeom prst="roundRect">
            <a:avLst>
              <a:gd name="adj" fmla="val 4000"/>
            </a:avLst>
          </a:prstGeom>
          <a:solidFill>
            <a:srgbClr val="182234"/>
          </a:solidFill>
          <a:ln w="9525">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30552"/>
            <a:ext cx="1645920" cy="228600"/>
          </a:xfrm>
          <a:prstGeom prst="rect">
            <a:avLst/>
          </a:prstGeom>
          <a:noFill/>
        </p:spPr>
        <p:txBody>
          <a:bodyPr wrap="square"/>
          <a:lstStyle/>
          <a:p>
            <a:pPr algn="ctr">
              <a:lnSpc>
                <a:spcPts val="1000"/>
              </a:lnSpc>
              <a:spcBef>
                <a:spcPts val="0"/>
              </a:spcBef>
              <a:spcAft>
                <a:spcPts val="0"/>
              </a:spcAft>
              <a:defRPr sz="900" b="1">
                <a:solidFill>
                  <a:srgbClr val="06B6D4"/>
                </a:solidFill>
                <a:latin typeface="Consolas"/>
              </a:defRPr>
            </a:pPr>
            <a:r>
              <a:rPr>
                <a:latin typeface="Consolas"/>
              </a:rPr>
              <a:t>EMAIL</a:t>
            </a:r>
          </a:p>
        </p:txBody>
      </p:sp>
      <p:sp>
        <p:nvSpPr>
          <p:cNvPr id="11" name="Rounded Rectangle 10"/>
          <p:cNvSpPr/>
          <p:nvPr/>
        </p:nvSpPr>
        <p:spPr>
          <a:xfrm>
            <a:off x="914400" y="2468879"/>
            <a:ext cx="1645920" cy="292608"/>
          </a:xfrm>
          <a:prstGeom prst="roundRect">
            <a:avLst>
              <a:gd name="adj" fmla="val 4000"/>
            </a:avLst>
          </a:prstGeom>
          <a:solidFill>
            <a:srgbClr val="182234"/>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496311"/>
            <a:ext cx="1645920" cy="228600"/>
          </a:xfrm>
          <a:prstGeom prst="rect">
            <a:avLst/>
          </a:prstGeom>
          <a:noFill/>
        </p:spPr>
        <p:txBody>
          <a:bodyPr wrap="square"/>
          <a:lstStyle/>
          <a:p>
            <a:pPr algn="ctr">
              <a:lnSpc>
                <a:spcPts val="1000"/>
              </a:lnSpc>
              <a:spcBef>
                <a:spcPts val="0"/>
              </a:spcBef>
              <a:spcAft>
                <a:spcPts val="0"/>
              </a:spcAft>
              <a:defRPr sz="900" b="1">
                <a:solidFill>
                  <a:srgbClr val="10B981"/>
                </a:solidFill>
                <a:latin typeface="Consolas"/>
              </a:defRPr>
            </a:pPr>
            <a:r>
              <a:rPr>
                <a:latin typeface="Consolas"/>
              </a:rPr>
              <a:t>PERSON / IDENTITY</a:t>
            </a:r>
          </a:p>
        </p:txBody>
      </p:sp>
      <p:sp>
        <p:nvSpPr>
          <p:cNvPr id="13" name="Rounded Rectangle 12"/>
          <p:cNvSpPr/>
          <p:nvPr/>
        </p:nvSpPr>
        <p:spPr>
          <a:xfrm>
            <a:off x="914400" y="2834639"/>
            <a:ext cx="1645920" cy="292608"/>
          </a:xfrm>
          <a:prstGeom prst="roundRect">
            <a:avLst>
              <a:gd name="adj" fmla="val 4000"/>
            </a:avLst>
          </a:prstGeom>
          <a:solidFill>
            <a:srgbClr val="182234"/>
          </a:solidFill>
          <a:ln w="9525">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62071"/>
            <a:ext cx="1645920" cy="228600"/>
          </a:xfrm>
          <a:prstGeom prst="rect">
            <a:avLst/>
          </a:prstGeom>
          <a:noFill/>
        </p:spPr>
        <p:txBody>
          <a:bodyPr wrap="square"/>
          <a:lstStyle/>
          <a:p>
            <a:pPr algn="ctr">
              <a:lnSpc>
                <a:spcPts val="1000"/>
              </a:lnSpc>
              <a:spcBef>
                <a:spcPts val="0"/>
              </a:spcBef>
              <a:spcAft>
                <a:spcPts val="0"/>
              </a:spcAft>
              <a:defRPr sz="900" b="1">
                <a:solidFill>
                  <a:srgbClr val="3B82F6"/>
                </a:solidFill>
                <a:latin typeface="Consolas"/>
              </a:defRPr>
            </a:pPr>
            <a:r>
              <a:rPr>
                <a:latin typeface="Consolas"/>
              </a:rPr>
              <a:t>DOMAIN</a:t>
            </a:r>
          </a:p>
        </p:txBody>
      </p:sp>
      <p:sp>
        <p:nvSpPr>
          <p:cNvPr id="15" name="Rounded Rectangle 14"/>
          <p:cNvSpPr/>
          <p:nvPr/>
        </p:nvSpPr>
        <p:spPr>
          <a:xfrm>
            <a:off x="914400" y="3200400"/>
            <a:ext cx="1645920" cy="292608"/>
          </a:xfrm>
          <a:prstGeom prst="roundRect">
            <a:avLst>
              <a:gd name="adj" fmla="val 4000"/>
            </a:avLst>
          </a:prstGeom>
          <a:solidFill>
            <a:srgbClr val="182234"/>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27832"/>
            <a:ext cx="1645920" cy="228600"/>
          </a:xfrm>
          <a:prstGeom prst="rect">
            <a:avLst/>
          </a:prstGeom>
          <a:noFill/>
        </p:spPr>
        <p:txBody>
          <a:bodyPr wrap="square"/>
          <a:lstStyle/>
          <a:p>
            <a:pPr algn="ctr">
              <a:lnSpc>
                <a:spcPts val="1000"/>
              </a:lnSpc>
              <a:spcBef>
                <a:spcPts val="0"/>
              </a:spcBef>
              <a:spcAft>
                <a:spcPts val="0"/>
              </a:spcAft>
              <a:defRPr sz="900" b="1">
                <a:solidFill>
                  <a:srgbClr val="EF4444"/>
                </a:solidFill>
                <a:latin typeface="Consolas"/>
              </a:defRPr>
            </a:pPr>
            <a:r>
              <a:rPr>
                <a:latin typeface="Consolas"/>
              </a:rPr>
              <a:t>IP</a:t>
            </a:r>
          </a:p>
        </p:txBody>
      </p:sp>
      <p:sp>
        <p:nvSpPr>
          <p:cNvPr id="17" name="Rounded Rectangle 16"/>
          <p:cNvSpPr/>
          <p:nvPr/>
        </p:nvSpPr>
        <p:spPr>
          <a:xfrm>
            <a:off x="914400" y="3566160"/>
            <a:ext cx="1645920" cy="292608"/>
          </a:xfrm>
          <a:prstGeom prst="roundRect">
            <a:avLst>
              <a:gd name="adj" fmla="val 4000"/>
            </a:avLst>
          </a:prstGeom>
          <a:solidFill>
            <a:srgbClr val="182234"/>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593592"/>
            <a:ext cx="1645920" cy="228600"/>
          </a:xfrm>
          <a:prstGeom prst="rect">
            <a:avLst/>
          </a:prstGeom>
          <a:noFill/>
        </p:spPr>
        <p:txBody>
          <a:bodyPr wrap="square"/>
          <a:lstStyle/>
          <a:p>
            <a:pPr algn="ctr">
              <a:lnSpc>
                <a:spcPts val="1000"/>
              </a:lnSpc>
              <a:spcBef>
                <a:spcPts val="0"/>
              </a:spcBef>
              <a:spcAft>
                <a:spcPts val="0"/>
              </a:spcAft>
              <a:defRPr sz="900" b="1">
                <a:solidFill>
                  <a:srgbClr val="F59E0B"/>
                </a:solidFill>
                <a:latin typeface="Consolas"/>
              </a:defRPr>
            </a:pPr>
            <a:r>
              <a:rPr>
                <a:latin typeface="Consolas"/>
              </a:rPr>
              <a:t>URL</a:t>
            </a:r>
          </a:p>
        </p:txBody>
      </p:sp>
      <p:sp>
        <p:nvSpPr>
          <p:cNvPr id="19" name="Rounded Rectangle 18"/>
          <p:cNvSpPr/>
          <p:nvPr/>
        </p:nvSpPr>
        <p:spPr>
          <a:xfrm>
            <a:off x="914400" y="3931920"/>
            <a:ext cx="1645920" cy="292608"/>
          </a:xfrm>
          <a:prstGeom prst="roundRect">
            <a:avLst>
              <a:gd name="adj" fmla="val 4000"/>
            </a:avLst>
          </a:prstGeom>
          <a:solidFill>
            <a:srgbClr val="182234"/>
          </a:solidFill>
          <a:ln w="9525">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59352"/>
            <a:ext cx="1645920" cy="228600"/>
          </a:xfrm>
          <a:prstGeom prst="rect">
            <a:avLst/>
          </a:prstGeom>
          <a:noFill/>
        </p:spPr>
        <p:txBody>
          <a:bodyPr wrap="square"/>
          <a:lstStyle/>
          <a:p>
            <a:pPr algn="ctr">
              <a:lnSpc>
                <a:spcPts val="1000"/>
              </a:lnSpc>
              <a:spcBef>
                <a:spcPts val="0"/>
              </a:spcBef>
              <a:spcAft>
                <a:spcPts val="0"/>
              </a:spcAft>
              <a:defRPr sz="900" b="1">
                <a:solidFill>
                  <a:srgbClr val="F1F5F9"/>
                </a:solidFill>
                <a:latin typeface="Consolas"/>
              </a:defRPr>
            </a:pPr>
            <a:r>
              <a:rPr>
                <a:latin typeface="Consolas"/>
              </a:rPr>
              <a:t>ASN</a:t>
            </a:r>
          </a:p>
        </p:txBody>
      </p:sp>
      <p:sp>
        <p:nvSpPr>
          <p:cNvPr id="21" name="Rounded Rectangle 20"/>
          <p:cNvSpPr/>
          <p:nvPr/>
        </p:nvSpPr>
        <p:spPr>
          <a:xfrm>
            <a:off x="914400" y="4297680"/>
            <a:ext cx="1645920" cy="292608"/>
          </a:xfrm>
          <a:prstGeom prst="roundRect">
            <a:avLst>
              <a:gd name="adj" fmla="val 4000"/>
            </a:avLst>
          </a:prstGeom>
          <a:solidFill>
            <a:srgbClr val="182234"/>
          </a:solidFill>
          <a:ln w="9525">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325112"/>
            <a:ext cx="1645920" cy="228600"/>
          </a:xfrm>
          <a:prstGeom prst="rect">
            <a:avLst/>
          </a:prstGeom>
          <a:noFill/>
        </p:spPr>
        <p:txBody>
          <a:bodyPr wrap="square"/>
          <a:lstStyle/>
          <a:p>
            <a:pPr algn="ctr">
              <a:lnSpc>
                <a:spcPts val="1000"/>
              </a:lnSpc>
              <a:spcBef>
                <a:spcPts val="0"/>
              </a:spcBef>
              <a:spcAft>
                <a:spcPts val="0"/>
              </a:spcAft>
              <a:defRPr sz="900" b="1">
                <a:solidFill>
                  <a:srgbClr val="94A3B8"/>
                </a:solidFill>
                <a:latin typeface="Consolas"/>
              </a:defRPr>
            </a:pPr>
            <a:r>
              <a:rPr>
                <a:latin typeface="Consolas"/>
              </a:rPr>
              <a:t>ORGANIZATION</a:t>
            </a:r>
          </a:p>
        </p:txBody>
      </p:sp>
      <p:sp>
        <p:nvSpPr>
          <p:cNvPr id="23" name="Rounded Rectangle 22"/>
          <p:cNvSpPr/>
          <p:nvPr/>
        </p:nvSpPr>
        <p:spPr>
          <a:xfrm>
            <a:off x="914400" y="4663440"/>
            <a:ext cx="1645920" cy="292608"/>
          </a:xfrm>
          <a:prstGeom prst="roundRect">
            <a:avLst>
              <a:gd name="adj" fmla="val 4000"/>
            </a:avLst>
          </a:prstGeom>
          <a:solidFill>
            <a:srgbClr val="182234"/>
          </a:solidFill>
          <a:ln w="9525">
            <a:solidFill>
              <a:srgbClr val="AC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4690872"/>
            <a:ext cx="1645920" cy="228600"/>
          </a:xfrm>
          <a:prstGeom prst="rect">
            <a:avLst/>
          </a:prstGeom>
          <a:noFill/>
        </p:spPr>
        <p:txBody>
          <a:bodyPr wrap="square"/>
          <a:lstStyle/>
          <a:p>
            <a:pPr algn="ctr">
              <a:lnSpc>
                <a:spcPts val="1000"/>
              </a:lnSpc>
              <a:spcBef>
                <a:spcPts val="0"/>
              </a:spcBef>
              <a:spcAft>
                <a:spcPts val="0"/>
              </a:spcAft>
              <a:defRPr sz="900" b="1">
                <a:solidFill>
                  <a:srgbClr val="ACEDFF"/>
                </a:solidFill>
                <a:latin typeface="Consolas"/>
              </a:defRPr>
            </a:pPr>
            <a:r>
              <a:rPr>
                <a:latin typeface="Consolas"/>
              </a:rPr>
              <a:t>CAMPAIGN</a:t>
            </a:r>
          </a:p>
        </p:txBody>
      </p:sp>
      <p:sp>
        <p:nvSpPr>
          <p:cNvPr id="25" name="Rounded Rectangle 24"/>
          <p:cNvSpPr/>
          <p:nvPr/>
        </p:nvSpPr>
        <p:spPr>
          <a:xfrm>
            <a:off x="914400" y="5029200"/>
            <a:ext cx="1645920" cy="292608"/>
          </a:xfrm>
          <a:prstGeom prst="roundRect">
            <a:avLst>
              <a:gd name="adj" fmla="val 4000"/>
            </a:avLst>
          </a:prstGeom>
          <a:solidFill>
            <a:srgbClr val="182234"/>
          </a:solidFill>
          <a:ln w="9525">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056632"/>
            <a:ext cx="1645920" cy="228600"/>
          </a:xfrm>
          <a:prstGeom prst="rect">
            <a:avLst/>
          </a:prstGeom>
          <a:noFill/>
        </p:spPr>
        <p:txBody>
          <a:bodyPr wrap="square"/>
          <a:lstStyle/>
          <a:p>
            <a:pPr algn="ctr">
              <a:lnSpc>
                <a:spcPts val="1000"/>
              </a:lnSpc>
              <a:spcBef>
                <a:spcPts val="0"/>
              </a:spcBef>
              <a:spcAft>
                <a:spcPts val="0"/>
              </a:spcAft>
              <a:defRPr sz="900" b="1">
                <a:solidFill>
                  <a:srgbClr val="10B981"/>
                </a:solidFill>
                <a:latin typeface="Consolas"/>
              </a:defRPr>
            </a:pPr>
            <a:r>
              <a:rPr>
                <a:latin typeface="Consolas"/>
              </a:rPr>
              <a:t>CASE</a:t>
            </a:r>
          </a:p>
        </p:txBody>
      </p:sp>
      <p:sp>
        <p:nvSpPr>
          <p:cNvPr id="27" name="Rounded Rectangle 26"/>
          <p:cNvSpPr/>
          <p:nvPr/>
        </p:nvSpPr>
        <p:spPr>
          <a:xfrm>
            <a:off x="914400" y="5394960"/>
            <a:ext cx="1645920" cy="292608"/>
          </a:xfrm>
          <a:prstGeom prst="roundRect">
            <a:avLst>
              <a:gd name="adj" fmla="val 4000"/>
            </a:avLst>
          </a:prstGeom>
          <a:solidFill>
            <a:srgbClr val="182234"/>
          </a:solidFill>
          <a:ln w="9525">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422392"/>
            <a:ext cx="1645920" cy="228600"/>
          </a:xfrm>
          <a:prstGeom prst="rect">
            <a:avLst/>
          </a:prstGeom>
          <a:noFill/>
        </p:spPr>
        <p:txBody>
          <a:bodyPr wrap="square"/>
          <a:lstStyle/>
          <a:p>
            <a:pPr algn="ctr">
              <a:lnSpc>
                <a:spcPts val="1000"/>
              </a:lnSpc>
              <a:spcBef>
                <a:spcPts val="0"/>
              </a:spcBef>
              <a:spcAft>
                <a:spcPts val="0"/>
              </a:spcAft>
              <a:defRPr sz="900" b="1">
                <a:solidFill>
                  <a:srgbClr val="475569"/>
                </a:solidFill>
                <a:latin typeface="Consolas"/>
              </a:defRPr>
            </a:pPr>
            <a:r>
              <a:rPr>
                <a:latin typeface="Consolas"/>
              </a:rPr>
              <a:t>ATTACHMENT</a:t>
            </a:r>
          </a:p>
        </p:txBody>
      </p:sp>
      <p:sp>
        <p:nvSpPr>
          <p:cNvPr id="29" name="Rounded Rectangle 28"/>
          <p:cNvSpPr/>
          <p:nvPr/>
        </p:nvSpPr>
        <p:spPr>
          <a:xfrm>
            <a:off x="914400" y="5760720"/>
            <a:ext cx="1645920" cy="292608"/>
          </a:xfrm>
          <a:prstGeom prst="roundRect">
            <a:avLst>
              <a:gd name="adj" fmla="val 4000"/>
            </a:avLst>
          </a:prstGeom>
          <a:solidFill>
            <a:srgbClr val="182234"/>
          </a:solidFill>
          <a:ln w="9525">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788152"/>
            <a:ext cx="1645920" cy="228600"/>
          </a:xfrm>
          <a:prstGeom prst="rect">
            <a:avLst/>
          </a:prstGeom>
          <a:noFill/>
        </p:spPr>
        <p:txBody>
          <a:bodyPr wrap="square"/>
          <a:lstStyle/>
          <a:p>
            <a:pPr algn="ctr">
              <a:lnSpc>
                <a:spcPts val="1000"/>
              </a:lnSpc>
              <a:spcBef>
                <a:spcPts val="0"/>
              </a:spcBef>
              <a:spcAft>
                <a:spcPts val="0"/>
              </a:spcAft>
              <a:defRPr sz="900" b="1">
                <a:solidFill>
                  <a:srgbClr val="EF4444"/>
                </a:solidFill>
                <a:latin typeface="Consolas"/>
              </a:defRPr>
            </a:pPr>
            <a:r>
              <a:rPr>
                <a:latin typeface="Consolas"/>
              </a:rPr>
              <a:t>INCIDENT</a:t>
            </a:r>
          </a:p>
        </p:txBody>
      </p:sp>
      <p:sp>
        <p:nvSpPr>
          <p:cNvPr id="31" name="Rounded Rectangle 30"/>
          <p:cNvSpPr/>
          <p:nvPr/>
        </p:nvSpPr>
        <p:spPr>
          <a:xfrm>
            <a:off x="6035040" y="1554480"/>
            <a:ext cx="5394960" cy="46634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1691640"/>
            <a:ext cx="5029200" cy="274320"/>
          </a:xfrm>
          <a:prstGeom prst="rect">
            <a:avLst/>
          </a:prstGeom>
          <a:noFill/>
        </p:spPr>
        <p:txBody>
          <a:bodyPr wrap="square"/>
          <a:lstStyle/>
          <a:p>
            <a:pPr algn="l">
              <a:lnSpc>
                <a:spcPts val="1100"/>
              </a:lnSpc>
              <a:spcBef>
                <a:spcPts val="0"/>
              </a:spcBef>
              <a:spcAft>
                <a:spcPts val="0"/>
              </a:spcAft>
              <a:defRPr sz="1000" b="1">
                <a:solidFill>
                  <a:srgbClr val="10B981"/>
                </a:solidFill>
                <a:latin typeface="Consolas"/>
              </a:defRPr>
            </a:pPr>
            <a:r>
              <a:rPr>
                <a:latin typeface="Consolas"/>
              </a:rPr>
              <a:t>KEY RELATIONSHIPS</a:t>
            </a:r>
          </a:p>
        </p:txBody>
      </p:sp>
      <p:sp>
        <p:nvSpPr>
          <p:cNvPr id="33" name="TextBox 32"/>
          <p:cNvSpPr txBox="1"/>
          <p:nvPr/>
        </p:nvSpPr>
        <p:spPr>
          <a:xfrm>
            <a:off x="6217920" y="210312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EMAIL  →  SENT_BY  →  IDENTITY</a:t>
            </a:r>
          </a:p>
        </p:txBody>
      </p:sp>
      <p:sp>
        <p:nvSpPr>
          <p:cNvPr id="34" name="TextBox 33"/>
          <p:cNvSpPr txBox="1"/>
          <p:nvPr/>
        </p:nvSpPr>
        <p:spPr>
          <a:xfrm>
            <a:off x="6217920" y="2468879"/>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EMAIL  →  USES  →  DOMAIN</a:t>
            </a:r>
          </a:p>
        </p:txBody>
      </p:sp>
      <p:sp>
        <p:nvSpPr>
          <p:cNvPr id="35" name="TextBox 34"/>
          <p:cNvSpPr txBox="1"/>
          <p:nvPr/>
        </p:nvSpPr>
        <p:spPr>
          <a:xfrm>
            <a:off x="6217920" y="2834639"/>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EMAIL  →  CONTAINS  →  URL</a:t>
            </a:r>
          </a:p>
        </p:txBody>
      </p:sp>
      <p:sp>
        <p:nvSpPr>
          <p:cNvPr id="36" name="TextBox 35"/>
          <p:cNvSpPr txBox="1"/>
          <p:nvPr/>
        </p:nvSpPr>
        <p:spPr>
          <a:xfrm>
            <a:off x="6217920" y="320040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EMAIL  →  ORIGINATED_FROM  →  IP</a:t>
            </a:r>
          </a:p>
        </p:txBody>
      </p:sp>
      <p:sp>
        <p:nvSpPr>
          <p:cNvPr id="37" name="TextBox 36"/>
          <p:cNvSpPr txBox="1"/>
          <p:nvPr/>
        </p:nvSpPr>
        <p:spPr>
          <a:xfrm>
            <a:off x="6217920" y="356616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IP  →  BELONGS_TO  →  ASN</a:t>
            </a:r>
          </a:p>
        </p:txBody>
      </p:sp>
      <p:sp>
        <p:nvSpPr>
          <p:cNvPr id="38" name="TextBox 37"/>
          <p:cNvSpPr txBox="1"/>
          <p:nvPr/>
        </p:nvSpPr>
        <p:spPr>
          <a:xfrm>
            <a:off x="6217920" y="393192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DOMAIN  →  RESOLVES_TO  →  IP</a:t>
            </a:r>
          </a:p>
        </p:txBody>
      </p:sp>
      <p:sp>
        <p:nvSpPr>
          <p:cNvPr id="39" name="TextBox 38"/>
          <p:cNvSpPr txBox="1"/>
          <p:nvPr/>
        </p:nvSpPr>
        <p:spPr>
          <a:xfrm>
            <a:off x="6217920" y="429768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EMAIL  →  PART_OF  →  CAMPAIGN</a:t>
            </a:r>
          </a:p>
        </p:txBody>
      </p:sp>
      <p:sp>
        <p:nvSpPr>
          <p:cNvPr id="40" name="TextBox 39"/>
          <p:cNvSpPr txBox="1"/>
          <p:nvPr/>
        </p:nvSpPr>
        <p:spPr>
          <a:xfrm>
            <a:off x="6217920" y="466344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EMAIL  →  RELATED_TO  →  EMAIL</a:t>
            </a:r>
          </a:p>
        </p:txBody>
      </p:sp>
      <p:sp>
        <p:nvSpPr>
          <p:cNvPr id="41" name="TextBox 40"/>
          <p:cNvSpPr txBox="1"/>
          <p:nvPr/>
        </p:nvSpPr>
        <p:spPr>
          <a:xfrm>
            <a:off x="6217920" y="502920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DOMAIN  →  RELATED_TO  →  DOMAIN</a:t>
            </a:r>
          </a:p>
        </p:txBody>
      </p:sp>
      <p:sp>
        <p:nvSpPr>
          <p:cNvPr id="42" name="TextBox 41"/>
          <p:cNvSpPr txBox="1"/>
          <p:nvPr/>
        </p:nvSpPr>
        <p:spPr>
          <a:xfrm>
            <a:off x="6217920" y="539496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IP  →  RELATED_TO  →  IP</a:t>
            </a:r>
          </a:p>
        </p:txBody>
      </p:sp>
      <p:sp>
        <p:nvSpPr>
          <p:cNvPr id="43" name="TextBox 42"/>
          <p:cNvSpPr txBox="1"/>
          <p:nvPr/>
        </p:nvSpPr>
        <p:spPr>
          <a:xfrm>
            <a:off x="6217920" y="5760720"/>
            <a:ext cx="5029200" cy="320040"/>
          </a:xfrm>
          <a:prstGeom prst="rect">
            <a:avLst/>
          </a:prstGeom>
          <a:noFill/>
        </p:spPr>
        <p:txBody>
          <a:bodyPr wrap="square"/>
          <a:lstStyle/>
          <a:p>
            <a:pPr algn="l">
              <a:lnSpc>
                <a:spcPts val="1100"/>
              </a:lnSpc>
              <a:spcBef>
                <a:spcPts val="0"/>
              </a:spcBef>
              <a:spcAft>
                <a:spcPts val="0"/>
              </a:spcAft>
              <a:defRPr sz="1000" b="0">
                <a:solidFill>
                  <a:srgbClr val="F1F5F9"/>
                </a:solidFill>
                <a:latin typeface="Consolas"/>
              </a:defRPr>
            </a:pPr>
            <a:r>
              <a:rPr>
                <a:latin typeface="Consolas"/>
              </a:rPr>
              <a:t>CASE  →  CONTAINS  →  EMAIL</a:t>
            </a:r>
          </a:p>
        </p:txBody>
      </p:sp>
      <p:sp>
        <p:nvSpPr>
          <p:cNvPr id="44" name="Rounded Rectangle 43"/>
          <p:cNvSpPr/>
          <p:nvPr/>
        </p:nvSpPr>
        <p:spPr>
          <a:xfrm>
            <a:off x="6217920" y="5486400"/>
            <a:ext cx="5029200" cy="548640"/>
          </a:xfrm>
          <a:prstGeom prst="roundRect">
            <a:avLst>
              <a:gd name="adj" fmla="val 4000"/>
            </a:avLst>
          </a:prstGeom>
          <a:solidFill>
            <a:srgbClr val="18223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0800" y="5532120"/>
            <a:ext cx="4663440" cy="457200"/>
          </a:xfrm>
          <a:prstGeom prst="rect">
            <a:avLst/>
          </a:prstGeom>
          <a:noFill/>
        </p:spPr>
        <p:txBody>
          <a:bodyPr wrap="square"/>
          <a:lstStyle/>
          <a:p>
            <a:pPr algn="l">
              <a:lnSpc>
                <a:spcPts val="1100"/>
              </a:lnSpc>
              <a:spcBef>
                <a:spcPts val="0"/>
              </a:spcBef>
              <a:spcAft>
                <a:spcPts val="0"/>
              </a:spcAft>
              <a:defRPr sz="1000" b="0">
                <a:solidFill>
                  <a:srgbClr val="10B981"/>
                </a:solidFill>
                <a:latin typeface="Calibri"/>
              </a:defRPr>
            </a:pPr>
            <a:r>
              <a:rPr>
                <a:latin typeface="Calibri"/>
              </a:rPr>
              <a:t>Campaign Discovery: Multiple emails sharing domains, IPs, URLs, language, identity, timing, and hosting are clustered into threat campaigns. This transforms the system from an email classifier into an investigation platform.</a:t>
            </a:r>
          </a:p>
        </p:txBody>
      </p:sp>
      <p:sp>
        <p:nvSpPr>
          <p:cNvPr id="46" name="TextBox 45"/>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13/19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Innovation &amp; Uniqueness</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What makes this different from existing solutions</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10698480" cy="914400"/>
          </a:xfrm>
          <a:prstGeom prst="roundRect">
            <a:avLst>
              <a:gd name="adj" fmla="val 4000"/>
            </a:avLst>
          </a:prstGeom>
          <a:solidFill>
            <a:srgbClr val="101622"/>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731520"/>
          </a:xfrm>
          <a:prstGeom prst="rect">
            <a:avLst/>
          </a:prstGeom>
          <a:noFill/>
        </p:spPr>
        <p:txBody>
          <a:bodyPr wrap="square"/>
          <a:lstStyle/>
          <a:p>
            <a:pPr algn="l">
              <a:lnSpc>
                <a:spcPts val="1700"/>
              </a:lnSpc>
              <a:spcBef>
                <a:spcPts val="0"/>
              </a:spcBef>
              <a:spcAft>
                <a:spcPts val="0"/>
              </a:spcAft>
              <a:defRPr sz="1500" b="1">
                <a:solidFill>
                  <a:srgbClr val="10B981"/>
                </a:solidFill>
                <a:latin typeface="Calibri"/>
              </a:defRPr>
            </a:pPr>
            <a:r>
              <a:rPr>
                <a:latin typeface="Calibri"/>
              </a:rPr>
              <a:t>The technology stack is NOT the innovation. The innovation is the COMBINATION of forensic reasoning engines that work together to provide evidence-driven investigative intelligence.</a:t>
            </a:r>
          </a:p>
        </p:txBody>
      </p:sp>
      <p:sp>
        <p:nvSpPr>
          <p:cNvPr id="9" name="Rounded Rectangle 8"/>
          <p:cNvSpPr/>
          <p:nvPr/>
        </p:nvSpPr>
        <p:spPr>
          <a:xfrm>
            <a:off x="731520" y="2743200"/>
            <a:ext cx="5212080" cy="868680"/>
          </a:xfrm>
          <a:prstGeom prst="roundRect">
            <a:avLst>
              <a:gd name="adj" fmla="val 4000"/>
            </a:avLst>
          </a:prstGeom>
          <a:solidFill>
            <a:srgbClr val="10162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743200"/>
            <a:ext cx="54864" cy="86868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88920"/>
            <a:ext cx="4846320" cy="274320"/>
          </a:xfrm>
          <a:prstGeom prst="rect">
            <a:avLst/>
          </a:prstGeom>
          <a:noFill/>
        </p:spPr>
        <p:txBody>
          <a:bodyPr wrap="square"/>
          <a:lstStyle/>
          <a:p>
            <a:pPr algn="l">
              <a:lnSpc>
                <a:spcPts val="1400"/>
              </a:lnSpc>
              <a:spcBef>
                <a:spcPts val="0"/>
              </a:spcBef>
              <a:spcAft>
                <a:spcPts val="0"/>
              </a:spcAft>
              <a:defRPr sz="1300" b="1">
                <a:solidFill>
                  <a:srgbClr val="06B6D4"/>
                </a:solidFill>
                <a:latin typeface="Calibri"/>
              </a:defRPr>
            </a:pPr>
            <a:r>
              <a:rPr>
                <a:latin typeface="Calibri"/>
              </a:rPr>
              <a:t>Evidence Provenance</a:t>
            </a:r>
          </a:p>
        </p:txBody>
      </p:sp>
      <p:sp>
        <p:nvSpPr>
          <p:cNvPr id="12" name="TextBox 11"/>
          <p:cNvSpPr txBox="1"/>
          <p:nvPr/>
        </p:nvSpPr>
        <p:spPr>
          <a:xfrm>
            <a:off x="914400" y="3090672"/>
            <a:ext cx="484632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Every finding has source, type, reliability, confidence, timestamp, supporting &amp; contradicting relationships. Not just a threat score.</a:t>
            </a:r>
          </a:p>
        </p:txBody>
      </p:sp>
      <p:sp>
        <p:nvSpPr>
          <p:cNvPr id="13" name="Rounded Rectangle 12"/>
          <p:cNvSpPr/>
          <p:nvPr/>
        </p:nvSpPr>
        <p:spPr>
          <a:xfrm>
            <a:off x="6217920" y="2743200"/>
            <a:ext cx="5212080" cy="868680"/>
          </a:xfrm>
          <a:prstGeom prst="roundRect">
            <a:avLst>
              <a:gd name="adj" fmla="val 4000"/>
            </a:avLst>
          </a:prstGeom>
          <a:solidFill>
            <a:srgbClr val="10162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2743200"/>
            <a:ext cx="54864" cy="86868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788920"/>
            <a:ext cx="4846320" cy="274320"/>
          </a:xfrm>
          <a:prstGeom prst="rect">
            <a:avLst/>
          </a:prstGeom>
          <a:noFill/>
        </p:spPr>
        <p:txBody>
          <a:bodyPr wrap="square"/>
          <a:lstStyle/>
          <a:p>
            <a:pPr algn="l">
              <a:lnSpc>
                <a:spcPts val="1400"/>
              </a:lnSpc>
              <a:spcBef>
                <a:spcPts val="0"/>
              </a:spcBef>
              <a:spcAft>
                <a:spcPts val="0"/>
              </a:spcAft>
              <a:defRPr sz="1300" b="1">
                <a:solidFill>
                  <a:srgbClr val="EF4444"/>
                </a:solidFill>
                <a:latin typeface="Calibri"/>
              </a:defRPr>
            </a:pPr>
            <a:r>
              <a:rPr>
                <a:latin typeface="Calibri"/>
              </a:rPr>
              <a:t>Identity Contradiction</a:t>
            </a:r>
          </a:p>
        </p:txBody>
      </p:sp>
      <p:sp>
        <p:nvSpPr>
          <p:cNvPr id="16" name="TextBox 15"/>
          <p:cNvSpPr txBox="1"/>
          <p:nvPr/>
        </p:nvSpPr>
        <p:spPr>
          <a:xfrm>
            <a:off x="6400800" y="3090672"/>
            <a:ext cx="484632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Cross-references Display Name, From, Reply-To, Return-Path, DKIM domain, DMARC alignment, and infrastructure. Calculates identity consistency.</a:t>
            </a:r>
          </a:p>
        </p:txBody>
      </p:sp>
      <p:sp>
        <p:nvSpPr>
          <p:cNvPr id="17" name="Rounded Rectangle 16"/>
          <p:cNvSpPr/>
          <p:nvPr/>
        </p:nvSpPr>
        <p:spPr>
          <a:xfrm>
            <a:off x="731520" y="3749039"/>
            <a:ext cx="5212080" cy="868680"/>
          </a:xfrm>
          <a:prstGeom prst="roundRect">
            <a:avLst>
              <a:gd name="adj" fmla="val 4000"/>
            </a:avLst>
          </a:prstGeom>
          <a:solidFill>
            <a:srgbClr val="1016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749039"/>
            <a:ext cx="54864" cy="86868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794759"/>
            <a:ext cx="4846320" cy="274320"/>
          </a:xfrm>
          <a:prstGeom prst="rect">
            <a:avLst/>
          </a:prstGeom>
          <a:noFill/>
        </p:spPr>
        <p:txBody>
          <a:bodyPr wrap="square"/>
          <a:lstStyle/>
          <a:p>
            <a:pPr algn="l">
              <a:lnSpc>
                <a:spcPts val="1400"/>
              </a:lnSpc>
              <a:spcBef>
                <a:spcPts val="0"/>
              </a:spcBef>
              <a:spcAft>
                <a:spcPts val="0"/>
              </a:spcAft>
              <a:defRPr sz="1300" b="1">
                <a:solidFill>
                  <a:srgbClr val="F59E0B"/>
                </a:solidFill>
                <a:latin typeface="Calibri"/>
              </a:defRPr>
            </a:pPr>
            <a:r>
              <a:rPr>
                <a:latin typeface="Calibri"/>
              </a:rPr>
              <a:t>Infrastructure Fingerprinting</a:t>
            </a:r>
          </a:p>
        </p:txBody>
      </p:sp>
      <p:sp>
        <p:nvSpPr>
          <p:cNvPr id="20" name="TextBox 19"/>
          <p:cNvSpPr txBox="1"/>
          <p:nvPr/>
        </p:nvSpPr>
        <p:spPr>
          <a:xfrm>
            <a:off x="914400" y="4096511"/>
            <a:ext cx="484632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Builds complete profiles: IP -&gt; ASN -&gt; ISP -&gt; Hosting -&gt; DNS -&gt; Domain -&gt; MX. Identifies VPN, TOR, proxy, bulletproof hosting.</a:t>
            </a:r>
          </a:p>
        </p:txBody>
      </p:sp>
      <p:sp>
        <p:nvSpPr>
          <p:cNvPr id="21" name="Rounded Rectangle 20"/>
          <p:cNvSpPr/>
          <p:nvPr/>
        </p:nvSpPr>
        <p:spPr>
          <a:xfrm>
            <a:off x="6217920" y="3749039"/>
            <a:ext cx="5212080" cy="868680"/>
          </a:xfrm>
          <a:prstGeom prst="roundRect">
            <a:avLst>
              <a:gd name="adj" fmla="val 4000"/>
            </a:avLst>
          </a:prstGeom>
          <a:solidFill>
            <a:srgbClr val="10162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17920" y="3749039"/>
            <a:ext cx="54864" cy="868680"/>
          </a:xfrm>
          <a:prstGeom prst="roundRect">
            <a:avLst>
              <a:gd name="adj" fmla="val 4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794759"/>
            <a:ext cx="4846320" cy="274320"/>
          </a:xfrm>
          <a:prstGeom prst="rect">
            <a:avLst/>
          </a:prstGeom>
          <a:noFill/>
        </p:spPr>
        <p:txBody>
          <a:bodyPr wrap="square"/>
          <a:lstStyle/>
          <a:p>
            <a:pPr algn="l">
              <a:lnSpc>
                <a:spcPts val="1400"/>
              </a:lnSpc>
              <a:spcBef>
                <a:spcPts val="0"/>
              </a:spcBef>
              <a:spcAft>
                <a:spcPts val="0"/>
              </a:spcAft>
              <a:defRPr sz="1300" b="1">
                <a:solidFill>
                  <a:srgbClr val="3B82F6"/>
                </a:solidFill>
                <a:latin typeface="Calibri"/>
              </a:defRPr>
            </a:pPr>
            <a:r>
              <a:rPr>
                <a:latin typeface="Calibri"/>
              </a:rPr>
              <a:t>Campaign Discovery</a:t>
            </a:r>
          </a:p>
        </p:txBody>
      </p:sp>
      <p:sp>
        <p:nvSpPr>
          <p:cNvPr id="24" name="TextBox 23"/>
          <p:cNvSpPr txBox="1"/>
          <p:nvPr/>
        </p:nvSpPr>
        <p:spPr>
          <a:xfrm>
            <a:off x="6400800" y="4096511"/>
            <a:ext cx="484632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Correlates multiple emails into threat campaigns using shared infrastructure, language, identity, timing, and hosting patterns.</a:t>
            </a:r>
          </a:p>
        </p:txBody>
      </p:sp>
      <p:sp>
        <p:nvSpPr>
          <p:cNvPr id="25" name="Rounded Rectangle 24"/>
          <p:cNvSpPr/>
          <p:nvPr/>
        </p:nvSpPr>
        <p:spPr>
          <a:xfrm>
            <a:off x="731520" y="4754880"/>
            <a:ext cx="5212080" cy="868680"/>
          </a:xfrm>
          <a:prstGeom prst="roundRect">
            <a:avLst>
              <a:gd name="adj" fmla="val 4000"/>
            </a:avLst>
          </a:prstGeom>
          <a:solidFill>
            <a:srgbClr val="1016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1520" y="4754880"/>
            <a:ext cx="54864" cy="86868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800600"/>
            <a:ext cx="4846320" cy="274320"/>
          </a:xfrm>
          <a:prstGeom prst="rect">
            <a:avLst/>
          </a:prstGeom>
          <a:noFill/>
        </p:spPr>
        <p:txBody>
          <a:bodyPr wrap="square"/>
          <a:lstStyle/>
          <a:p>
            <a:pPr algn="l">
              <a:lnSpc>
                <a:spcPts val="1400"/>
              </a:lnSpc>
              <a:spcBef>
                <a:spcPts val="0"/>
              </a:spcBef>
              <a:spcAft>
                <a:spcPts val="0"/>
              </a:spcAft>
              <a:defRPr sz="1300" b="1">
                <a:solidFill>
                  <a:srgbClr val="10B981"/>
                </a:solidFill>
                <a:latin typeface="Calibri"/>
              </a:defRPr>
            </a:pPr>
            <a:r>
              <a:rPr>
                <a:latin typeface="Calibri"/>
              </a:rPr>
              <a:t>Evidence Reliability</a:t>
            </a:r>
          </a:p>
        </p:txBody>
      </p:sp>
      <p:sp>
        <p:nvSpPr>
          <p:cNvPr id="28" name="TextBox 27"/>
          <p:cNvSpPr txBox="1"/>
          <p:nvPr/>
        </p:nvSpPr>
        <p:spPr>
          <a:xfrm>
            <a:off x="914400" y="5102352"/>
            <a:ext cx="484632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Distinguishes HIGH/MEDIUM/LOWER confidence. Explains what is directly observed vs inferred vs externally enriched vs uncertain.</a:t>
            </a:r>
          </a:p>
        </p:txBody>
      </p:sp>
      <p:sp>
        <p:nvSpPr>
          <p:cNvPr id="29" name="Rounded Rectangle 28"/>
          <p:cNvSpPr/>
          <p:nvPr/>
        </p:nvSpPr>
        <p:spPr>
          <a:xfrm>
            <a:off x="6217920" y="4754880"/>
            <a:ext cx="5212080" cy="868680"/>
          </a:xfrm>
          <a:prstGeom prst="roundRect">
            <a:avLst>
              <a:gd name="adj" fmla="val 4000"/>
            </a:avLst>
          </a:prstGeom>
          <a:solidFill>
            <a:srgbClr val="101622"/>
          </a:solidFill>
          <a:ln w="12700">
            <a:solidFill>
              <a:srgbClr val="AC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17920" y="4754880"/>
            <a:ext cx="54864" cy="868680"/>
          </a:xfrm>
          <a:prstGeom prst="roundRect">
            <a:avLst>
              <a:gd name="adj" fmla="val 4000"/>
            </a:avLst>
          </a:prstGeom>
          <a:solidFill>
            <a:srgbClr val="AC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4800600"/>
            <a:ext cx="4846320" cy="274320"/>
          </a:xfrm>
          <a:prstGeom prst="rect">
            <a:avLst/>
          </a:prstGeom>
          <a:noFill/>
        </p:spPr>
        <p:txBody>
          <a:bodyPr wrap="square"/>
          <a:lstStyle/>
          <a:p>
            <a:pPr algn="l">
              <a:lnSpc>
                <a:spcPts val="1400"/>
              </a:lnSpc>
              <a:spcBef>
                <a:spcPts val="0"/>
              </a:spcBef>
              <a:spcAft>
                <a:spcPts val="0"/>
              </a:spcAft>
              <a:defRPr sz="1300" b="1">
                <a:solidFill>
                  <a:srgbClr val="ACEDFF"/>
                </a:solidFill>
                <a:latin typeface="Calibri"/>
              </a:defRPr>
            </a:pPr>
            <a:r>
              <a:rPr>
                <a:latin typeface="Calibri"/>
              </a:rPr>
              <a:t>Attack Path Reconstruction</a:t>
            </a:r>
          </a:p>
        </p:txBody>
      </p:sp>
      <p:sp>
        <p:nvSpPr>
          <p:cNvPr id="32" name="TextBox 31"/>
          <p:cNvSpPr txBox="1"/>
          <p:nvPr/>
        </p:nvSpPr>
        <p:spPr>
          <a:xfrm>
            <a:off x="6400800" y="5102352"/>
            <a:ext cx="484632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Reconstructs observed chain from sender identity through infrastructure to related cases. Shows observed vs inferred vs uncertain.</a:t>
            </a:r>
          </a:p>
        </p:txBody>
      </p:sp>
      <p:sp>
        <p:nvSpPr>
          <p:cNvPr id="33" name="Rounded Rectangle 32"/>
          <p:cNvSpPr/>
          <p:nvPr/>
        </p:nvSpPr>
        <p:spPr>
          <a:xfrm>
            <a:off x="731520" y="5760720"/>
            <a:ext cx="5212080" cy="868680"/>
          </a:xfrm>
          <a:prstGeom prst="roundRect">
            <a:avLst>
              <a:gd name="adj" fmla="val 4000"/>
            </a:avLst>
          </a:prstGeom>
          <a:solidFill>
            <a:srgbClr val="101622"/>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31520" y="5760720"/>
            <a:ext cx="54864" cy="868680"/>
          </a:xfrm>
          <a:prstGeom prst="roundRect">
            <a:avLst>
              <a:gd name="adj" fmla="val 4000"/>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06440"/>
            <a:ext cx="4846320" cy="274320"/>
          </a:xfrm>
          <a:prstGeom prst="rect">
            <a:avLst/>
          </a:prstGeom>
          <a:noFill/>
        </p:spPr>
        <p:txBody>
          <a:bodyPr wrap="square"/>
          <a:lstStyle/>
          <a:p>
            <a:pPr algn="l">
              <a:lnSpc>
                <a:spcPts val="1400"/>
              </a:lnSpc>
              <a:spcBef>
                <a:spcPts val="0"/>
              </a:spcBef>
              <a:spcAft>
                <a:spcPts val="0"/>
              </a:spcAft>
              <a:defRPr sz="1300" b="1">
                <a:solidFill>
                  <a:srgbClr val="F1F5F9"/>
                </a:solidFill>
                <a:latin typeface="Calibri"/>
              </a:defRPr>
            </a:pPr>
            <a:r>
              <a:rPr>
                <a:latin typeface="Calibri"/>
              </a:rPr>
              <a:t>Explainable Multi-Evidence Decision</a:t>
            </a:r>
          </a:p>
        </p:txBody>
      </p:sp>
      <p:sp>
        <p:nvSpPr>
          <p:cNvPr id="36" name="TextBox 35"/>
          <p:cNvSpPr txBox="1"/>
          <p:nvPr/>
        </p:nvSpPr>
        <p:spPr>
          <a:xfrm>
            <a:off x="914400" y="6108192"/>
            <a:ext cx="484632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Combines technical, identity, linguistic, infrastructure, historical, and relationship evidence into a single explainable forensic decision.</a:t>
            </a:r>
          </a:p>
        </p:txBody>
      </p:sp>
      <p:sp>
        <p:nvSpPr>
          <p:cNvPr id="37" name="Rounded Rectangle 36"/>
          <p:cNvSpPr/>
          <p:nvPr/>
        </p:nvSpPr>
        <p:spPr>
          <a:xfrm>
            <a:off x="6217920" y="5760720"/>
            <a:ext cx="5212080" cy="868680"/>
          </a:xfrm>
          <a:prstGeom prst="roundRect">
            <a:avLst>
              <a:gd name="adj" fmla="val 4000"/>
            </a:avLst>
          </a:prstGeom>
          <a:solidFill>
            <a:srgbClr val="101622"/>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17920" y="5760720"/>
            <a:ext cx="54864" cy="868680"/>
          </a:xfrm>
          <a:prstGeom prst="roundRect">
            <a:avLst>
              <a:gd name="adj" fmla="val 4000"/>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5806440"/>
            <a:ext cx="4846320" cy="274320"/>
          </a:xfrm>
          <a:prstGeom prst="rect">
            <a:avLst/>
          </a:prstGeom>
          <a:noFill/>
        </p:spPr>
        <p:txBody>
          <a:bodyPr wrap="square"/>
          <a:lstStyle/>
          <a:p>
            <a:pPr algn="l">
              <a:lnSpc>
                <a:spcPts val="1400"/>
              </a:lnSpc>
              <a:spcBef>
                <a:spcPts val="0"/>
              </a:spcBef>
              <a:spcAft>
                <a:spcPts val="0"/>
              </a:spcAft>
              <a:defRPr sz="1300" b="1">
                <a:solidFill>
                  <a:srgbClr val="94A3B8"/>
                </a:solidFill>
                <a:latin typeface="Calibri"/>
              </a:defRPr>
            </a:pPr>
            <a:r>
              <a:rPr>
                <a:latin typeface="Calibri"/>
              </a:rPr>
              <a:t>Forensic Accuracy</a:t>
            </a:r>
          </a:p>
        </p:txBody>
      </p:sp>
      <p:sp>
        <p:nvSpPr>
          <p:cNvPr id="40" name="TextBox 39"/>
          <p:cNvSpPr txBox="1"/>
          <p:nvPr/>
        </p:nvSpPr>
        <p:spPr>
          <a:xfrm>
            <a:off x="6400800" y="6108192"/>
            <a:ext cx="4846320" cy="457200"/>
          </a:xfrm>
          <a:prstGeom prst="rect">
            <a:avLst/>
          </a:prstGeom>
          <a:noFill/>
        </p:spPr>
        <p:txBody>
          <a:bodyPr wrap="square"/>
          <a:lstStyle/>
          <a:p>
            <a:pPr algn="l">
              <a:lnSpc>
                <a:spcPts val="1100"/>
              </a:lnSpc>
              <a:spcBef>
                <a:spcPts val="0"/>
              </a:spcBef>
              <a:spcAft>
                <a:spcPts val="0"/>
              </a:spcAft>
              <a:defRPr sz="1000" b="0">
                <a:solidFill>
                  <a:srgbClr val="94A3B8"/>
                </a:solidFill>
                <a:latin typeface="Calibri"/>
              </a:defRPr>
            </a:pPr>
            <a:r>
              <a:rPr>
                <a:latin typeface="Calibri"/>
              </a:rPr>
              <a:t>Never claims attacker location or identity. Uses language like 'observed sending infrastructure geolocates to...' not 'attacker is in...'</a:t>
            </a:r>
          </a:p>
        </p:txBody>
      </p:sp>
      <p:sp>
        <p:nvSpPr>
          <p:cNvPr id="41" name="TextBox 40"/>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14/19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Demo Scenario</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CFO BEC Attack — Case #1042 Walkthrough</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10698480" cy="1097280"/>
          </a:xfrm>
          <a:prstGeom prst="roundRect">
            <a:avLst>
              <a:gd name="adj" fmla="val 4000"/>
            </a:avLst>
          </a:prstGeom>
          <a:solidFill>
            <a:srgbClr val="10162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45920"/>
            <a:ext cx="10332720" cy="228600"/>
          </a:xfrm>
          <a:prstGeom prst="rect">
            <a:avLst/>
          </a:prstGeom>
          <a:noFill/>
        </p:spPr>
        <p:txBody>
          <a:bodyPr wrap="square"/>
          <a:lstStyle/>
          <a:p>
            <a:pPr algn="l">
              <a:lnSpc>
                <a:spcPts val="1100"/>
              </a:lnSpc>
              <a:spcBef>
                <a:spcPts val="0"/>
              </a:spcBef>
              <a:spcAft>
                <a:spcPts val="0"/>
              </a:spcAft>
              <a:defRPr sz="1000" b="1">
                <a:solidFill>
                  <a:srgbClr val="EF4444"/>
                </a:solidFill>
                <a:latin typeface="Consolas"/>
              </a:defRPr>
            </a:pPr>
            <a:r>
              <a:rPr>
                <a:latin typeface="Consolas"/>
              </a:rPr>
              <a:t>SCENARIO: SUSPICIOUS CFO PAYMENT-REQUEST EMAIL</a:t>
            </a:r>
          </a:p>
        </p:txBody>
      </p:sp>
      <p:sp>
        <p:nvSpPr>
          <p:cNvPr id="9" name="TextBox 8"/>
          <p:cNvSpPr txBox="1"/>
          <p:nvPr/>
        </p:nvSpPr>
        <p:spPr>
          <a:xfrm>
            <a:off x="914400" y="1920240"/>
            <a:ext cx="10332720" cy="640080"/>
          </a:xfrm>
          <a:prstGeom prst="rect">
            <a:avLst/>
          </a:prstGeom>
          <a:noFill/>
        </p:spPr>
        <p:txBody>
          <a:bodyPr wrap="square"/>
          <a:lstStyle/>
          <a:p>
            <a:pPr algn="l">
              <a:lnSpc>
                <a:spcPts val="1400"/>
              </a:lnSpc>
              <a:spcBef>
                <a:spcPts val="0"/>
              </a:spcBef>
              <a:spcAft>
                <a:spcPts val="0"/>
              </a:spcAft>
              <a:defRPr sz="1300" b="0">
                <a:solidFill>
                  <a:srgbClr val="F1F5F9"/>
                </a:solidFill>
                <a:latin typeface="Calibri"/>
              </a:defRPr>
            </a:pPr>
            <a:r>
              <a:rPr>
                <a:latin typeface="Calibri"/>
              </a:rPr>
              <a:t>An urgent wire transfer request appears to come from the CFO, Robert Sterling. The email requests immediate payment to a new offshore account. The analyst uploads the .EML file for forensic investigation.</a:t>
            </a:r>
          </a:p>
        </p:txBody>
      </p:sp>
      <p:sp>
        <p:nvSpPr>
          <p:cNvPr id="10" name="Rounded Rectangle 9"/>
          <p:cNvSpPr/>
          <p:nvPr/>
        </p:nvSpPr>
        <p:spPr>
          <a:xfrm>
            <a:off x="594360" y="2926080"/>
            <a:ext cx="1005840" cy="164592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94360" y="2926080"/>
            <a:ext cx="1005840" cy="32004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01</a:t>
            </a:r>
          </a:p>
        </p:txBody>
      </p:sp>
      <p:sp>
        <p:nvSpPr>
          <p:cNvPr id="13" name="TextBox 12"/>
          <p:cNvSpPr txBox="1"/>
          <p:nvPr/>
        </p:nvSpPr>
        <p:spPr>
          <a:xfrm>
            <a:off x="594360" y="3337560"/>
            <a:ext cx="1005840" cy="274320"/>
          </a:xfrm>
          <a:prstGeom prst="rect">
            <a:avLst/>
          </a:prstGeom>
          <a:noFill/>
        </p:spPr>
        <p:txBody>
          <a:bodyPr wrap="square"/>
          <a:lstStyle/>
          <a:p>
            <a:pPr algn="ctr">
              <a:lnSpc>
                <a:spcPts val="1000"/>
              </a:lnSpc>
              <a:spcBef>
                <a:spcPts val="0"/>
              </a:spcBef>
              <a:spcAft>
                <a:spcPts val="0"/>
              </a:spcAft>
              <a:defRPr sz="900" b="1">
                <a:solidFill>
                  <a:srgbClr val="06B6D4"/>
                </a:solidFill>
                <a:latin typeface="Consolas"/>
              </a:defRPr>
            </a:pPr>
            <a:r>
              <a:rPr>
                <a:latin typeface="Consolas"/>
              </a:rPr>
              <a:t>UPLOAD</a:t>
            </a:r>
          </a:p>
        </p:txBody>
      </p:sp>
      <p:sp>
        <p:nvSpPr>
          <p:cNvPr id="14" name="TextBox 13"/>
          <p:cNvSpPr txBox="1"/>
          <p:nvPr/>
        </p:nvSpPr>
        <p:spPr>
          <a:xfrm>
            <a:off x="594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Upload suspicious</a:t>
            </a:r>
            <a:br/>
            <a:r>
              <a:t>.EML file</a:t>
            </a:r>
          </a:p>
        </p:txBody>
      </p:sp>
      <p:sp>
        <p:nvSpPr>
          <p:cNvPr id="15" name="Rounded Rectangle 14"/>
          <p:cNvSpPr/>
          <p:nvPr/>
        </p:nvSpPr>
        <p:spPr>
          <a:xfrm>
            <a:off x="1737360" y="2926080"/>
            <a:ext cx="1005840" cy="164592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737360" y="2926080"/>
            <a:ext cx="1005840" cy="32004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02</a:t>
            </a:r>
          </a:p>
        </p:txBody>
      </p:sp>
      <p:sp>
        <p:nvSpPr>
          <p:cNvPr id="18" name="TextBox 17"/>
          <p:cNvSpPr txBox="1"/>
          <p:nvPr/>
        </p:nvSpPr>
        <p:spPr>
          <a:xfrm>
            <a:off x="1737360" y="3337560"/>
            <a:ext cx="1005840" cy="274320"/>
          </a:xfrm>
          <a:prstGeom prst="rect">
            <a:avLst/>
          </a:prstGeom>
          <a:noFill/>
        </p:spPr>
        <p:txBody>
          <a:bodyPr wrap="square"/>
          <a:lstStyle/>
          <a:p>
            <a:pPr algn="ctr">
              <a:lnSpc>
                <a:spcPts val="1000"/>
              </a:lnSpc>
              <a:spcBef>
                <a:spcPts val="0"/>
              </a:spcBef>
              <a:spcAft>
                <a:spcPts val="0"/>
              </a:spcAft>
              <a:defRPr sz="900" b="1">
                <a:solidFill>
                  <a:srgbClr val="06B6D4"/>
                </a:solidFill>
                <a:latin typeface="Consolas"/>
              </a:defRPr>
            </a:pPr>
            <a:r>
              <a:rPr>
                <a:latin typeface="Consolas"/>
              </a:rPr>
              <a:t>PRESERVE</a:t>
            </a:r>
          </a:p>
        </p:txBody>
      </p:sp>
      <p:sp>
        <p:nvSpPr>
          <p:cNvPr id="19" name="TextBox 18"/>
          <p:cNvSpPr txBox="1"/>
          <p:nvPr/>
        </p:nvSpPr>
        <p:spPr>
          <a:xfrm>
            <a:off x="1737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Calculate SHA-256</a:t>
            </a:r>
            <a:br/>
            <a:r>
              <a:t>&amp; parse MIME</a:t>
            </a:r>
          </a:p>
        </p:txBody>
      </p:sp>
      <p:sp>
        <p:nvSpPr>
          <p:cNvPr id="20" name="Rounded Rectangle 19"/>
          <p:cNvSpPr/>
          <p:nvPr/>
        </p:nvSpPr>
        <p:spPr>
          <a:xfrm>
            <a:off x="2880360" y="2926080"/>
            <a:ext cx="1005840" cy="1645920"/>
          </a:xfrm>
          <a:prstGeom prst="roundRect">
            <a:avLst>
              <a:gd name="adj" fmla="val 4000"/>
            </a:avLst>
          </a:prstGeom>
          <a:solidFill>
            <a:srgbClr val="18223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880360" y="2926080"/>
            <a:ext cx="1005840" cy="32004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80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03</a:t>
            </a:r>
          </a:p>
        </p:txBody>
      </p:sp>
      <p:sp>
        <p:nvSpPr>
          <p:cNvPr id="23" name="TextBox 22"/>
          <p:cNvSpPr txBox="1"/>
          <p:nvPr/>
        </p:nvSpPr>
        <p:spPr>
          <a:xfrm>
            <a:off x="2880360" y="3337560"/>
            <a:ext cx="1005840" cy="274320"/>
          </a:xfrm>
          <a:prstGeom prst="rect">
            <a:avLst/>
          </a:prstGeom>
          <a:noFill/>
        </p:spPr>
        <p:txBody>
          <a:bodyPr wrap="square"/>
          <a:lstStyle/>
          <a:p>
            <a:pPr algn="ctr">
              <a:lnSpc>
                <a:spcPts val="1000"/>
              </a:lnSpc>
              <a:spcBef>
                <a:spcPts val="0"/>
              </a:spcBef>
              <a:spcAft>
                <a:spcPts val="0"/>
              </a:spcAft>
              <a:defRPr sz="900" b="1">
                <a:solidFill>
                  <a:srgbClr val="F59E0B"/>
                </a:solidFill>
                <a:latin typeface="Consolas"/>
              </a:defRPr>
            </a:pPr>
            <a:r>
              <a:rPr>
                <a:latin typeface="Consolas"/>
              </a:rPr>
              <a:t>AUTHENTICATE</a:t>
            </a:r>
          </a:p>
        </p:txBody>
      </p:sp>
      <p:sp>
        <p:nvSpPr>
          <p:cNvPr id="24" name="TextBox 23"/>
          <p:cNvSpPr txBox="1"/>
          <p:nvPr/>
        </p:nvSpPr>
        <p:spPr>
          <a:xfrm>
            <a:off x="2880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SPF/DKIM/DMARC</a:t>
            </a:r>
            <a:br/>
            <a:r>
              <a:t>analysis</a:t>
            </a:r>
          </a:p>
        </p:txBody>
      </p:sp>
      <p:sp>
        <p:nvSpPr>
          <p:cNvPr id="25" name="Rounded Rectangle 24"/>
          <p:cNvSpPr/>
          <p:nvPr/>
        </p:nvSpPr>
        <p:spPr>
          <a:xfrm>
            <a:off x="4023360" y="2926080"/>
            <a:ext cx="1005840" cy="1645920"/>
          </a:xfrm>
          <a:prstGeom prst="roundRect">
            <a:avLst>
              <a:gd name="adj" fmla="val 4000"/>
            </a:avLst>
          </a:prstGeom>
          <a:solidFill>
            <a:srgbClr val="18223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023360" y="2926080"/>
            <a:ext cx="1005840" cy="32004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04</a:t>
            </a:r>
          </a:p>
        </p:txBody>
      </p:sp>
      <p:sp>
        <p:nvSpPr>
          <p:cNvPr id="28" name="TextBox 27"/>
          <p:cNvSpPr txBox="1"/>
          <p:nvPr/>
        </p:nvSpPr>
        <p:spPr>
          <a:xfrm>
            <a:off x="4023360" y="3337560"/>
            <a:ext cx="1005840" cy="274320"/>
          </a:xfrm>
          <a:prstGeom prst="rect">
            <a:avLst/>
          </a:prstGeom>
          <a:noFill/>
        </p:spPr>
        <p:txBody>
          <a:bodyPr wrap="square"/>
          <a:lstStyle/>
          <a:p>
            <a:pPr algn="ctr">
              <a:lnSpc>
                <a:spcPts val="1000"/>
              </a:lnSpc>
              <a:spcBef>
                <a:spcPts val="0"/>
              </a:spcBef>
              <a:spcAft>
                <a:spcPts val="0"/>
              </a:spcAft>
              <a:defRPr sz="900" b="1">
                <a:solidFill>
                  <a:srgbClr val="EF4444"/>
                </a:solidFill>
                <a:latin typeface="Consolas"/>
              </a:defRPr>
            </a:pPr>
            <a:r>
              <a:rPr>
                <a:latin typeface="Consolas"/>
              </a:rPr>
              <a:t>IDENTITY</a:t>
            </a:r>
          </a:p>
        </p:txBody>
      </p:sp>
      <p:sp>
        <p:nvSpPr>
          <p:cNvPr id="29" name="TextBox 28"/>
          <p:cNvSpPr txBox="1"/>
          <p:nvPr/>
        </p:nvSpPr>
        <p:spPr>
          <a:xfrm>
            <a:off x="4023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Compare From vs</a:t>
            </a:r>
            <a:br/>
            <a:r>
              <a:t>Reply-To vs DKIM</a:t>
            </a:r>
          </a:p>
        </p:txBody>
      </p:sp>
      <p:sp>
        <p:nvSpPr>
          <p:cNvPr id="30" name="Rounded Rectangle 29"/>
          <p:cNvSpPr/>
          <p:nvPr/>
        </p:nvSpPr>
        <p:spPr>
          <a:xfrm>
            <a:off x="5166360" y="2926080"/>
            <a:ext cx="1005840" cy="1645920"/>
          </a:xfrm>
          <a:prstGeom prst="roundRect">
            <a:avLst>
              <a:gd name="adj" fmla="val 4000"/>
            </a:avLst>
          </a:prstGeom>
          <a:solidFill>
            <a:srgbClr val="18223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166360" y="2926080"/>
            <a:ext cx="1005840" cy="32004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66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05</a:t>
            </a:r>
          </a:p>
        </p:txBody>
      </p:sp>
      <p:sp>
        <p:nvSpPr>
          <p:cNvPr id="33" name="TextBox 32"/>
          <p:cNvSpPr txBox="1"/>
          <p:nvPr/>
        </p:nvSpPr>
        <p:spPr>
          <a:xfrm>
            <a:off x="5166360" y="3337560"/>
            <a:ext cx="1005840" cy="274320"/>
          </a:xfrm>
          <a:prstGeom prst="rect">
            <a:avLst/>
          </a:prstGeom>
          <a:noFill/>
        </p:spPr>
        <p:txBody>
          <a:bodyPr wrap="square"/>
          <a:lstStyle/>
          <a:p>
            <a:pPr algn="ctr">
              <a:lnSpc>
                <a:spcPts val="1000"/>
              </a:lnSpc>
              <a:spcBef>
                <a:spcPts val="0"/>
              </a:spcBef>
              <a:spcAft>
                <a:spcPts val="0"/>
              </a:spcAft>
              <a:defRPr sz="900" b="1">
                <a:solidFill>
                  <a:srgbClr val="F59E0B"/>
                </a:solidFill>
                <a:latin typeface="Consolas"/>
              </a:defRPr>
            </a:pPr>
            <a:r>
              <a:rPr>
                <a:latin typeface="Consolas"/>
              </a:rPr>
              <a:t>INFRASTRUCTURE</a:t>
            </a:r>
          </a:p>
        </p:txBody>
      </p:sp>
      <p:sp>
        <p:nvSpPr>
          <p:cNvPr id="34" name="TextBox 33"/>
          <p:cNvSpPr txBox="1"/>
          <p:nvPr/>
        </p:nvSpPr>
        <p:spPr>
          <a:xfrm>
            <a:off x="5166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IP/ASN/Hosting</a:t>
            </a:r>
            <a:br/>
            <a:r>
              <a:t>profiling</a:t>
            </a:r>
          </a:p>
        </p:txBody>
      </p:sp>
      <p:sp>
        <p:nvSpPr>
          <p:cNvPr id="35" name="Rounded Rectangle 34"/>
          <p:cNvSpPr/>
          <p:nvPr/>
        </p:nvSpPr>
        <p:spPr>
          <a:xfrm>
            <a:off x="6309360" y="2926080"/>
            <a:ext cx="1005840" cy="1645920"/>
          </a:xfrm>
          <a:prstGeom prst="roundRect">
            <a:avLst>
              <a:gd name="adj" fmla="val 4000"/>
            </a:avLst>
          </a:prstGeom>
          <a:solidFill>
            <a:srgbClr val="182234"/>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09360" y="2926080"/>
            <a:ext cx="1005840" cy="320040"/>
          </a:xfrm>
          <a:prstGeom prst="roundRect">
            <a:avLst>
              <a:gd name="adj" fmla="val 4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09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06</a:t>
            </a:r>
          </a:p>
        </p:txBody>
      </p:sp>
      <p:sp>
        <p:nvSpPr>
          <p:cNvPr id="38" name="TextBox 37"/>
          <p:cNvSpPr txBox="1"/>
          <p:nvPr/>
        </p:nvSpPr>
        <p:spPr>
          <a:xfrm>
            <a:off x="6309360" y="3337560"/>
            <a:ext cx="1005840" cy="274320"/>
          </a:xfrm>
          <a:prstGeom prst="rect">
            <a:avLst/>
          </a:prstGeom>
          <a:noFill/>
        </p:spPr>
        <p:txBody>
          <a:bodyPr wrap="square"/>
          <a:lstStyle/>
          <a:p>
            <a:pPr algn="ctr">
              <a:lnSpc>
                <a:spcPts val="1000"/>
              </a:lnSpc>
              <a:spcBef>
                <a:spcPts val="0"/>
              </a:spcBef>
              <a:spcAft>
                <a:spcPts val="0"/>
              </a:spcAft>
              <a:defRPr sz="900" b="1">
                <a:solidFill>
                  <a:srgbClr val="3B82F6"/>
                </a:solidFill>
                <a:latin typeface="Consolas"/>
              </a:defRPr>
            </a:pPr>
            <a:r>
              <a:rPr>
                <a:latin typeface="Consolas"/>
              </a:rPr>
              <a:t>INTELLIGENCE</a:t>
            </a:r>
          </a:p>
        </p:txBody>
      </p:sp>
      <p:sp>
        <p:nvSpPr>
          <p:cNvPr id="39" name="TextBox 38"/>
          <p:cNvSpPr txBox="1"/>
          <p:nvPr/>
        </p:nvSpPr>
        <p:spPr>
          <a:xfrm>
            <a:off x="6309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NLP/ML threat</a:t>
            </a:r>
            <a:br/>
            <a:r>
              <a:t>classification</a:t>
            </a:r>
          </a:p>
        </p:txBody>
      </p:sp>
      <p:sp>
        <p:nvSpPr>
          <p:cNvPr id="40" name="Rounded Rectangle 39"/>
          <p:cNvSpPr/>
          <p:nvPr/>
        </p:nvSpPr>
        <p:spPr>
          <a:xfrm>
            <a:off x="7452360" y="2926080"/>
            <a:ext cx="1005840" cy="1645920"/>
          </a:xfrm>
          <a:prstGeom prst="roundRect">
            <a:avLst>
              <a:gd name="adj" fmla="val 4000"/>
            </a:avLst>
          </a:prstGeom>
          <a:solidFill>
            <a:srgbClr val="18223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452360" y="2926080"/>
            <a:ext cx="1005840" cy="32004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52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07</a:t>
            </a:r>
          </a:p>
        </p:txBody>
      </p:sp>
      <p:sp>
        <p:nvSpPr>
          <p:cNvPr id="43" name="TextBox 42"/>
          <p:cNvSpPr txBox="1"/>
          <p:nvPr/>
        </p:nvSpPr>
        <p:spPr>
          <a:xfrm>
            <a:off x="7452360" y="3337560"/>
            <a:ext cx="1005840" cy="274320"/>
          </a:xfrm>
          <a:prstGeom prst="rect">
            <a:avLst/>
          </a:prstGeom>
          <a:noFill/>
        </p:spPr>
        <p:txBody>
          <a:bodyPr wrap="square"/>
          <a:lstStyle/>
          <a:p>
            <a:pPr algn="ctr">
              <a:lnSpc>
                <a:spcPts val="1000"/>
              </a:lnSpc>
              <a:spcBef>
                <a:spcPts val="0"/>
              </a:spcBef>
              <a:spcAft>
                <a:spcPts val="0"/>
              </a:spcAft>
              <a:defRPr sz="900" b="1">
                <a:solidFill>
                  <a:srgbClr val="10B981"/>
                </a:solidFill>
                <a:latin typeface="Consolas"/>
              </a:defRPr>
            </a:pPr>
            <a:r>
              <a:rPr>
                <a:latin typeface="Consolas"/>
              </a:rPr>
              <a:t>CORRELATE</a:t>
            </a:r>
          </a:p>
        </p:txBody>
      </p:sp>
      <p:sp>
        <p:nvSpPr>
          <p:cNvPr id="44" name="TextBox 43"/>
          <p:cNvSpPr txBox="1"/>
          <p:nvPr/>
        </p:nvSpPr>
        <p:spPr>
          <a:xfrm>
            <a:off x="7452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Graph building</a:t>
            </a:r>
            <a:br/>
            <a:r>
              <a:t>&amp; campaign search</a:t>
            </a:r>
          </a:p>
        </p:txBody>
      </p:sp>
      <p:sp>
        <p:nvSpPr>
          <p:cNvPr id="45" name="Rounded Rectangle 44"/>
          <p:cNvSpPr/>
          <p:nvPr/>
        </p:nvSpPr>
        <p:spPr>
          <a:xfrm>
            <a:off x="8595360" y="2926080"/>
            <a:ext cx="1005840" cy="1645920"/>
          </a:xfrm>
          <a:prstGeom prst="roundRect">
            <a:avLst>
              <a:gd name="adj" fmla="val 4000"/>
            </a:avLst>
          </a:prstGeom>
          <a:solidFill>
            <a:srgbClr val="182234"/>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595360" y="2926080"/>
            <a:ext cx="1005840" cy="32004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95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08</a:t>
            </a:r>
          </a:p>
        </p:txBody>
      </p:sp>
      <p:sp>
        <p:nvSpPr>
          <p:cNvPr id="48" name="TextBox 47"/>
          <p:cNvSpPr txBox="1"/>
          <p:nvPr/>
        </p:nvSpPr>
        <p:spPr>
          <a:xfrm>
            <a:off x="8595360" y="3337560"/>
            <a:ext cx="1005840" cy="274320"/>
          </a:xfrm>
          <a:prstGeom prst="rect">
            <a:avLst/>
          </a:prstGeom>
          <a:noFill/>
        </p:spPr>
        <p:txBody>
          <a:bodyPr wrap="square"/>
          <a:lstStyle/>
          <a:p>
            <a:pPr algn="ctr">
              <a:lnSpc>
                <a:spcPts val="1000"/>
              </a:lnSpc>
              <a:spcBef>
                <a:spcPts val="0"/>
              </a:spcBef>
              <a:spcAft>
                <a:spcPts val="0"/>
              </a:spcAft>
              <a:defRPr sz="900" b="1">
                <a:solidFill>
                  <a:srgbClr val="EF4444"/>
                </a:solidFill>
                <a:latin typeface="Consolas"/>
              </a:defRPr>
            </a:pPr>
            <a:r>
              <a:rPr>
                <a:latin typeface="Consolas"/>
              </a:rPr>
              <a:t>DECIDE</a:t>
            </a:r>
          </a:p>
        </p:txBody>
      </p:sp>
      <p:sp>
        <p:nvSpPr>
          <p:cNvPr id="49" name="TextBox 48"/>
          <p:cNvSpPr txBox="1"/>
          <p:nvPr/>
        </p:nvSpPr>
        <p:spPr>
          <a:xfrm>
            <a:off x="8595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Risk + Confidence</a:t>
            </a:r>
            <a:br/>
            <a:r>
              <a:t>+ Evidence weights</a:t>
            </a:r>
          </a:p>
        </p:txBody>
      </p:sp>
      <p:sp>
        <p:nvSpPr>
          <p:cNvPr id="50" name="Rounded Rectangle 49"/>
          <p:cNvSpPr/>
          <p:nvPr/>
        </p:nvSpPr>
        <p:spPr>
          <a:xfrm>
            <a:off x="9738360" y="2926080"/>
            <a:ext cx="1005840" cy="1645920"/>
          </a:xfrm>
          <a:prstGeom prst="roundRect">
            <a:avLst>
              <a:gd name="adj" fmla="val 4000"/>
            </a:avLst>
          </a:prstGeom>
          <a:solidFill>
            <a:srgbClr val="182234"/>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9738360" y="2926080"/>
            <a:ext cx="1005840" cy="32004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738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09</a:t>
            </a:r>
          </a:p>
        </p:txBody>
      </p:sp>
      <p:sp>
        <p:nvSpPr>
          <p:cNvPr id="53" name="TextBox 52"/>
          <p:cNvSpPr txBox="1"/>
          <p:nvPr/>
        </p:nvSpPr>
        <p:spPr>
          <a:xfrm>
            <a:off x="9738360" y="3337560"/>
            <a:ext cx="1005840" cy="274320"/>
          </a:xfrm>
          <a:prstGeom prst="rect">
            <a:avLst/>
          </a:prstGeom>
          <a:noFill/>
        </p:spPr>
        <p:txBody>
          <a:bodyPr wrap="square"/>
          <a:lstStyle/>
          <a:p>
            <a:pPr algn="ctr">
              <a:lnSpc>
                <a:spcPts val="1000"/>
              </a:lnSpc>
              <a:spcBef>
                <a:spcPts val="0"/>
              </a:spcBef>
              <a:spcAft>
                <a:spcPts val="0"/>
              </a:spcAft>
              <a:defRPr sz="900" b="1">
                <a:solidFill>
                  <a:srgbClr val="F59E0B"/>
                </a:solidFill>
                <a:latin typeface="Consolas"/>
              </a:defRPr>
            </a:pPr>
            <a:r>
              <a:rPr>
                <a:latin typeface="Consolas"/>
              </a:rPr>
              <a:t>ATTACK PATH</a:t>
            </a:r>
          </a:p>
        </p:txBody>
      </p:sp>
      <p:sp>
        <p:nvSpPr>
          <p:cNvPr id="54" name="TextBox 53"/>
          <p:cNvSpPr txBox="1"/>
          <p:nvPr/>
        </p:nvSpPr>
        <p:spPr>
          <a:xfrm>
            <a:off x="9738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Reconstruct</a:t>
            </a:r>
            <a:br/>
            <a:r>
              <a:t>observed chain</a:t>
            </a:r>
          </a:p>
        </p:txBody>
      </p:sp>
      <p:sp>
        <p:nvSpPr>
          <p:cNvPr id="55" name="Rounded Rectangle 54"/>
          <p:cNvSpPr/>
          <p:nvPr/>
        </p:nvSpPr>
        <p:spPr>
          <a:xfrm>
            <a:off x="10881360" y="2926080"/>
            <a:ext cx="1005840" cy="1645920"/>
          </a:xfrm>
          <a:prstGeom prst="roundRect">
            <a:avLst>
              <a:gd name="adj" fmla="val 4000"/>
            </a:avLst>
          </a:prstGeom>
          <a:solidFill>
            <a:srgbClr val="18223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10881360" y="2926080"/>
            <a:ext cx="1005840" cy="32004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881360" y="2953512"/>
            <a:ext cx="1005840" cy="27432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10</a:t>
            </a:r>
          </a:p>
        </p:txBody>
      </p:sp>
      <p:sp>
        <p:nvSpPr>
          <p:cNvPr id="58" name="TextBox 57"/>
          <p:cNvSpPr txBox="1"/>
          <p:nvPr/>
        </p:nvSpPr>
        <p:spPr>
          <a:xfrm>
            <a:off x="10881360" y="3337560"/>
            <a:ext cx="1005840" cy="274320"/>
          </a:xfrm>
          <a:prstGeom prst="rect">
            <a:avLst/>
          </a:prstGeom>
          <a:noFill/>
        </p:spPr>
        <p:txBody>
          <a:bodyPr wrap="square"/>
          <a:lstStyle/>
          <a:p>
            <a:pPr algn="ctr">
              <a:lnSpc>
                <a:spcPts val="1000"/>
              </a:lnSpc>
              <a:spcBef>
                <a:spcPts val="0"/>
              </a:spcBef>
              <a:spcAft>
                <a:spcPts val="0"/>
              </a:spcAft>
              <a:defRPr sz="900" b="1">
                <a:solidFill>
                  <a:srgbClr val="10B981"/>
                </a:solidFill>
                <a:latin typeface="Consolas"/>
              </a:defRPr>
            </a:pPr>
            <a:r>
              <a:rPr>
                <a:latin typeface="Consolas"/>
              </a:rPr>
              <a:t>REPORT</a:t>
            </a:r>
          </a:p>
        </p:txBody>
      </p:sp>
      <p:sp>
        <p:nvSpPr>
          <p:cNvPr id="59" name="TextBox 58"/>
          <p:cNvSpPr txBox="1"/>
          <p:nvPr/>
        </p:nvSpPr>
        <p:spPr>
          <a:xfrm>
            <a:off x="10881360" y="3657600"/>
            <a:ext cx="1005840" cy="731520"/>
          </a:xfrm>
          <a:prstGeom prst="rect">
            <a:avLst/>
          </a:prstGeom>
          <a:noFill/>
        </p:spPr>
        <p:txBody>
          <a:bodyPr wrap="square"/>
          <a:lstStyle/>
          <a:p>
            <a:pPr algn="ctr">
              <a:lnSpc>
                <a:spcPts val="900"/>
              </a:lnSpc>
              <a:spcBef>
                <a:spcPts val="0"/>
              </a:spcBef>
              <a:spcAft>
                <a:spcPts val="0"/>
              </a:spcAft>
              <a:defRPr sz="800" b="0">
                <a:solidFill>
                  <a:srgbClr val="94A3B8"/>
                </a:solidFill>
                <a:latin typeface="Calibri"/>
              </a:defRPr>
            </a:pPr>
            <a:r>
              <a:rPr>
                <a:latin typeface="Calibri"/>
              </a:rPr>
              <a:t>Forensic PDF</a:t>
            </a:r>
            <a:br/>
            <a:r>
              <a:t>with chain-of-custody</a:t>
            </a:r>
          </a:p>
        </p:txBody>
      </p:sp>
      <p:sp>
        <p:nvSpPr>
          <p:cNvPr id="60" name="Rounded Rectangle 59"/>
          <p:cNvSpPr/>
          <p:nvPr/>
        </p:nvSpPr>
        <p:spPr>
          <a:xfrm>
            <a:off x="731520" y="4846320"/>
            <a:ext cx="10698480" cy="146304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4937760"/>
            <a:ext cx="5029200" cy="228600"/>
          </a:xfrm>
          <a:prstGeom prst="rect">
            <a:avLst/>
          </a:prstGeom>
          <a:noFill/>
        </p:spPr>
        <p:txBody>
          <a:bodyPr wrap="square"/>
          <a:lstStyle/>
          <a:p>
            <a:pPr algn="l">
              <a:lnSpc>
                <a:spcPts val="1100"/>
              </a:lnSpc>
              <a:spcBef>
                <a:spcPts val="0"/>
              </a:spcBef>
              <a:spcAft>
                <a:spcPts val="0"/>
              </a:spcAft>
              <a:defRPr sz="1000" b="1">
                <a:solidFill>
                  <a:srgbClr val="EF4444"/>
                </a:solidFill>
                <a:latin typeface="Consolas"/>
              </a:defRPr>
            </a:pPr>
            <a:r>
              <a:rPr>
                <a:latin typeface="Consolas"/>
              </a:rPr>
              <a:t>EXPECTED FINDINGS</a:t>
            </a:r>
          </a:p>
        </p:txBody>
      </p:sp>
      <p:sp>
        <p:nvSpPr>
          <p:cNvPr id="62" name="TextBox 61"/>
          <p:cNvSpPr txBox="1"/>
          <p:nvPr/>
        </p:nvSpPr>
        <p:spPr>
          <a:xfrm>
            <a:off x="914400" y="5257800"/>
            <a:ext cx="1828800" cy="201168"/>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Threat Classification</a:t>
            </a:r>
          </a:p>
        </p:txBody>
      </p:sp>
      <p:sp>
        <p:nvSpPr>
          <p:cNvPr id="63" name="TextBox 62"/>
          <p:cNvSpPr txBox="1"/>
          <p:nvPr/>
        </p:nvSpPr>
        <p:spPr>
          <a:xfrm>
            <a:off x="2743200" y="5257800"/>
            <a:ext cx="2743200" cy="201168"/>
          </a:xfrm>
          <a:prstGeom prst="rect">
            <a:avLst/>
          </a:prstGeom>
          <a:noFill/>
        </p:spPr>
        <p:txBody>
          <a:bodyPr wrap="square"/>
          <a:lstStyle/>
          <a:p>
            <a:pPr algn="l">
              <a:lnSpc>
                <a:spcPts val="1000"/>
              </a:lnSpc>
              <a:spcBef>
                <a:spcPts val="0"/>
              </a:spcBef>
              <a:spcAft>
                <a:spcPts val="0"/>
              </a:spcAft>
              <a:defRPr sz="900" b="1">
                <a:solidFill>
                  <a:srgbClr val="F1F5F9"/>
                </a:solidFill>
                <a:latin typeface="Calibri"/>
              </a:defRPr>
            </a:pPr>
            <a:r>
              <a:rPr>
                <a:latin typeface="Calibri"/>
              </a:rPr>
              <a:t>BEC — Executive Impersonation</a:t>
            </a:r>
          </a:p>
        </p:txBody>
      </p:sp>
      <p:sp>
        <p:nvSpPr>
          <p:cNvPr id="64" name="TextBox 63"/>
          <p:cNvSpPr txBox="1"/>
          <p:nvPr/>
        </p:nvSpPr>
        <p:spPr>
          <a:xfrm>
            <a:off x="914400" y="5486400"/>
            <a:ext cx="1828800" cy="201168"/>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Risk Score</a:t>
            </a:r>
          </a:p>
        </p:txBody>
      </p:sp>
      <p:sp>
        <p:nvSpPr>
          <p:cNvPr id="65" name="TextBox 64"/>
          <p:cNvSpPr txBox="1"/>
          <p:nvPr/>
        </p:nvSpPr>
        <p:spPr>
          <a:xfrm>
            <a:off x="2743200" y="5486400"/>
            <a:ext cx="2743200" cy="201168"/>
          </a:xfrm>
          <a:prstGeom prst="rect">
            <a:avLst/>
          </a:prstGeom>
          <a:noFill/>
        </p:spPr>
        <p:txBody>
          <a:bodyPr wrap="square"/>
          <a:lstStyle/>
          <a:p>
            <a:pPr algn="l">
              <a:lnSpc>
                <a:spcPts val="1000"/>
              </a:lnSpc>
              <a:spcBef>
                <a:spcPts val="0"/>
              </a:spcBef>
              <a:spcAft>
                <a:spcPts val="0"/>
              </a:spcAft>
              <a:defRPr sz="900" b="1">
                <a:solidFill>
                  <a:srgbClr val="F1F5F9"/>
                </a:solidFill>
                <a:latin typeface="Calibri"/>
              </a:defRPr>
            </a:pPr>
            <a:r>
              <a:rPr>
                <a:latin typeface="Calibri"/>
              </a:rPr>
              <a:t>91/100 (Critical)</a:t>
            </a:r>
          </a:p>
        </p:txBody>
      </p:sp>
      <p:sp>
        <p:nvSpPr>
          <p:cNvPr id="66" name="TextBox 65"/>
          <p:cNvSpPr txBox="1"/>
          <p:nvPr/>
        </p:nvSpPr>
        <p:spPr>
          <a:xfrm>
            <a:off x="914400" y="5715000"/>
            <a:ext cx="1828800" cy="201168"/>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Identity Consistency</a:t>
            </a:r>
          </a:p>
        </p:txBody>
      </p:sp>
      <p:sp>
        <p:nvSpPr>
          <p:cNvPr id="67" name="TextBox 66"/>
          <p:cNvSpPr txBox="1"/>
          <p:nvPr/>
        </p:nvSpPr>
        <p:spPr>
          <a:xfrm>
            <a:off x="2743200" y="5715000"/>
            <a:ext cx="2743200" cy="201168"/>
          </a:xfrm>
          <a:prstGeom prst="rect">
            <a:avLst/>
          </a:prstGeom>
          <a:noFill/>
        </p:spPr>
        <p:txBody>
          <a:bodyPr wrap="square"/>
          <a:lstStyle/>
          <a:p>
            <a:pPr algn="l">
              <a:lnSpc>
                <a:spcPts val="1000"/>
              </a:lnSpc>
              <a:spcBef>
                <a:spcPts val="0"/>
              </a:spcBef>
              <a:spcAft>
                <a:spcPts val="0"/>
              </a:spcAft>
              <a:defRPr sz="900" b="1">
                <a:solidFill>
                  <a:srgbClr val="F1F5F9"/>
                </a:solidFill>
                <a:latin typeface="Calibri"/>
              </a:defRPr>
            </a:pPr>
            <a:r>
              <a:rPr>
                <a:latin typeface="Calibri"/>
              </a:rPr>
              <a:t>34/100 (High Contradiction)</a:t>
            </a:r>
          </a:p>
        </p:txBody>
      </p:sp>
      <p:sp>
        <p:nvSpPr>
          <p:cNvPr id="68" name="TextBox 67"/>
          <p:cNvSpPr txBox="1"/>
          <p:nvPr/>
        </p:nvSpPr>
        <p:spPr>
          <a:xfrm>
            <a:off x="914400" y="5943600"/>
            <a:ext cx="1828800" cy="201168"/>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Campaign</a:t>
            </a:r>
          </a:p>
        </p:txBody>
      </p:sp>
      <p:sp>
        <p:nvSpPr>
          <p:cNvPr id="69" name="TextBox 68"/>
          <p:cNvSpPr txBox="1"/>
          <p:nvPr/>
        </p:nvSpPr>
        <p:spPr>
          <a:xfrm>
            <a:off x="2743200" y="5943600"/>
            <a:ext cx="2743200" cy="201168"/>
          </a:xfrm>
          <a:prstGeom prst="rect">
            <a:avLst/>
          </a:prstGeom>
          <a:noFill/>
        </p:spPr>
        <p:txBody>
          <a:bodyPr wrap="square"/>
          <a:lstStyle/>
          <a:p>
            <a:pPr algn="l">
              <a:lnSpc>
                <a:spcPts val="1000"/>
              </a:lnSpc>
              <a:spcBef>
                <a:spcPts val="0"/>
              </a:spcBef>
              <a:spcAft>
                <a:spcPts val="0"/>
              </a:spcAft>
              <a:defRPr sz="900" b="1">
                <a:solidFill>
                  <a:srgbClr val="F1F5F9"/>
                </a:solidFill>
                <a:latin typeface="Calibri"/>
              </a:defRPr>
            </a:pPr>
            <a:r>
              <a:rPr>
                <a:latin typeface="Calibri"/>
              </a:rPr>
              <a:t>Cluster #17 — 3 related emails</a:t>
            </a:r>
          </a:p>
        </p:txBody>
      </p:sp>
      <p:sp>
        <p:nvSpPr>
          <p:cNvPr id="70" name="TextBox 69"/>
          <p:cNvSpPr txBox="1"/>
          <p:nvPr/>
        </p:nvSpPr>
        <p:spPr>
          <a:xfrm>
            <a:off x="5943600" y="5257800"/>
            <a:ext cx="1371600" cy="201168"/>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Contradictions</a:t>
            </a:r>
          </a:p>
        </p:txBody>
      </p:sp>
      <p:sp>
        <p:nvSpPr>
          <p:cNvPr id="71" name="TextBox 70"/>
          <p:cNvSpPr txBox="1"/>
          <p:nvPr/>
        </p:nvSpPr>
        <p:spPr>
          <a:xfrm>
            <a:off x="7315200" y="5257800"/>
            <a:ext cx="3931920" cy="201168"/>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Reply-To mismatch, Lookalike domain, Executive impersonation, Bulletproof VPS</a:t>
            </a:r>
          </a:p>
        </p:txBody>
      </p:sp>
      <p:sp>
        <p:nvSpPr>
          <p:cNvPr id="72" name="TextBox 71"/>
          <p:cNvSpPr txBox="1"/>
          <p:nvPr/>
        </p:nvSpPr>
        <p:spPr>
          <a:xfrm>
            <a:off x="5943600" y="5486400"/>
            <a:ext cx="1371600" cy="201168"/>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Infrastructure</a:t>
            </a:r>
          </a:p>
        </p:txBody>
      </p:sp>
      <p:sp>
        <p:nvSpPr>
          <p:cNvPr id="73" name="TextBox 72"/>
          <p:cNvSpPr txBox="1"/>
          <p:nvPr/>
        </p:nvSpPr>
        <p:spPr>
          <a:xfrm>
            <a:off x="7315200" y="5486400"/>
            <a:ext cx="3931920" cy="201168"/>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185.220.101.5 (AS49453 CyberBunker) -&gt; acme-corp.co -&gt; wire-verif.biz</a:t>
            </a:r>
          </a:p>
        </p:txBody>
      </p:sp>
      <p:sp>
        <p:nvSpPr>
          <p:cNvPr id="74" name="TextBox 73"/>
          <p:cNvSpPr txBox="1"/>
          <p:nvPr/>
        </p:nvSpPr>
        <p:spPr>
          <a:xfrm>
            <a:off x="5943600" y="5715000"/>
            <a:ext cx="1371600" cy="201168"/>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Authentication</a:t>
            </a:r>
          </a:p>
        </p:txBody>
      </p:sp>
      <p:sp>
        <p:nvSpPr>
          <p:cNvPr id="75" name="TextBox 74"/>
          <p:cNvSpPr txBox="1"/>
          <p:nvPr/>
        </p:nvSpPr>
        <p:spPr>
          <a:xfrm>
            <a:off x="7315200" y="5715000"/>
            <a:ext cx="3931920" cy="201168"/>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SPF PASS (soft-aligned) | DKIM PASS (third-party) | DMARC NONE (p=none policy exploited)</a:t>
            </a:r>
          </a:p>
        </p:txBody>
      </p:sp>
      <p:sp>
        <p:nvSpPr>
          <p:cNvPr id="76" name="TextBox 75"/>
          <p:cNvSpPr txBox="1"/>
          <p:nvPr/>
        </p:nvSpPr>
        <p:spPr>
          <a:xfrm>
            <a:off x="5943600" y="5943600"/>
            <a:ext cx="1371600" cy="201168"/>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Confidence</a:t>
            </a:r>
          </a:p>
        </p:txBody>
      </p:sp>
      <p:sp>
        <p:nvSpPr>
          <p:cNvPr id="77" name="TextBox 76"/>
          <p:cNvSpPr txBox="1"/>
          <p:nvPr/>
        </p:nvSpPr>
        <p:spPr>
          <a:xfrm>
            <a:off x="7315200" y="5943600"/>
            <a:ext cx="3931920" cy="201168"/>
          </a:xfrm>
          <a:prstGeom prst="rect">
            <a:avLst/>
          </a:prstGeom>
          <a:noFill/>
        </p:spPr>
        <p:txBody>
          <a:bodyPr wrap="square"/>
          <a:lstStyle/>
          <a:p>
            <a:pPr algn="l">
              <a:lnSpc>
                <a:spcPts val="1000"/>
              </a:lnSpc>
              <a:spcBef>
                <a:spcPts val="0"/>
              </a:spcBef>
              <a:spcAft>
                <a:spcPts val="0"/>
              </a:spcAft>
              <a:defRPr sz="900" b="0">
                <a:solidFill>
                  <a:srgbClr val="F1F5F9"/>
                </a:solidFill>
                <a:latin typeface="Calibri"/>
              </a:defRPr>
            </a:pPr>
            <a:r>
              <a:rPr>
                <a:latin typeface="Calibri"/>
              </a:rPr>
              <a:t>Model: 89.4% | Evidence: 87.1% | Non-Repudiation: Assured</a:t>
            </a:r>
          </a:p>
        </p:txBody>
      </p:sp>
      <p:sp>
        <p:nvSpPr>
          <p:cNvPr id="78" name="TextBox 77"/>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15/19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Expected Impact</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Measurable benefits for cybersecurity investigation</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5212080" cy="1417320"/>
          </a:xfrm>
          <a:prstGeom prst="roundRect">
            <a:avLst>
              <a:gd name="adj" fmla="val 4000"/>
            </a:avLst>
          </a:prstGeom>
          <a:solidFill>
            <a:srgbClr val="10162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554480"/>
            <a:ext cx="54864" cy="141732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4846320" cy="320040"/>
          </a:xfrm>
          <a:prstGeom prst="rect">
            <a:avLst/>
          </a:prstGeom>
          <a:noFill/>
        </p:spPr>
        <p:txBody>
          <a:bodyPr wrap="square"/>
          <a:lstStyle/>
          <a:p>
            <a:pPr algn="l">
              <a:lnSpc>
                <a:spcPts val="1800"/>
              </a:lnSpc>
              <a:spcBef>
                <a:spcPts val="0"/>
              </a:spcBef>
              <a:spcAft>
                <a:spcPts val="0"/>
              </a:spcAft>
              <a:defRPr sz="1600" b="1">
                <a:solidFill>
                  <a:srgbClr val="06B6D4"/>
                </a:solidFill>
                <a:latin typeface="Calibri"/>
              </a:defRPr>
            </a:pPr>
            <a:r>
              <a:rPr>
                <a:latin typeface="Calibri"/>
              </a:rPr>
              <a:t>Faster Investigation</a:t>
            </a:r>
          </a:p>
        </p:txBody>
      </p:sp>
      <p:sp>
        <p:nvSpPr>
          <p:cNvPr id="10" name="TextBox 9"/>
          <p:cNvSpPr txBox="1"/>
          <p:nvPr/>
        </p:nvSpPr>
        <p:spPr>
          <a:xfrm>
            <a:off x="914400" y="2057400"/>
            <a:ext cx="4846320" cy="822960"/>
          </a:xfrm>
          <a:prstGeom prst="rect">
            <a:avLst/>
          </a:prstGeom>
          <a:noFill/>
        </p:spPr>
        <p:txBody>
          <a:bodyPr wrap="square"/>
          <a:lstStyle/>
          <a:p>
            <a:pPr algn="l">
              <a:lnSpc>
                <a:spcPts val="1300"/>
              </a:lnSpc>
              <a:spcBef>
                <a:spcPts val="0"/>
              </a:spcBef>
              <a:spcAft>
                <a:spcPts val="0"/>
              </a:spcAft>
              <a:defRPr sz="1200" b="0">
                <a:solidFill>
                  <a:srgbClr val="94A3B8"/>
                </a:solidFill>
                <a:latin typeface="Calibri"/>
              </a:defRPr>
            </a:pPr>
            <a:r>
              <a:rPr>
                <a:latin typeface="Calibri"/>
              </a:rPr>
              <a:t>Reduces email forensic analysis from hours/days to minutes. Automated evidence extraction, normalization, and correlation accelerate triage.</a:t>
            </a:r>
          </a:p>
        </p:txBody>
      </p:sp>
      <p:sp>
        <p:nvSpPr>
          <p:cNvPr id="11" name="Rounded Rectangle 10"/>
          <p:cNvSpPr/>
          <p:nvPr/>
        </p:nvSpPr>
        <p:spPr>
          <a:xfrm>
            <a:off x="6217920" y="1554480"/>
            <a:ext cx="5212080" cy="1417320"/>
          </a:xfrm>
          <a:prstGeom prst="roundRect">
            <a:avLst>
              <a:gd name="adj" fmla="val 4000"/>
            </a:avLst>
          </a:prstGeom>
          <a:solidFill>
            <a:srgbClr val="10162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554480"/>
            <a:ext cx="54864" cy="1417320"/>
          </a:xfrm>
          <a:prstGeom prst="roundRect">
            <a:avLst>
              <a:gd name="adj" fmla="val 4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645920"/>
            <a:ext cx="4846320" cy="320040"/>
          </a:xfrm>
          <a:prstGeom prst="rect">
            <a:avLst/>
          </a:prstGeom>
          <a:noFill/>
        </p:spPr>
        <p:txBody>
          <a:bodyPr wrap="square"/>
          <a:lstStyle/>
          <a:p>
            <a:pPr algn="l">
              <a:lnSpc>
                <a:spcPts val="1800"/>
              </a:lnSpc>
              <a:spcBef>
                <a:spcPts val="0"/>
              </a:spcBef>
              <a:spcAft>
                <a:spcPts val="0"/>
              </a:spcAft>
              <a:defRPr sz="1600" b="1">
                <a:solidFill>
                  <a:srgbClr val="3B82F6"/>
                </a:solidFill>
                <a:latin typeface="Calibri"/>
              </a:defRPr>
            </a:pPr>
            <a:r>
              <a:rPr>
                <a:latin typeface="Calibri"/>
              </a:rPr>
              <a:t>Campaign Discovery</a:t>
            </a:r>
          </a:p>
        </p:txBody>
      </p:sp>
      <p:sp>
        <p:nvSpPr>
          <p:cNvPr id="14" name="TextBox 13"/>
          <p:cNvSpPr txBox="1"/>
          <p:nvPr/>
        </p:nvSpPr>
        <p:spPr>
          <a:xfrm>
            <a:off x="6400800" y="2057400"/>
            <a:ext cx="4846320" cy="822960"/>
          </a:xfrm>
          <a:prstGeom prst="rect">
            <a:avLst/>
          </a:prstGeom>
          <a:noFill/>
        </p:spPr>
        <p:txBody>
          <a:bodyPr wrap="square"/>
          <a:lstStyle/>
          <a:p>
            <a:pPr algn="l">
              <a:lnSpc>
                <a:spcPts val="1300"/>
              </a:lnSpc>
              <a:spcBef>
                <a:spcPts val="0"/>
              </a:spcBef>
              <a:spcAft>
                <a:spcPts val="0"/>
              </a:spcAft>
              <a:defRPr sz="1200" b="0">
                <a:solidFill>
                  <a:srgbClr val="94A3B8"/>
                </a:solidFill>
                <a:latin typeface="Calibri"/>
              </a:defRPr>
            </a:pPr>
            <a:r>
              <a:rPr>
                <a:latin typeface="Calibri"/>
              </a:rPr>
              <a:t>Transforms single-email classification into campaign-level intelligence. Detects coordinated attacks across multiple incidents.</a:t>
            </a:r>
          </a:p>
        </p:txBody>
      </p:sp>
      <p:sp>
        <p:nvSpPr>
          <p:cNvPr id="15" name="Rounded Rectangle 14"/>
          <p:cNvSpPr/>
          <p:nvPr/>
        </p:nvSpPr>
        <p:spPr>
          <a:xfrm>
            <a:off x="731520" y="3200400"/>
            <a:ext cx="5212080" cy="1417320"/>
          </a:xfrm>
          <a:prstGeom prst="roundRect">
            <a:avLst>
              <a:gd name="adj" fmla="val 4000"/>
            </a:avLst>
          </a:prstGeom>
          <a:solidFill>
            <a:srgbClr val="1016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3200400"/>
            <a:ext cx="54864" cy="141732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291840"/>
            <a:ext cx="4846320" cy="320040"/>
          </a:xfrm>
          <a:prstGeom prst="rect">
            <a:avLst/>
          </a:prstGeom>
          <a:noFill/>
        </p:spPr>
        <p:txBody>
          <a:bodyPr wrap="square"/>
          <a:lstStyle/>
          <a:p>
            <a:pPr algn="l">
              <a:lnSpc>
                <a:spcPts val="1800"/>
              </a:lnSpc>
              <a:spcBef>
                <a:spcPts val="0"/>
              </a:spcBef>
              <a:spcAft>
                <a:spcPts val="0"/>
              </a:spcAft>
              <a:defRPr sz="1600" b="1">
                <a:solidFill>
                  <a:srgbClr val="10B981"/>
                </a:solidFill>
                <a:latin typeface="Calibri"/>
              </a:defRPr>
            </a:pPr>
            <a:r>
              <a:rPr>
                <a:latin typeface="Calibri"/>
              </a:rPr>
              <a:t>Evidence Defensibility</a:t>
            </a:r>
          </a:p>
        </p:txBody>
      </p:sp>
      <p:sp>
        <p:nvSpPr>
          <p:cNvPr id="18" name="TextBox 17"/>
          <p:cNvSpPr txBox="1"/>
          <p:nvPr/>
        </p:nvSpPr>
        <p:spPr>
          <a:xfrm>
            <a:off x="914400" y="3703320"/>
            <a:ext cx="4846320" cy="822960"/>
          </a:xfrm>
          <a:prstGeom prst="rect">
            <a:avLst/>
          </a:prstGeom>
          <a:noFill/>
        </p:spPr>
        <p:txBody>
          <a:bodyPr wrap="square"/>
          <a:lstStyle/>
          <a:p>
            <a:pPr algn="l">
              <a:lnSpc>
                <a:spcPts val="1300"/>
              </a:lnSpc>
              <a:spcBef>
                <a:spcPts val="0"/>
              </a:spcBef>
              <a:spcAft>
                <a:spcPts val="0"/>
              </a:spcAft>
              <a:defRPr sz="1200" b="0">
                <a:solidFill>
                  <a:srgbClr val="94A3B8"/>
                </a:solidFill>
                <a:latin typeface="Calibri"/>
              </a:defRPr>
            </a:pPr>
            <a:r>
              <a:rPr>
                <a:latin typeface="Calibri"/>
              </a:rPr>
              <a:t>Forensic-grade evidence with chain-of-custody, SHA-256 integrity, and provenance tracking. Legally defensible for prosecution.</a:t>
            </a:r>
          </a:p>
        </p:txBody>
      </p:sp>
      <p:sp>
        <p:nvSpPr>
          <p:cNvPr id="19" name="Rounded Rectangle 18"/>
          <p:cNvSpPr/>
          <p:nvPr/>
        </p:nvSpPr>
        <p:spPr>
          <a:xfrm>
            <a:off x="6217920" y="3200400"/>
            <a:ext cx="5212080" cy="1417320"/>
          </a:xfrm>
          <a:prstGeom prst="roundRect">
            <a:avLst>
              <a:gd name="adj" fmla="val 4000"/>
            </a:avLst>
          </a:prstGeom>
          <a:solidFill>
            <a:srgbClr val="1016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217920" y="3200400"/>
            <a:ext cx="54864" cy="141732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3291840"/>
            <a:ext cx="4846320" cy="320040"/>
          </a:xfrm>
          <a:prstGeom prst="rect">
            <a:avLst/>
          </a:prstGeom>
          <a:noFill/>
        </p:spPr>
        <p:txBody>
          <a:bodyPr wrap="square"/>
          <a:lstStyle/>
          <a:p>
            <a:pPr algn="l">
              <a:lnSpc>
                <a:spcPts val="1800"/>
              </a:lnSpc>
              <a:spcBef>
                <a:spcPts val="0"/>
              </a:spcBef>
              <a:spcAft>
                <a:spcPts val="0"/>
              </a:spcAft>
              <a:defRPr sz="1600" b="1">
                <a:solidFill>
                  <a:srgbClr val="F59E0B"/>
                </a:solidFill>
                <a:latin typeface="Calibri"/>
              </a:defRPr>
            </a:pPr>
            <a:r>
              <a:rPr>
                <a:latin typeface="Calibri"/>
              </a:rPr>
              <a:t>Reduced False Positives</a:t>
            </a:r>
          </a:p>
        </p:txBody>
      </p:sp>
      <p:sp>
        <p:nvSpPr>
          <p:cNvPr id="22" name="TextBox 21"/>
          <p:cNvSpPr txBox="1"/>
          <p:nvPr/>
        </p:nvSpPr>
        <p:spPr>
          <a:xfrm>
            <a:off x="6400800" y="3703320"/>
            <a:ext cx="4846320" cy="822960"/>
          </a:xfrm>
          <a:prstGeom prst="rect">
            <a:avLst/>
          </a:prstGeom>
          <a:noFill/>
        </p:spPr>
        <p:txBody>
          <a:bodyPr wrap="square"/>
          <a:lstStyle/>
          <a:p>
            <a:pPr algn="l">
              <a:lnSpc>
                <a:spcPts val="1300"/>
              </a:lnSpc>
              <a:spcBef>
                <a:spcPts val="0"/>
              </a:spcBef>
              <a:spcAft>
                <a:spcPts val="0"/>
              </a:spcAft>
              <a:defRPr sz="1200" b="0">
                <a:solidFill>
                  <a:srgbClr val="94A3B8"/>
                </a:solidFill>
                <a:latin typeface="Calibri"/>
              </a:defRPr>
            </a:pPr>
            <a:r>
              <a:rPr>
                <a:latin typeface="Calibri"/>
              </a:rPr>
              <a:t>Multi-evidence decision engine with explainable reasoning reduces false positive alerts. Analysts can verify every finding.</a:t>
            </a:r>
          </a:p>
        </p:txBody>
      </p:sp>
      <p:sp>
        <p:nvSpPr>
          <p:cNvPr id="23" name="Rounded Rectangle 22"/>
          <p:cNvSpPr/>
          <p:nvPr/>
        </p:nvSpPr>
        <p:spPr>
          <a:xfrm>
            <a:off x="731520" y="4846320"/>
            <a:ext cx="5212080" cy="1417320"/>
          </a:xfrm>
          <a:prstGeom prst="roundRect">
            <a:avLst>
              <a:gd name="adj" fmla="val 4000"/>
            </a:avLst>
          </a:prstGeom>
          <a:solidFill>
            <a:srgbClr val="10162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1520" y="4846320"/>
            <a:ext cx="54864" cy="1417320"/>
          </a:xfrm>
          <a:prstGeom prst="roundRect">
            <a:avLst>
              <a:gd name="adj" fmla="val 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937760"/>
            <a:ext cx="4846320" cy="320040"/>
          </a:xfrm>
          <a:prstGeom prst="rect">
            <a:avLst/>
          </a:prstGeom>
          <a:noFill/>
        </p:spPr>
        <p:txBody>
          <a:bodyPr wrap="square"/>
          <a:lstStyle/>
          <a:p>
            <a:pPr algn="l">
              <a:lnSpc>
                <a:spcPts val="1800"/>
              </a:lnSpc>
              <a:spcBef>
                <a:spcPts val="0"/>
              </a:spcBef>
              <a:spcAft>
                <a:spcPts val="0"/>
              </a:spcAft>
              <a:defRPr sz="1600" b="1">
                <a:solidFill>
                  <a:srgbClr val="EF4444"/>
                </a:solidFill>
                <a:latin typeface="Calibri"/>
              </a:defRPr>
            </a:pPr>
            <a:r>
              <a:rPr>
                <a:latin typeface="Calibri"/>
              </a:rPr>
              <a:t>Cross-Case Intelligence</a:t>
            </a:r>
          </a:p>
        </p:txBody>
      </p:sp>
      <p:sp>
        <p:nvSpPr>
          <p:cNvPr id="26" name="TextBox 25"/>
          <p:cNvSpPr txBox="1"/>
          <p:nvPr/>
        </p:nvSpPr>
        <p:spPr>
          <a:xfrm>
            <a:off x="914400" y="5349240"/>
            <a:ext cx="4846320" cy="822960"/>
          </a:xfrm>
          <a:prstGeom prst="rect">
            <a:avLst/>
          </a:prstGeom>
          <a:noFill/>
        </p:spPr>
        <p:txBody>
          <a:bodyPr wrap="square"/>
          <a:lstStyle/>
          <a:p>
            <a:pPr algn="l">
              <a:lnSpc>
                <a:spcPts val="1300"/>
              </a:lnSpc>
              <a:spcBef>
                <a:spcPts val="0"/>
              </a:spcBef>
              <a:spcAft>
                <a:spcPts val="0"/>
              </a:spcAft>
              <a:defRPr sz="1200" b="0">
                <a:solidFill>
                  <a:srgbClr val="94A3B8"/>
                </a:solidFill>
                <a:latin typeface="Calibri"/>
              </a:defRPr>
            </a:pPr>
            <a:r>
              <a:rPr>
                <a:latin typeface="Calibri"/>
              </a:rPr>
              <a:t>Graph-based correlation discovers related incidents, shared infrastructure, and threat campaigns across the organization's case history.</a:t>
            </a:r>
          </a:p>
        </p:txBody>
      </p:sp>
      <p:sp>
        <p:nvSpPr>
          <p:cNvPr id="27" name="Rounded Rectangle 26"/>
          <p:cNvSpPr/>
          <p:nvPr/>
        </p:nvSpPr>
        <p:spPr>
          <a:xfrm>
            <a:off x="6217920" y="4846320"/>
            <a:ext cx="5212080" cy="1417320"/>
          </a:xfrm>
          <a:prstGeom prst="roundRect">
            <a:avLst>
              <a:gd name="adj" fmla="val 4000"/>
            </a:avLst>
          </a:prstGeom>
          <a:solidFill>
            <a:srgbClr val="101622"/>
          </a:solidFill>
          <a:ln w="12700">
            <a:solidFill>
              <a:srgbClr val="AC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17920" y="4846320"/>
            <a:ext cx="54864" cy="1417320"/>
          </a:xfrm>
          <a:prstGeom prst="roundRect">
            <a:avLst>
              <a:gd name="adj" fmla="val 4000"/>
            </a:avLst>
          </a:prstGeom>
          <a:solidFill>
            <a:srgbClr val="ACED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4937760"/>
            <a:ext cx="4846320" cy="320040"/>
          </a:xfrm>
          <a:prstGeom prst="rect">
            <a:avLst/>
          </a:prstGeom>
          <a:noFill/>
        </p:spPr>
        <p:txBody>
          <a:bodyPr wrap="square"/>
          <a:lstStyle/>
          <a:p>
            <a:pPr algn="l">
              <a:lnSpc>
                <a:spcPts val="1800"/>
              </a:lnSpc>
              <a:spcBef>
                <a:spcPts val="0"/>
              </a:spcBef>
              <a:spcAft>
                <a:spcPts val="0"/>
              </a:spcAft>
              <a:defRPr sz="1600" b="1">
                <a:solidFill>
                  <a:srgbClr val="ACEDFF"/>
                </a:solidFill>
                <a:latin typeface="Calibri"/>
              </a:defRPr>
            </a:pPr>
            <a:r>
              <a:rPr>
                <a:latin typeface="Calibri"/>
              </a:rPr>
              <a:t>Operational Efficiency</a:t>
            </a:r>
          </a:p>
        </p:txBody>
      </p:sp>
      <p:sp>
        <p:nvSpPr>
          <p:cNvPr id="30" name="TextBox 29"/>
          <p:cNvSpPr txBox="1"/>
          <p:nvPr/>
        </p:nvSpPr>
        <p:spPr>
          <a:xfrm>
            <a:off x="6400800" y="5349240"/>
            <a:ext cx="4846320" cy="822960"/>
          </a:xfrm>
          <a:prstGeom prst="rect">
            <a:avLst/>
          </a:prstGeom>
          <a:noFill/>
        </p:spPr>
        <p:txBody>
          <a:bodyPr wrap="square"/>
          <a:lstStyle/>
          <a:p>
            <a:pPr algn="l">
              <a:lnSpc>
                <a:spcPts val="1300"/>
              </a:lnSpc>
              <a:spcBef>
                <a:spcPts val="0"/>
              </a:spcBef>
              <a:spcAft>
                <a:spcPts val="0"/>
              </a:spcAft>
              <a:defRPr sz="1200" b="0">
                <a:solidFill>
                  <a:srgbClr val="94A3B8"/>
                </a:solidFill>
                <a:latin typeface="Calibri"/>
              </a:defRPr>
            </a:pPr>
            <a:r>
              <a:rPr>
                <a:latin typeface="Calibri"/>
              </a:rPr>
              <a:t>Single platform replacing fragmented tools. Investigative workbench with graph, map, timeline, and report generation in one interface.</a:t>
            </a:r>
          </a:p>
        </p:txBody>
      </p:sp>
      <p:sp>
        <p:nvSpPr>
          <p:cNvPr id="31" name="TextBox 30"/>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16/19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Scalability &amp; Future Scope</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Platform evolution roadmap</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3383280" cy="4663440"/>
          </a:xfrm>
          <a:prstGeom prst="roundRect">
            <a:avLst>
              <a:gd name="adj" fmla="val 4000"/>
            </a:avLst>
          </a:prstGeom>
          <a:solidFill>
            <a:srgbClr val="101622"/>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1554480"/>
            <a:ext cx="3383280" cy="457200"/>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00200"/>
            <a:ext cx="3383280" cy="36576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PHASE 1: MVP (Hackathon)</a:t>
            </a:r>
          </a:p>
        </p:txBody>
      </p:sp>
      <p:sp>
        <p:nvSpPr>
          <p:cNvPr id="10" name="TextBox 9"/>
          <p:cNvSpPr txBox="1"/>
          <p:nvPr/>
        </p:nvSpPr>
        <p:spPr>
          <a:xfrm>
            <a:off x="914400" y="219456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Email ingestion &amp; MIME parsing</a:t>
            </a:r>
          </a:p>
        </p:txBody>
      </p:sp>
      <p:sp>
        <p:nvSpPr>
          <p:cNvPr id="11" name="TextBox 10"/>
          <p:cNvSpPr txBox="1"/>
          <p:nvPr/>
        </p:nvSpPr>
        <p:spPr>
          <a:xfrm>
            <a:off x="914400" y="251460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SPF/DKIM/DMARC analysis</a:t>
            </a:r>
          </a:p>
        </p:txBody>
      </p:sp>
      <p:sp>
        <p:nvSpPr>
          <p:cNvPr id="12" name="TextBox 11"/>
          <p:cNvSpPr txBox="1"/>
          <p:nvPr/>
        </p:nvSpPr>
        <p:spPr>
          <a:xfrm>
            <a:off x="914400" y="283463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Identity contradiction detection</a:t>
            </a:r>
          </a:p>
        </p:txBody>
      </p:sp>
      <p:sp>
        <p:nvSpPr>
          <p:cNvPr id="13" name="TextBox 12"/>
          <p:cNvSpPr txBox="1"/>
          <p:nvPr/>
        </p:nvSpPr>
        <p:spPr>
          <a:xfrm>
            <a:off x="914400" y="315467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IP/ASN/GeoIP profiling</a:t>
            </a:r>
          </a:p>
        </p:txBody>
      </p:sp>
      <p:sp>
        <p:nvSpPr>
          <p:cNvPr id="14" name="TextBox 13"/>
          <p:cNvSpPr txBox="1"/>
          <p:nvPr/>
        </p:nvSpPr>
        <p:spPr>
          <a:xfrm>
            <a:off x="914400" y="347472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NLP-based BEC detection</a:t>
            </a:r>
          </a:p>
        </p:txBody>
      </p:sp>
      <p:sp>
        <p:nvSpPr>
          <p:cNvPr id="15" name="TextBox 14"/>
          <p:cNvSpPr txBox="1"/>
          <p:nvPr/>
        </p:nvSpPr>
        <p:spPr>
          <a:xfrm>
            <a:off x="914400" y="379476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XGBoost structured classification</a:t>
            </a:r>
          </a:p>
        </p:txBody>
      </p:sp>
      <p:sp>
        <p:nvSpPr>
          <p:cNvPr id="16" name="TextBox 15"/>
          <p:cNvSpPr txBox="1"/>
          <p:nvPr/>
        </p:nvSpPr>
        <p:spPr>
          <a:xfrm>
            <a:off x="914400" y="411480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Neo4j graph construction</a:t>
            </a:r>
          </a:p>
        </p:txBody>
      </p:sp>
      <p:sp>
        <p:nvSpPr>
          <p:cNvPr id="17" name="TextBox 16"/>
          <p:cNvSpPr txBox="1"/>
          <p:nvPr/>
        </p:nvSpPr>
        <p:spPr>
          <a:xfrm>
            <a:off x="914400" y="443484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Investigation dashboard UI</a:t>
            </a:r>
          </a:p>
        </p:txBody>
      </p:sp>
      <p:sp>
        <p:nvSpPr>
          <p:cNvPr id="18" name="TextBox 17"/>
          <p:cNvSpPr txBox="1"/>
          <p:nvPr/>
        </p:nvSpPr>
        <p:spPr>
          <a:xfrm>
            <a:off x="914400" y="475487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Forensic PDF report generation</a:t>
            </a:r>
          </a:p>
        </p:txBody>
      </p:sp>
      <p:sp>
        <p:nvSpPr>
          <p:cNvPr id="19" name="TextBox 18"/>
          <p:cNvSpPr txBox="1"/>
          <p:nvPr/>
        </p:nvSpPr>
        <p:spPr>
          <a:xfrm>
            <a:off x="914400" y="507492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Case management basics</a:t>
            </a:r>
          </a:p>
        </p:txBody>
      </p:sp>
      <p:sp>
        <p:nvSpPr>
          <p:cNvPr id="20" name="Rounded Rectangle 19"/>
          <p:cNvSpPr/>
          <p:nvPr/>
        </p:nvSpPr>
        <p:spPr>
          <a:xfrm>
            <a:off x="4389120" y="1554480"/>
            <a:ext cx="3383280" cy="4663440"/>
          </a:xfrm>
          <a:prstGeom prst="roundRect">
            <a:avLst>
              <a:gd name="adj" fmla="val 4000"/>
            </a:avLst>
          </a:prstGeom>
          <a:solidFill>
            <a:srgbClr val="1016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89120" y="1554480"/>
            <a:ext cx="3383280" cy="457200"/>
          </a:xfrm>
          <a:prstGeom prst="roundRect">
            <a:avLst>
              <a:gd name="adj" fmla="val 4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1600200"/>
            <a:ext cx="3383280" cy="36576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PHASE 2: Enhanced</a:t>
            </a:r>
          </a:p>
        </p:txBody>
      </p:sp>
      <p:sp>
        <p:nvSpPr>
          <p:cNvPr id="23" name="TextBox 22"/>
          <p:cNvSpPr txBox="1"/>
          <p:nvPr/>
        </p:nvSpPr>
        <p:spPr>
          <a:xfrm>
            <a:off x="4572000" y="219456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Campaign discovery engine</a:t>
            </a:r>
          </a:p>
        </p:txBody>
      </p:sp>
      <p:sp>
        <p:nvSpPr>
          <p:cNvPr id="24" name="TextBox 23"/>
          <p:cNvSpPr txBox="1"/>
          <p:nvPr/>
        </p:nvSpPr>
        <p:spPr>
          <a:xfrm>
            <a:off x="4572000" y="251460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Attack path reconstruction</a:t>
            </a:r>
          </a:p>
        </p:txBody>
      </p:sp>
      <p:sp>
        <p:nvSpPr>
          <p:cNvPr id="25" name="TextBox 24"/>
          <p:cNvSpPr txBox="1"/>
          <p:nvPr/>
        </p:nvSpPr>
        <p:spPr>
          <a:xfrm>
            <a:off x="4572000" y="283463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Blockchain evidence integrity</a:t>
            </a:r>
          </a:p>
        </p:txBody>
      </p:sp>
      <p:sp>
        <p:nvSpPr>
          <p:cNvPr id="26" name="TextBox 25"/>
          <p:cNvSpPr txBox="1"/>
          <p:nvPr/>
        </p:nvSpPr>
        <p:spPr>
          <a:xfrm>
            <a:off x="4572000" y="315467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Advanced NLP fine-tuning</a:t>
            </a:r>
          </a:p>
        </p:txBody>
      </p:sp>
      <p:sp>
        <p:nvSpPr>
          <p:cNvPr id="27" name="TextBox 26"/>
          <p:cNvSpPr txBox="1"/>
          <p:nvPr/>
        </p:nvSpPr>
        <p:spPr>
          <a:xfrm>
            <a:off x="4572000" y="347472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Real-time email feed monitoring</a:t>
            </a:r>
          </a:p>
        </p:txBody>
      </p:sp>
      <p:sp>
        <p:nvSpPr>
          <p:cNvPr id="28" name="TextBox 27"/>
          <p:cNvSpPr txBox="1"/>
          <p:nvPr/>
        </p:nvSpPr>
        <p:spPr>
          <a:xfrm>
            <a:off x="4572000" y="379476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Multi-tenant deployment</a:t>
            </a:r>
          </a:p>
        </p:txBody>
      </p:sp>
      <p:sp>
        <p:nvSpPr>
          <p:cNvPr id="29" name="TextBox 28"/>
          <p:cNvSpPr txBox="1"/>
          <p:nvPr/>
        </p:nvSpPr>
        <p:spPr>
          <a:xfrm>
            <a:off x="4572000" y="411480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API for third-party integration</a:t>
            </a:r>
          </a:p>
        </p:txBody>
      </p:sp>
      <p:sp>
        <p:nvSpPr>
          <p:cNvPr id="30" name="TextBox 29"/>
          <p:cNvSpPr txBox="1"/>
          <p:nvPr/>
        </p:nvSpPr>
        <p:spPr>
          <a:xfrm>
            <a:off x="4572000" y="443484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Automated alerting system</a:t>
            </a:r>
          </a:p>
        </p:txBody>
      </p:sp>
      <p:sp>
        <p:nvSpPr>
          <p:cNvPr id="31" name="TextBox 30"/>
          <p:cNvSpPr txBox="1"/>
          <p:nvPr/>
        </p:nvSpPr>
        <p:spPr>
          <a:xfrm>
            <a:off x="4572000" y="475487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Interactive graph visualization</a:t>
            </a:r>
          </a:p>
        </p:txBody>
      </p:sp>
      <p:sp>
        <p:nvSpPr>
          <p:cNvPr id="32" name="TextBox 31"/>
          <p:cNvSpPr txBox="1"/>
          <p:nvPr/>
        </p:nvSpPr>
        <p:spPr>
          <a:xfrm>
            <a:off x="4572000" y="507492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Mobile-responsive UI</a:t>
            </a:r>
          </a:p>
        </p:txBody>
      </p:sp>
      <p:sp>
        <p:nvSpPr>
          <p:cNvPr id="33" name="Rounded Rectangle 32"/>
          <p:cNvSpPr/>
          <p:nvPr/>
        </p:nvSpPr>
        <p:spPr>
          <a:xfrm>
            <a:off x="8046720" y="1554480"/>
            <a:ext cx="3383280" cy="4663440"/>
          </a:xfrm>
          <a:prstGeom prst="roundRect">
            <a:avLst>
              <a:gd name="adj" fmla="val 4000"/>
            </a:avLst>
          </a:prstGeom>
          <a:solidFill>
            <a:srgbClr val="1016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46720" y="1554480"/>
            <a:ext cx="3383280" cy="457200"/>
          </a:xfrm>
          <a:prstGeom prst="roundRect">
            <a:avLst>
              <a:gd name="adj" fmla="val 4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46720" y="1600200"/>
            <a:ext cx="3383280" cy="365760"/>
          </a:xfrm>
          <a:prstGeom prst="rect">
            <a:avLst/>
          </a:prstGeom>
          <a:noFill/>
        </p:spPr>
        <p:txBody>
          <a:bodyPr wrap="square"/>
          <a:lstStyle/>
          <a:p>
            <a:pPr algn="ctr">
              <a:lnSpc>
                <a:spcPts val="1300"/>
              </a:lnSpc>
              <a:spcBef>
                <a:spcPts val="0"/>
              </a:spcBef>
              <a:spcAft>
                <a:spcPts val="0"/>
              </a:spcAft>
              <a:defRPr sz="1200" b="1">
                <a:solidFill>
                  <a:srgbClr val="0A0D14"/>
                </a:solidFill>
                <a:latin typeface="Consolas"/>
              </a:defRPr>
            </a:pPr>
            <a:r>
              <a:rPr>
                <a:latin typeface="Consolas"/>
              </a:rPr>
              <a:t>PHASE 3: Enterprise</a:t>
            </a:r>
          </a:p>
        </p:txBody>
      </p:sp>
      <p:sp>
        <p:nvSpPr>
          <p:cNvPr id="36" name="TextBox 35"/>
          <p:cNvSpPr txBox="1"/>
          <p:nvPr/>
        </p:nvSpPr>
        <p:spPr>
          <a:xfrm>
            <a:off x="8229600" y="219456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Distributed processing (Kafka)</a:t>
            </a:r>
          </a:p>
        </p:txBody>
      </p:sp>
      <p:sp>
        <p:nvSpPr>
          <p:cNvPr id="37" name="TextBox 36"/>
          <p:cNvSpPr txBox="1"/>
          <p:nvPr/>
        </p:nvSpPr>
        <p:spPr>
          <a:xfrm>
            <a:off x="8229600" y="251460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Kubernetes orchestration</a:t>
            </a:r>
          </a:p>
        </p:txBody>
      </p:sp>
      <p:sp>
        <p:nvSpPr>
          <p:cNvPr id="38" name="TextBox 37"/>
          <p:cNvSpPr txBox="1"/>
          <p:nvPr/>
        </p:nvSpPr>
        <p:spPr>
          <a:xfrm>
            <a:off x="8229600" y="283463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Elasticsearch full-text search</a:t>
            </a:r>
          </a:p>
        </p:txBody>
      </p:sp>
      <p:sp>
        <p:nvSpPr>
          <p:cNvPr id="39" name="TextBox 38"/>
          <p:cNvSpPr txBox="1"/>
          <p:nvPr/>
        </p:nvSpPr>
        <p:spPr>
          <a:xfrm>
            <a:off x="8229600" y="315467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SIEM/SOAR integrations</a:t>
            </a:r>
          </a:p>
        </p:txBody>
      </p:sp>
      <p:sp>
        <p:nvSpPr>
          <p:cNvPr id="40" name="TextBox 39"/>
          <p:cNvSpPr txBox="1"/>
          <p:nvPr/>
        </p:nvSpPr>
        <p:spPr>
          <a:xfrm>
            <a:off x="8229600" y="347472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Advanced attribution models</a:t>
            </a:r>
          </a:p>
        </p:txBody>
      </p:sp>
      <p:sp>
        <p:nvSpPr>
          <p:cNvPr id="41" name="TextBox 40"/>
          <p:cNvSpPr txBox="1"/>
          <p:nvPr/>
        </p:nvSpPr>
        <p:spPr>
          <a:xfrm>
            <a:off x="8229600" y="379476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Threat intelligence sharing (STIX/TAXII)</a:t>
            </a:r>
          </a:p>
        </p:txBody>
      </p:sp>
      <p:sp>
        <p:nvSpPr>
          <p:cNvPr id="42" name="TextBox 41"/>
          <p:cNvSpPr txBox="1"/>
          <p:nvPr/>
        </p:nvSpPr>
        <p:spPr>
          <a:xfrm>
            <a:off x="8229600" y="411480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Compliance reporting (NIST, ISO)</a:t>
            </a:r>
          </a:p>
        </p:txBody>
      </p:sp>
      <p:sp>
        <p:nvSpPr>
          <p:cNvPr id="43" name="TextBox 42"/>
          <p:cNvSpPr txBox="1"/>
          <p:nvPr/>
        </p:nvSpPr>
        <p:spPr>
          <a:xfrm>
            <a:off x="8229600" y="443484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Multi-language email support</a:t>
            </a:r>
          </a:p>
        </p:txBody>
      </p:sp>
      <p:sp>
        <p:nvSpPr>
          <p:cNvPr id="44" name="TextBox 43"/>
          <p:cNvSpPr txBox="1"/>
          <p:nvPr/>
        </p:nvSpPr>
        <p:spPr>
          <a:xfrm>
            <a:off x="8229600" y="4754879"/>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Federated learning for privacy</a:t>
            </a:r>
          </a:p>
        </p:txBody>
      </p:sp>
      <p:sp>
        <p:nvSpPr>
          <p:cNvPr id="45" name="TextBox 44"/>
          <p:cNvSpPr txBox="1"/>
          <p:nvPr/>
        </p:nvSpPr>
        <p:spPr>
          <a:xfrm>
            <a:off x="8229600" y="5074920"/>
            <a:ext cx="3017520" cy="274320"/>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Global campaign tracking</a:t>
            </a:r>
          </a:p>
        </p:txBody>
      </p:sp>
      <p:sp>
        <p:nvSpPr>
          <p:cNvPr id="46" name="TextBox 45"/>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17/19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TextBox 1"/>
          <p:cNvSpPr txBox="1"/>
          <p:nvPr/>
        </p:nvSpPr>
        <p:spPr>
          <a:xfrm>
            <a:off x="731520" y="457200"/>
            <a:ext cx="10515600" cy="548640"/>
          </a:xfrm>
          <a:prstGeom prst="rect">
            <a:avLst/>
          </a:prstGeom>
          <a:noFill/>
        </p:spPr>
        <p:txBody>
          <a:bodyPr wrap="square"/>
          <a:lstStyle/>
          <a:p>
            <a:pPr algn="l">
              <a:lnSpc>
                <a:spcPts val="3600"/>
              </a:lnSpc>
              <a:spcBef>
                <a:spcPts val="0"/>
              </a:spcBef>
              <a:spcAft>
                <a:spcPts val="0"/>
              </a:spcAft>
              <a:defRPr sz="3200" b="1">
                <a:solidFill>
                  <a:srgbClr val="F1F5F9"/>
                </a:solidFill>
                <a:latin typeface="Calibri"/>
              </a:defRPr>
            </a:pPr>
            <a:r>
              <a:rPr>
                <a:latin typeface="Calibri"/>
              </a:rPr>
              <a:t>Implementation Feasibility</a:t>
            </a:r>
          </a:p>
        </p:txBody>
      </p:sp>
      <p:sp>
        <p:nvSpPr>
          <p:cNvPr id="3" name="Rectangle 2"/>
          <p:cNvSpPr/>
          <p:nvPr/>
        </p:nvSpPr>
        <p:spPr>
          <a:xfrm>
            <a:off x="731520" y="1051560"/>
            <a:ext cx="228600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34440"/>
            <a:ext cx="10515600" cy="457200"/>
          </a:xfrm>
          <a:prstGeom prst="rect">
            <a:avLst/>
          </a:prstGeom>
          <a:noFill/>
        </p:spPr>
        <p:txBody>
          <a:bodyPr wrap="square"/>
          <a:lstStyle/>
          <a:p>
            <a:pPr algn="l">
              <a:lnSpc>
                <a:spcPts val="1800"/>
              </a:lnSpc>
              <a:spcBef>
                <a:spcPts val="0"/>
              </a:spcBef>
              <a:spcAft>
                <a:spcPts val="0"/>
              </a:spcAft>
              <a:defRPr sz="1600" b="0">
                <a:solidFill>
                  <a:srgbClr val="94A3B8"/>
                </a:solidFill>
                <a:latin typeface="Calibri"/>
              </a:defRPr>
            </a:pPr>
            <a:r>
              <a:rPr>
                <a:latin typeface="Calibri"/>
              </a:rPr>
              <a:t>Realistic hackathon implementation plan</a:t>
            </a:r>
          </a:p>
        </p:txBody>
      </p:sp>
      <p:sp>
        <p:nvSpPr>
          <p:cNvPr id="5" name="Rounded Rectangle 4"/>
          <p:cNvSpPr/>
          <p:nvPr/>
        </p:nvSpPr>
        <p:spPr>
          <a:xfrm>
            <a:off x="0" y="6537960"/>
            <a:ext cx="12191695" cy="320040"/>
          </a:xfrm>
          <a:prstGeom prst="roundRect">
            <a:avLst>
              <a:gd name="adj" fmla="val 4000"/>
            </a:avLst>
          </a:prstGeom>
          <a:solidFill>
            <a:srgbClr val="101622"/>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556248"/>
            <a:ext cx="3657600" cy="274320"/>
          </a:xfrm>
          <a:prstGeom prst="rect">
            <a:avLst/>
          </a:prstGeom>
          <a:noFill/>
        </p:spPr>
        <p:txBody>
          <a:bodyPr wrap="square"/>
          <a:lstStyle/>
          <a:p>
            <a:pPr algn="l">
              <a:lnSpc>
                <a:spcPts val="900"/>
              </a:lnSpc>
              <a:spcBef>
                <a:spcPts val="0"/>
              </a:spcBef>
              <a:spcAft>
                <a:spcPts val="0"/>
              </a:spcAft>
              <a:defRPr sz="800" b="0">
                <a:solidFill>
                  <a:srgbClr val="475569"/>
                </a:solidFill>
                <a:latin typeface="Calibri"/>
              </a:defRPr>
            </a:pPr>
            <a:r>
              <a:rPr>
                <a:latin typeface="Calibri"/>
              </a:rPr>
              <a:t>SIH26106  |  Forensic Email Intelligence Platform</a:t>
            </a:r>
          </a:p>
        </p:txBody>
      </p:sp>
      <p:sp>
        <p:nvSpPr>
          <p:cNvPr id="7" name="Rounded Rectangle 6"/>
          <p:cNvSpPr/>
          <p:nvPr/>
        </p:nvSpPr>
        <p:spPr>
          <a:xfrm>
            <a:off x="731520" y="1554480"/>
            <a:ext cx="5212080" cy="2011680"/>
          </a:xfrm>
          <a:prstGeom prst="roundRect">
            <a:avLst>
              <a:gd name="adj" fmla="val 4000"/>
            </a:avLst>
          </a:prstGeom>
          <a:solidFill>
            <a:srgbClr val="101622"/>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91640"/>
            <a:ext cx="4846320" cy="274320"/>
          </a:xfrm>
          <a:prstGeom prst="rect">
            <a:avLst/>
          </a:prstGeom>
          <a:noFill/>
        </p:spPr>
        <p:txBody>
          <a:bodyPr wrap="square"/>
          <a:lstStyle/>
          <a:p>
            <a:pPr algn="l">
              <a:lnSpc>
                <a:spcPts val="1100"/>
              </a:lnSpc>
              <a:spcBef>
                <a:spcPts val="0"/>
              </a:spcBef>
              <a:spcAft>
                <a:spcPts val="0"/>
              </a:spcAft>
              <a:defRPr sz="1000" b="1">
                <a:solidFill>
                  <a:srgbClr val="06B6D4"/>
                </a:solidFill>
                <a:latin typeface="Consolas"/>
              </a:defRPr>
            </a:pPr>
            <a:r>
              <a:rPr>
                <a:latin typeface="Consolas"/>
              </a:rPr>
              <a:t>TEAM COMPOSITION</a:t>
            </a:r>
          </a:p>
        </p:txBody>
      </p:sp>
      <p:sp>
        <p:nvSpPr>
          <p:cNvPr id="9" name="TextBox 8"/>
          <p:cNvSpPr txBox="1"/>
          <p:nvPr/>
        </p:nvSpPr>
        <p:spPr>
          <a:xfrm>
            <a:off x="914400" y="2103120"/>
            <a:ext cx="1828800" cy="228600"/>
          </a:xfrm>
          <a:prstGeom prst="rect">
            <a:avLst/>
          </a:prstGeom>
          <a:noFill/>
        </p:spPr>
        <p:txBody>
          <a:bodyPr wrap="square"/>
          <a:lstStyle/>
          <a:p>
            <a:pPr algn="l">
              <a:lnSpc>
                <a:spcPts val="1100"/>
              </a:lnSpc>
              <a:spcBef>
                <a:spcPts val="0"/>
              </a:spcBef>
              <a:spcAft>
                <a:spcPts val="0"/>
              </a:spcAft>
              <a:defRPr sz="1000" b="1">
                <a:solidFill>
                  <a:srgbClr val="06B6D4"/>
                </a:solidFill>
                <a:latin typeface="Calibri"/>
              </a:defRPr>
            </a:pPr>
            <a:r>
              <a:rPr>
                <a:latin typeface="Calibri"/>
              </a:rPr>
              <a:t>Backend Engineer</a:t>
            </a:r>
          </a:p>
        </p:txBody>
      </p:sp>
      <p:sp>
        <p:nvSpPr>
          <p:cNvPr id="10" name="TextBox 9"/>
          <p:cNvSpPr txBox="1"/>
          <p:nvPr/>
        </p:nvSpPr>
        <p:spPr>
          <a:xfrm>
            <a:off x="2743200" y="2103120"/>
            <a:ext cx="301752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FastAPI, email parsing, forensic engines</a:t>
            </a:r>
          </a:p>
        </p:txBody>
      </p:sp>
      <p:sp>
        <p:nvSpPr>
          <p:cNvPr id="11" name="TextBox 10"/>
          <p:cNvSpPr txBox="1"/>
          <p:nvPr/>
        </p:nvSpPr>
        <p:spPr>
          <a:xfrm>
            <a:off x="914400" y="2395727"/>
            <a:ext cx="1828800" cy="228600"/>
          </a:xfrm>
          <a:prstGeom prst="rect">
            <a:avLst/>
          </a:prstGeom>
          <a:noFill/>
        </p:spPr>
        <p:txBody>
          <a:bodyPr wrap="square"/>
          <a:lstStyle/>
          <a:p>
            <a:pPr algn="l">
              <a:lnSpc>
                <a:spcPts val="1100"/>
              </a:lnSpc>
              <a:spcBef>
                <a:spcPts val="0"/>
              </a:spcBef>
              <a:spcAft>
                <a:spcPts val="0"/>
              </a:spcAft>
              <a:defRPr sz="1000" b="1">
                <a:solidFill>
                  <a:srgbClr val="F59E0B"/>
                </a:solidFill>
                <a:latin typeface="Calibri"/>
              </a:defRPr>
            </a:pPr>
            <a:r>
              <a:rPr>
                <a:latin typeface="Calibri"/>
              </a:rPr>
              <a:t>ML Engineer</a:t>
            </a:r>
          </a:p>
        </p:txBody>
      </p:sp>
      <p:sp>
        <p:nvSpPr>
          <p:cNvPr id="12" name="TextBox 11"/>
          <p:cNvSpPr txBox="1"/>
          <p:nvPr/>
        </p:nvSpPr>
        <p:spPr>
          <a:xfrm>
            <a:off x="2743200" y="2395727"/>
            <a:ext cx="301752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NLP model, XGBoost, SHAP explainability</a:t>
            </a:r>
          </a:p>
        </p:txBody>
      </p:sp>
      <p:sp>
        <p:nvSpPr>
          <p:cNvPr id="13" name="TextBox 12"/>
          <p:cNvSpPr txBox="1"/>
          <p:nvPr/>
        </p:nvSpPr>
        <p:spPr>
          <a:xfrm>
            <a:off x="914400" y="2688336"/>
            <a:ext cx="1828800" cy="228600"/>
          </a:xfrm>
          <a:prstGeom prst="rect">
            <a:avLst/>
          </a:prstGeom>
          <a:noFill/>
        </p:spPr>
        <p:txBody>
          <a:bodyPr wrap="square"/>
          <a:lstStyle/>
          <a:p>
            <a:pPr algn="l">
              <a:lnSpc>
                <a:spcPts val="1100"/>
              </a:lnSpc>
              <a:spcBef>
                <a:spcPts val="0"/>
              </a:spcBef>
              <a:spcAft>
                <a:spcPts val="0"/>
              </a:spcAft>
              <a:defRPr sz="1000" b="1">
                <a:solidFill>
                  <a:srgbClr val="3B82F6"/>
                </a:solidFill>
                <a:latin typeface="Calibri"/>
              </a:defRPr>
            </a:pPr>
            <a:r>
              <a:rPr>
                <a:latin typeface="Calibri"/>
              </a:rPr>
              <a:t>Frontend Engineer</a:t>
            </a:r>
          </a:p>
        </p:txBody>
      </p:sp>
      <p:sp>
        <p:nvSpPr>
          <p:cNvPr id="14" name="TextBox 13"/>
          <p:cNvSpPr txBox="1"/>
          <p:nvPr/>
        </p:nvSpPr>
        <p:spPr>
          <a:xfrm>
            <a:off x="2743200" y="2688336"/>
            <a:ext cx="301752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React + TypeScript dashboard, graph viz</a:t>
            </a:r>
          </a:p>
        </p:txBody>
      </p:sp>
      <p:sp>
        <p:nvSpPr>
          <p:cNvPr id="15" name="TextBox 14"/>
          <p:cNvSpPr txBox="1"/>
          <p:nvPr/>
        </p:nvSpPr>
        <p:spPr>
          <a:xfrm>
            <a:off x="914400" y="2980944"/>
            <a:ext cx="1828800" cy="228600"/>
          </a:xfrm>
          <a:prstGeom prst="rect">
            <a:avLst/>
          </a:prstGeom>
          <a:noFill/>
        </p:spPr>
        <p:txBody>
          <a:bodyPr wrap="square"/>
          <a:lstStyle/>
          <a:p>
            <a:pPr algn="l">
              <a:lnSpc>
                <a:spcPts val="1100"/>
              </a:lnSpc>
              <a:spcBef>
                <a:spcPts val="0"/>
              </a:spcBef>
              <a:spcAft>
                <a:spcPts val="0"/>
              </a:spcAft>
              <a:defRPr sz="1000" b="1">
                <a:solidFill>
                  <a:srgbClr val="10B981"/>
                </a:solidFill>
                <a:latin typeface="Calibri"/>
              </a:defRPr>
            </a:pPr>
            <a:r>
              <a:rPr>
                <a:latin typeface="Calibri"/>
              </a:rPr>
              <a:t>Graph / Data Engineer</a:t>
            </a:r>
          </a:p>
        </p:txBody>
      </p:sp>
      <p:sp>
        <p:nvSpPr>
          <p:cNvPr id="16" name="TextBox 15"/>
          <p:cNvSpPr txBox="1"/>
          <p:nvPr/>
        </p:nvSpPr>
        <p:spPr>
          <a:xfrm>
            <a:off x="2743200" y="2980944"/>
            <a:ext cx="301752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Neo4j, correlation, campaign discovery</a:t>
            </a:r>
          </a:p>
        </p:txBody>
      </p:sp>
      <p:sp>
        <p:nvSpPr>
          <p:cNvPr id="17" name="TextBox 16"/>
          <p:cNvSpPr txBox="1"/>
          <p:nvPr/>
        </p:nvSpPr>
        <p:spPr>
          <a:xfrm>
            <a:off x="914400" y="3273552"/>
            <a:ext cx="1828800" cy="228600"/>
          </a:xfrm>
          <a:prstGeom prst="rect">
            <a:avLst/>
          </a:prstGeom>
          <a:noFill/>
        </p:spPr>
        <p:txBody>
          <a:bodyPr wrap="square"/>
          <a:lstStyle/>
          <a:p>
            <a:pPr algn="l">
              <a:lnSpc>
                <a:spcPts val="1100"/>
              </a:lnSpc>
              <a:spcBef>
                <a:spcPts val="0"/>
              </a:spcBef>
              <a:spcAft>
                <a:spcPts val="0"/>
              </a:spcAft>
              <a:defRPr sz="1000" b="1">
                <a:solidFill>
                  <a:srgbClr val="EF4444"/>
                </a:solidFill>
                <a:latin typeface="Calibri"/>
              </a:defRPr>
            </a:pPr>
            <a:r>
              <a:rPr>
                <a:latin typeface="Calibri"/>
              </a:rPr>
              <a:t>Security Researcher</a:t>
            </a:r>
          </a:p>
        </p:txBody>
      </p:sp>
      <p:sp>
        <p:nvSpPr>
          <p:cNvPr id="18" name="TextBox 17"/>
          <p:cNvSpPr txBox="1"/>
          <p:nvPr/>
        </p:nvSpPr>
        <p:spPr>
          <a:xfrm>
            <a:off x="2743200" y="3273552"/>
            <a:ext cx="301752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Email forensics, threat intel APIs</a:t>
            </a:r>
          </a:p>
        </p:txBody>
      </p:sp>
      <p:sp>
        <p:nvSpPr>
          <p:cNvPr id="19" name="Rounded Rectangle 18"/>
          <p:cNvSpPr/>
          <p:nvPr/>
        </p:nvSpPr>
        <p:spPr>
          <a:xfrm>
            <a:off x="6217920" y="1554480"/>
            <a:ext cx="5212080" cy="2011680"/>
          </a:xfrm>
          <a:prstGeom prst="roundRect">
            <a:avLst>
              <a:gd name="adj" fmla="val 4000"/>
            </a:avLst>
          </a:prstGeom>
          <a:solidFill>
            <a:srgbClr val="101622"/>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691640"/>
            <a:ext cx="4846320" cy="274320"/>
          </a:xfrm>
          <a:prstGeom prst="rect">
            <a:avLst/>
          </a:prstGeom>
          <a:noFill/>
        </p:spPr>
        <p:txBody>
          <a:bodyPr wrap="square"/>
          <a:lstStyle/>
          <a:p>
            <a:pPr algn="l">
              <a:lnSpc>
                <a:spcPts val="1100"/>
              </a:lnSpc>
              <a:spcBef>
                <a:spcPts val="0"/>
              </a:spcBef>
              <a:spcAft>
                <a:spcPts val="0"/>
              </a:spcAft>
              <a:defRPr sz="1000" b="1">
                <a:solidFill>
                  <a:srgbClr val="F59E0B"/>
                </a:solidFill>
                <a:latin typeface="Consolas"/>
              </a:defRPr>
            </a:pPr>
            <a:r>
              <a:rPr>
                <a:latin typeface="Consolas"/>
              </a:rPr>
              <a:t>IMPLEMENTATION STRATEGY</a:t>
            </a:r>
          </a:p>
        </p:txBody>
      </p:sp>
      <p:sp>
        <p:nvSpPr>
          <p:cNvPr id="21" name="TextBox 20"/>
          <p:cNvSpPr txBox="1"/>
          <p:nvPr/>
        </p:nvSpPr>
        <p:spPr>
          <a:xfrm>
            <a:off x="6400800" y="2103120"/>
            <a:ext cx="2011680" cy="228600"/>
          </a:xfrm>
          <a:prstGeom prst="rect">
            <a:avLst/>
          </a:prstGeom>
          <a:noFill/>
        </p:spPr>
        <p:txBody>
          <a:bodyPr wrap="square"/>
          <a:lstStyle/>
          <a:p>
            <a:pPr algn="l">
              <a:lnSpc>
                <a:spcPts val="1100"/>
              </a:lnSpc>
              <a:spcBef>
                <a:spcPts val="0"/>
              </a:spcBef>
              <a:spcAft>
                <a:spcPts val="0"/>
              </a:spcAft>
              <a:defRPr sz="1000" b="1">
                <a:solidFill>
                  <a:srgbClr val="10B981"/>
                </a:solidFill>
                <a:latin typeface="Calibri"/>
              </a:defRPr>
            </a:pPr>
            <a:r>
              <a:rPr>
                <a:latin typeface="Calibri"/>
              </a:rPr>
              <a:t>Modular Architecture</a:t>
            </a:r>
          </a:p>
        </p:txBody>
      </p:sp>
      <p:sp>
        <p:nvSpPr>
          <p:cNvPr id="22" name="TextBox 21"/>
          <p:cNvSpPr txBox="1"/>
          <p:nvPr/>
        </p:nvSpPr>
        <p:spPr>
          <a:xfrm>
            <a:off x="8412480" y="2103120"/>
            <a:ext cx="283464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Independent engines can be developed in parallel</a:t>
            </a:r>
          </a:p>
        </p:txBody>
      </p:sp>
      <p:sp>
        <p:nvSpPr>
          <p:cNvPr id="23" name="TextBox 22"/>
          <p:cNvSpPr txBox="1"/>
          <p:nvPr/>
        </p:nvSpPr>
        <p:spPr>
          <a:xfrm>
            <a:off x="6400800" y="2395727"/>
            <a:ext cx="2011680" cy="228600"/>
          </a:xfrm>
          <a:prstGeom prst="rect">
            <a:avLst/>
          </a:prstGeom>
          <a:noFill/>
        </p:spPr>
        <p:txBody>
          <a:bodyPr wrap="square"/>
          <a:lstStyle/>
          <a:p>
            <a:pPr algn="l">
              <a:lnSpc>
                <a:spcPts val="1100"/>
              </a:lnSpc>
              <a:spcBef>
                <a:spcPts val="0"/>
              </a:spcBef>
              <a:spcAft>
                <a:spcPts val="0"/>
              </a:spcAft>
              <a:defRPr sz="1000" b="1">
                <a:solidFill>
                  <a:srgbClr val="10B981"/>
                </a:solidFill>
                <a:latin typeface="Calibri"/>
              </a:defRPr>
            </a:pPr>
            <a:r>
              <a:rPr>
                <a:latin typeface="Calibri"/>
              </a:rPr>
              <a:t>Docker Compose</a:t>
            </a:r>
          </a:p>
        </p:txBody>
      </p:sp>
      <p:sp>
        <p:nvSpPr>
          <p:cNvPr id="24" name="TextBox 23"/>
          <p:cNvSpPr txBox="1"/>
          <p:nvPr/>
        </p:nvSpPr>
        <p:spPr>
          <a:xfrm>
            <a:off x="8412480" y="2395727"/>
            <a:ext cx="283464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One-command deployment for all services</a:t>
            </a:r>
          </a:p>
        </p:txBody>
      </p:sp>
      <p:sp>
        <p:nvSpPr>
          <p:cNvPr id="25" name="TextBox 24"/>
          <p:cNvSpPr txBox="1"/>
          <p:nvPr/>
        </p:nvSpPr>
        <p:spPr>
          <a:xfrm>
            <a:off x="6400800" y="2688336"/>
            <a:ext cx="2011680" cy="228600"/>
          </a:xfrm>
          <a:prstGeom prst="rect">
            <a:avLst/>
          </a:prstGeom>
          <a:noFill/>
        </p:spPr>
        <p:txBody>
          <a:bodyPr wrap="square"/>
          <a:lstStyle/>
          <a:p>
            <a:pPr algn="l">
              <a:lnSpc>
                <a:spcPts val="1100"/>
              </a:lnSpc>
              <a:spcBef>
                <a:spcPts val="0"/>
              </a:spcBef>
              <a:spcAft>
                <a:spcPts val="0"/>
              </a:spcAft>
              <a:defRPr sz="1000" b="1">
                <a:solidFill>
                  <a:srgbClr val="10B981"/>
                </a:solidFill>
                <a:latin typeface="Calibri"/>
              </a:defRPr>
            </a:pPr>
            <a:r>
              <a:rPr>
                <a:latin typeface="Calibri"/>
              </a:rPr>
              <a:t>Mock External APIs</a:t>
            </a:r>
          </a:p>
        </p:txBody>
      </p:sp>
      <p:sp>
        <p:nvSpPr>
          <p:cNvPr id="26" name="TextBox 25"/>
          <p:cNvSpPr txBox="1"/>
          <p:nvPr/>
        </p:nvSpPr>
        <p:spPr>
          <a:xfrm>
            <a:off x="8412480" y="2688336"/>
            <a:ext cx="283464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VirusTotal/AbuseIPDB mocks for hackathon demo</a:t>
            </a:r>
          </a:p>
        </p:txBody>
      </p:sp>
      <p:sp>
        <p:nvSpPr>
          <p:cNvPr id="27" name="TextBox 26"/>
          <p:cNvSpPr txBox="1"/>
          <p:nvPr/>
        </p:nvSpPr>
        <p:spPr>
          <a:xfrm>
            <a:off x="6400800" y="2980944"/>
            <a:ext cx="2011680" cy="228600"/>
          </a:xfrm>
          <a:prstGeom prst="rect">
            <a:avLst/>
          </a:prstGeom>
          <a:noFill/>
        </p:spPr>
        <p:txBody>
          <a:bodyPr wrap="square"/>
          <a:lstStyle/>
          <a:p>
            <a:pPr algn="l">
              <a:lnSpc>
                <a:spcPts val="1100"/>
              </a:lnSpc>
              <a:spcBef>
                <a:spcPts val="0"/>
              </a:spcBef>
              <a:spcAft>
                <a:spcPts val="0"/>
              </a:spcAft>
              <a:defRPr sz="1000" b="1">
                <a:solidFill>
                  <a:srgbClr val="10B981"/>
                </a:solidFill>
                <a:latin typeface="Calibri"/>
              </a:defRPr>
            </a:pPr>
            <a:r>
              <a:rPr>
                <a:latin typeface="Calibri"/>
              </a:rPr>
              <a:t>Real .EML Processing</a:t>
            </a:r>
          </a:p>
        </p:txBody>
      </p:sp>
      <p:sp>
        <p:nvSpPr>
          <p:cNvPr id="28" name="TextBox 27"/>
          <p:cNvSpPr txBox="1"/>
          <p:nvPr/>
        </p:nvSpPr>
        <p:spPr>
          <a:xfrm>
            <a:off x="8412480" y="2980944"/>
            <a:ext cx="283464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Actual email parsing, not simulated data</a:t>
            </a:r>
          </a:p>
        </p:txBody>
      </p:sp>
      <p:sp>
        <p:nvSpPr>
          <p:cNvPr id="29" name="TextBox 28"/>
          <p:cNvSpPr txBox="1"/>
          <p:nvPr/>
        </p:nvSpPr>
        <p:spPr>
          <a:xfrm>
            <a:off x="6400800" y="3273552"/>
            <a:ext cx="2011680" cy="228600"/>
          </a:xfrm>
          <a:prstGeom prst="rect">
            <a:avLst/>
          </a:prstGeom>
          <a:noFill/>
        </p:spPr>
        <p:txBody>
          <a:bodyPr wrap="square"/>
          <a:lstStyle/>
          <a:p>
            <a:pPr algn="l">
              <a:lnSpc>
                <a:spcPts val="1100"/>
              </a:lnSpc>
              <a:spcBef>
                <a:spcPts val="0"/>
              </a:spcBef>
              <a:spcAft>
                <a:spcPts val="0"/>
              </a:spcAft>
              <a:defRPr sz="1000" b="1">
                <a:solidFill>
                  <a:srgbClr val="10B981"/>
                </a:solidFill>
                <a:latin typeface="Calibri"/>
              </a:defRPr>
            </a:pPr>
            <a:r>
              <a:rPr>
                <a:latin typeface="Calibri"/>
              </a:rPr>
              <a:t>Incremental Integration</a:t>
            </a:r>
          </a:p>
        </p:txBody>
      </p:sp>
      <p:sp>
        <p:nvSpPr>
          <p:cNvPr id="30" name="TextBox 29"/>
          <p:cNvSpPr txBox="1"/>
          <p:nvPr/>
        </p:nvSpPr>
        <p:spPr>
          <a:xfrm>
            <a:off x="8412480" y="3273552"/>
            <a:ext cx="2834640" cy="228600"/>
          </a:xfrm>
          <a:prstGeom prst="rect">
            <a:avLst/>
          </a:prstGeom>
          <a:noFill/>
        </p:spPr>
        <p:txBody>
          <a:bodyPr wrap="square"/>
          <a:lstStyle/>
          <a:p>
            <a:pPr algn="l">
              <a:lnSpc>
                <a:spcPts val="1000"/>
              </a:lnSpc>
              <a:spcBef>
                <a:spcPts val="0"/>
              </a:spcBef>
              <a:spcAft>
                <a:spcPts val="0"/>
              </a:spcAft>
              <a:defRPr sz="900" b="0">
                <a:solidFill>
                  <a:srgbClr val="94A3B8"/>
                </a:solidFill>
                <a:latin typeface="Calibri"/>
              </a:defRPr>
            </a:pPr>
            <a:r>
              <a:rPr>
                <a:latin typeface="Calibri"/>
              </a:rPr>
              <a:t>Build engines first, wire together last</a:t>
            </a:r>
          </a:p>
        </p:txBody>
      </p:sp>
      <p:sp>
        <p:nvSpPr>
          <p:cNvPr id="31" name="Rounded Rectangle 30"/>
          <p:cNvSpPr/>
          <p:nvPr/>
        </p:nvSpPr>
        <p:spPr>
          <a:xfrm>
            <a:off x="731520" y="3840480"/>
            <a:ext cx="5212080" cy="2377440"/>
          </a:xfrm>
          <a:prstGeom prst="roundRect">
            <a:avLst>
              <a:gd name="adj" fmla="val 4000"/>
            </a:avLst>
          </a:prstGeom>
          <a:solidFill>
            <a:srgbClr val="10162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 y="3977639"/>
            <a:ext cx="4846320" cy="274320"/>
          </a:xfrm>
          <a:prstGeom prst="rect">
            <a:avLst/>
          </a:prstGeom>
          <a:noFill/>
        </p:spPr>
        <p:txBody>
          <a:bodyPr wrap="square"/>
          <a:lstStyle/>
          <a:p>
            <a:pPr algn="l">
              <a:lnSpc>
                <a:spcPts val="1100"/>
              </a:lnSpc>
              <a:spcBef>
                <a:spcPts val="0"/>
              </a:spcBef>
              <a:spcAft>
                <a:spcPts val="0"/>
              </a:spcAft>
              <a:defRPr sz="1000" b="1">
                <a:solidFill>
                  <a:srgbClr val="EF4444"/>
                </a:solidFill>
                <a:latin typeface="Consolas"/>
              </a:defRPr>
            </a:pPr>
            <a:r>
              <a:rPr>
                <a:latin typeface="Consolas"/>
              </a:rPr>
              <a:t>KEY RISKS &amp; MITIGATIONS</a:t>
            </a:r>
          </a:p>
        </p:txBody>
      </p:sp>
      <p:sp>
        <p:nvSpPr>
          <p:cNvPr id="33" name="TextBox 32"/>
          <p:cNvSpPr txBox="1"/>
          <p:nvPr/>
        </p:nvSpPr>
        <p:spPr>
          <a:xfrm>
            <a:off x="914400" y="4297680"/>
            <a:ext cx="2011680" cy="274320"/>
          </a:xfrm>
          <a:prstGeom prst="rect">
            <a:avLst/>
          </a:prstGeom>
          <a:noFill/>
        </p:spPr>
        <p:txBody>
          <a:bodyPr wrap="square"/>
          <a:lstStyle/>
          <a:p>
            <a:pPr algn="l">
              <a:lnSpc>
                <a:spcPts val="1100"/>
              </a:lnSpc>
              <a:spcBef>
                <a:spcPts val="0"/>
              </a:spcBef>
              <a:spcAft>
                <a:spcPts val="0"/>
              </a:spcAft>
              <a:defRPr sz="1000" b="0">
                <a:solidFill>
                  <a:srgbClr val="F59E0B"/>
                </a:solidFill>
                <a:latin typeface="Calibri"/>
              </a:defRPr>
            </a:pPr>
            <a:r>
              <a:rPr>
                <a:latin typeface="Calibri"/>
              </a:rPr>
              <a:t>⚠  Complex ML pipeline</a:t>
            </a:r>
          </a:p>
        </p:txBody>
      </p:sp>
      <p:sp>
        <p:nvSpPr>
          <p:cNvPr id="34" name="TextBox 33"/>
          <p:cNvSpPr txBox="1"/>
          <p:nvPr/>
        </p:nvSpPr>
        <p:spPr>
          <a:xfrm>
            <a:off x="2926080" y="4297680"/>
            <a:ext cx="2834640" cy="274320"/>
          </a:xfrm>
          <a:prstGeom prst="rect">
            <a:avLst/>
          </a:prstGeom>
          <a:noFill/>
        </p:spPr>
        <p:txBody>
          <a:bodyPr wrap="square"/>
          <a:lstStyle/>
          <a:p>
            <a:pPr algn="l">
              <a:lnSpc>
                <a:spcPts val="1100"/>
              </a:lnSpc>
              <a:spcBef>
                <a:spcPts val="0"/>
              </a:spcBef>
              <a:spcAft>
                <a:spcPts val="0"/>
              </a:spcAft>
              <a:defRPr sz="1000" b="0">
                <a:solidFill>
                  <a:srgbClr val="10B981"/>
                </a:solidFill>
                <a:latin typeface="Calibri"/>
              </a:defRPr>
            </a:pPr>
            <a:r>
              <a:rPr>
                <a:latin typeface="Calibri"/>
              </a:rPr>
              <a:t>✓  Use pre-trained models + fine-tuning on synthetic data</a:t>
            </a:r>
          </a:p>
        </p:txBody>
      </p:sp>
      <p:sp>
        <p:nvSpPr>
          <p:cNvPr id="35" name="TextBox 34"/>
          <p:cNvSpPr txBox="1"/>
          <p:nvPr/>
        </p:nvSpPr>
        <p:spPr>
          <a:xfrm>
            <a:off x="914400" y="4645152"/>
            <a:ext cx="2011680" cy="274320"/>
          </a:xfrm>
          <a:prstGeom prst="rect">
            <a:avLst/>
          </a:prstGeom>
          <a:noFill/>
        </p:spPr>
        <p:txBody>
          <a:bodyPr wrap="square"/>
          <a:lstStyle/>
          <a:p>
            <a:pPr algn="l">
              <a:lnSpc>
                <a:spcPts val="1100"/>
              </a:lnSpc>
              <a:spcBef>
                <a:spcPts val="0"/>
              </a:spcBef>
              <a:spcAft>
                <a:spcPts val="0"/>
              </a:spcAft>
              <a:defRPr sz="1000" b="0">
                <a:solidFill>
                  <a:srgbClr val="F59E0B"/>
                </a:solidFill>
                <a:latin typeface="Calibri"/>
              </a:defRPr>
            </a:pPr>
            <a:r>
              <a:rPr>
                <a:latin typeface="Calibri"/>
              </a:rPr>
              <a:t>⚠  Neo4j graph complexity</a:t>
            </a:r>
          </a:p>
        </p:txBody>
      </p:sp>
      <p:sp>
        <p:nvSpPr>
          <p:cNvPr id="36" name="TextBox 35"/>
          <p:cNvSpPr txBox="1"/>
          <p:nvPr/>
        </p:nvSpPr>
        <p:spPr>
          <a:xfrm>
            <a:off x="2926080" y="4645152"/>
            <a:ext cx="2834640" cy="274320"/>
          </a:xfrm>
          <a:prstGeom prst="rect">
            <a:avLst/>
          </a:prstGeom>
          <a:noFill/>
        </p:spPr>
        <p:txBody>
          <a:bodyPr wrap="square"/>
          <a:lstStyle/>
          <a:p>
            <a:pPr algn="l">
              <a:lnSpc>
                <a:spcPts val="1100"/>
              </a:lnSpc>
              <a:spcBef>
                <a:spcPts val="0"/>
              </a:spcBef>
              <a:spcAft>
                <a:spcPts val="0"/>
              </a:spcAft>
              <a:defRPr sz="1000" b="0">
                <a:solidFill>
                  <a:srgbClr val="10B981"/>
                </a:solidFill>
                <a:latin typeface="Calibri"/>
              </a:defRPr>
            </a:pPr>
            <a:r>
              <a:rPr>
                <a:latin typeface="Calibri"/>
              </a:rPr>
              <a:t>✓  Start with core entities, expand incrementally</a:t>
            </a:r>
          </a:p>
        </p:txBody>
      </p:sp>
      <p:sp>
        <p:nvSpPr>
          <p:cNvPr id="37" name="TextBox 36"/>
          <p:cNvSpPr txBox="1"/>
          <p:nvPr/>
        </p:nvSpPr>
        <p:spPr>
          <a:xfrm>
            <a:off x="914400" y="4992624"/>
            <a:ext cx="2011680" cy="274320"/>
          </a:xfrm>
          <a:prstGeom prst="rect">
            <a:avLst/>
          </a:prstGeom>
          <a:noFill/>
        </p:spPr>
        <p:txBody>
          <a:bodyPr wrap="square"/>
          <a:lstStyle/>
          <a:p>
            <a:pPr algn="l">
              <a:lnSpc>
                <a:spcPts val="1100"/>
              </a:lnSpc>
              <a:spcBef>
                <a:spcPts val="0"/>
              </a:spcBef>
              <a:spcAft>
                <a:spcPts val="0"/>
              </a:spcAft>
              <a:defRPr sz="1000" b="0">
                <a:solidFill>
                  <a:srgbClr val="F59E0B"/>
                </a:solidFill>
                <a:latin typeface="Calibri"/>
              </a:defRPr>
            </a:pPr>
            <a:r>
              <a:rPr>
                <a:latin typeface="Calibri"/>
              </a:rPr>
              <a:t>⚠  API rate limits</a:t>
            </a:r>
          </a:p>
        </p:txBody>
      </p:sp>
      <p:sp>
        <p:nvSpPr>
          <p:cNvPr id="38" name="TextBox 37"/>
          <p:cNvSpPr txBox="1"/>
          <p:nvPr/>
        </p:nvSpPr>
        <p:spPr>
          <a:xfrm>
            <a:off x="2926080" y="4992624"/>
            <a:ext cx="2834640" cy="274320"/>
          </a:xfrm>
          <a:prstGeom prst="rect">
            <a:avLst/>
          </a:prstGeom>
          <a:noFill/>
        </p:spPr>
        <p:txBody>
          <a:bodyPr wrap="square"/>
          <a:lstStyle/>
          <a:p>
            <a:pPr algn="l">
              <a:lnSpc>
                <a:spcPts val="1100"/>
              </a:lnSpc>
              <a:spcBef>
                <a:spcPts val="0"/>
              </a:spcBef>
              <a:spcAft>
                <a:spcPts val="0"/>
              </a:spcAft>
              <a:defRPr sz="1000" b="0">
                <a:solidFill>
                  <a:srgbClr val="10B981"/>
                </a:solidFill>
                <a:latin typeface="Calibri"/>
              </a:defRPr>
            </a:pPr>
            <a:r>
              <a:rPr>
                <a:latin typeface="Calibri"/>
              </a:rPr>
              <a:t>✓  Mock external APIs for demo, real keys for validation</a:t>
            </a:r>
          </a:p>
        </p:txBody>
      </p:sp>
      <p:sp>
        <p:nvSpPr>
          <p:cNvPr id="39" name="TextBox 38"/>
          <p:cNvSpPr txBox="1"/>
          <p:nvPr/>
        </p:nvSpPr>
        <p:spPr>
          <a:xfrm>
            <a:off x="914400" y="5340096"/>
            <a:ext cx="2011680" cy="274320"/>
          </a:xfrm>
          <a:prstGeom prst="rect">
            <a:avLst/>
          </a:prstGeom>
          <a:noFill/>
        </p:spPr>
        <p:txBody>
          <a:bodyPr wrap="square"/>
          <a:lstStyle/>
          <a:p>
            <a:pPr algn="l">
              <a:lnSpc>
                <a:spcPts val="1100"/>
              </a:lnSpc>
              <a:spcBef>
                <a:spcPts val="0"/>
              </a:spcBef>
              <a:spcAft>
                <a:spcPts val="0"/>
              </a:spcAft>
              <a:defRPr sz="1000" b="0">
                <a:solidFill>
                  <a:srgbClr val="F59E0B"/>
                </a:solidFill>
                <a:latin typeface="Calibri"/>
              </a:defRPr>
            </a:pPr>
            <a:r>
              <a:rPr>
                <a:latin typeface="Calibri"/>
              </a:rPr>
              <a:t>⚠  UI polish time</a:t>
            </a:r>
          </a:p>
        </p:txBody>
      </p:sp>
      <p:sp>
        <p:nvSpPr>
          <p:cNvPr id="40" name="TextBox 39"/>
          <p:cNvSpPr txBox="1"/>
          <p:nvPr/>
        </p:nvSpPr>
        <p:spPr>
          <a:xfrm>
            <a:off x="2926080" y="5340096"/>
            <a:ext cx="2834640" cy="274320"/>
          </a:xfrm>
          <a:prstGeom prst="rect">
            <a:avLst/>
          </a:prstGeom>
          <a:noFill/>
        </p:spPr>
        <p:txBody>
          <a:bodyPr wrap="square"/>
          <a:lstStyle/>
          <a:p>
            <a:pPr algn="l">
              <a:lnSpc>
                <a:spcPts val="1100"/>
              </a:lnSpc>
              <a:spcBef>
                <a:spcPts val="0"/>
              </a:spcBef>
              <a:spcAft>
                <a:spcPts val="0"/>
              </a:spcAft>
              <a:defRPr sz="1000" b="0">
                <a:solidFill>
                  <a:srgbClr val="10B981"/>
                </a:solidFill>
                <a:latin typeface="Calibri"/>
              </a:defRPr>
            </a:pPr>
            <a:r>
              <a:rPr>
                <a:latin typeface="Calibri"/>
              </a:rPr>
              <a:t>✓  Use Stitch design system for rapid consistent UI</a:t>
            </a:r>
          </a:p>
        </p:txBody>
      </p:sp>
      <p:sp>
        <p:nvSpPr>
          <p:cNvPr id="41" name="TextBox 40"/>
          <p:cNvSpPr txBox="1"/>
          <p:nvPr/>
        </p:nvSpPr>
        <p:spPr>
          <a:xfrm>
            <a:off x="914400" y="5687568"/>
            <a:ext cx="2011680" cy="274320"/>
          </a:xfrm>
          <a:prstGeom prst="rect">
            <a:avLst/>
          </a:prstGeom>
          <a:noFill/>
        </p:spPr>
        <p:txBody>
          <a:bodyPr wrap="square"/>
          <a:lstStyle/>
          <a:p>
            <a:pPr algn="l">
              <a:lnSpc>
                <a:spcPts val="1100"/>
              </a:lnSpc>
              <a:spcBef>
                <a:spcPts val="0"/>
              </a:spcBef>
              <a:spcAft>
                <a:spcPts val="0"/>
              </a:spcAft>
              <a:defRPr sz="1000" b="0">
                <a:solidFill>
                  <a:srgbClr val="F59E0B"/>
                </a:solidFill>
                <a:latin typeface="Calibri"/>
              </a:defRPr>
            </a:pPr>
            <a:r>
              <a:rPr>
                <a:latin typeface="Calibri"/>
              </a:rPr>
              <a:t>⚠  Integration risk</a:t>
            </a:r>
          </a:p>
        </p:txBody>
      </p:sp>
      <p:sp>
        <p:nvSpPr>
          <p:cNvPr id="42" name="TextBox 41"/>
          <p:cNvSpPr txBox="1"/>
          <p:nvPr/>
        </p:nvSpPr>
        <p:spPr>
          <a:xfrm>
            <a:off x="2926080" y="5687568"/>
            <a:ext cx="2834640" cy="274320"/>
          </a:xfrm>
          <a:prstGeom prst="rect">
            <a:avLst/>
          </a:prstGeom>
          <a:noFill/>
        </p:spPr>
        <p:txBody>
          <a:bodyPr wrap="square"/>
          <a:lstStyle/>
          <a:p>
            <a:pPr algn="l">
              <a:lnSpc>
                <a:spcPts val="1100"/>
              </a:lnSpc>
              <a:spcBef>
                <a:spcPts val="0"/>
              </a:spcBef>
              <a:spcAft>
                <a:spcPts val="0"/>
              </a:spcAft>
              <a:defRPr sz="1000" b="0">
                <a:solidFill>
                  <a:srgbClr val="10B981"/>
                </a:solidFill>
                <a:latin typeface="Calibri"/>
              </a:defRPr>
            </a:pPr>
            <a:r>
              <a:rPr>
                <a:latin typeface="Calibri"/>
              </a:rPr>
              <a:t>✓  Define API contracts early, parallel development</a:t>
            </a:r>
          </a:p>
        </p:txBody>
      </p:sp>
      <p:sp>
        <p:nvSpPr>
          <p:cNvPr id="43" name="Rounded Rectangle 42"/>
          <p:cNvSpPr/>
          <p:nvPr/>
        </p:nvSpPr>
        <p:spPr>
          <a:xfrm>
            <a:off x="6217920" y="3840480"/>
            <a:ext cx="5212080" cy="2377440"/>
          </a:xfrm>
          <a:prstGeom prst="roundRect">
            <a:avLst>
              <a:gd name="adj" fmla="val 4000"/>
            </a:avLst>
          </a:prstGeom>
          <a:solidFill>
            <a:srgbClr val="101622"/>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977639"/>
            <a:ext cx="4846320" cy="274320"/>
          </a:xfrm>
          <a:prstGeom prst="rect">
            <a:avLst/>
          </a:prstGeom>
          <a:noFill/>
        </p:spPr>
        <p:txBody>
          <a:bodyPr wrap="square"/>
          <a:lstStyle/>
          <a:p>
            <a:pPr algn="l">
              <a:lnSpc>
                <a:spcPts val="1100"/>
              </a:lnSpc>
              <a:spcBef>
                <a:spcPts val="0"/>
              </a:spcBef>
              <a:spcAft>
                <a:spcPts val="0"/>
              </a:spcAft>
              <a:defRPr sz="1000" b="1">
                <a:solidFill>
                  <a:srgbClr val="10B981"/>
                </a:solidFill>
                <a:latin typeface="Consolas"/>
              </a:defRPr>
            </a:pPr>
            <a:r>
              <a:rPr>
                <a:latin typeface="Consolas"/>
              </a:rPr>
              <a:t>PROOF OF CONCEPT</a:t>
            </a:r>
          </a:p>
        </p:txBody>
      </p:sp>
      <p:sp>
        <p:nvSpPr>
          <p:cNvPr id="45" name="TextBox 44"/>
          <p:cNvSpPr txBox="1"/>
          <p:nvPr/>
        </p:nvSpPr>
        <p:spPr>
          <a:xfrm>
            <a:off x="6400800" y="4297680"/>
            <a:ext cx="1371600" cy="228600"/>
          </a:xfrm>
          <a:prstGeom prst="rect">
            <a:avLst/>
          </a:prstGeom>
          <a:noFill/>
        </p:spPr>
        <p:txBody>
          <a:bodyPr wrap="square"/>
          <a:lstStyle/>
          <a:p>
            <a:pPr algn="l">
              <a:lnSpc>
                <a:spcPts val="1100"/>
              </a:lnSpc>
              <a:spcBef>
                <a:spcPts val="0"/>
              </a:spcBef>
              <a:spcAft>
                <a:spcPts val="0"/>
              </a:spcAft>
              <a:defRPr sz="1000" b="1">
                <a:solidFill>
                  <a:srgbClr val="06B6D4"/>
                </a:solidFill>
                <a:latin typeface="Calibri"/>
              </a:defRPr>
            </a:pPr>
            <a:r>
              <a:rPr>
                <a:latin typeface="Calibri"/>
              </a:rPr>
              <a:t>Demo Email</a:t>
            </a:r>
          </a:p>
        </p:txBody>
      </p:sp>
      <p:sp>
        <p:nvSpPr>
          <p:cNvPr id="46" name="TextBox 45"/>
          <p:cNvSpPr txBox="1"/>
          <p:nvPr/>
        </p:nvSpPr>
        <p:spPr>
          <a:xfrm>
            <a:off x="7772400" y="4297680"/>
            <a:ext cx="3474720" cy="22860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Pre-built CFO BEC scenario (.EML file)</a:t>
            </a:r>
          </a:p>
        </p:txBody>
      </p:sp>
      <p:sp>
        <p:nvSpPr>
          <p:cNvPr id="47" name="TextBox 46"/>
          <p:cNvSpPr txBox="1"/>
          <p:nvPr/>
        </p:nvSpPr>
        <p:spPr>
          <a:xfrm>
            <a:off x="6400800" y="4590288"/>
            <a:ext cx="1371600" cy="228600"/>
          </a:xfrm>
          <a:prstGeom prst="rect">
            <a:avLst/>
          </a:prstGeom>
          <a:noFill/>
        </p:spPr>
        <p:txBody>
          <a:bodyPr wrap="square"/>
          <a:lstStyle/>
          <a:p>
            <a:pPr algn="l">
              <a:lnSpc>
                <a:spcPts val="1100"/>
              </a:lnSpc>
              <a:spcBef>
                <a:spcPts val="0"/>
              </a:spcBef>
              <a:spcAft>
                <a:spcPts val="0"/>
              </a:spcAft>
              <a:defRPr sz="1000" b="1">
                <a:solidFill>
                  <a:srgbClr val="06B6D4"/>
                </a:solidFill>
                <a:latin typeface="Calibri"/>
              </a:defRPr>
            </a:pPr>
            <a:r>
              <a:rPr>
                <a:latin typeface="Calibri"/>
              </a:rPr>
              <a:t>Working Pipeline</a:t>
            </a:r>
          </a:p>
        </p:txBody>
      </p:sp>
      <p:sp>
        <p:nvSpPr>
          <p:cNvPr id="48" name="TextBox 47"/>
          <p:cNvSpPr txBox="1"/>
          <p:nvPr/>
        </p:nvSpPr>
        <p:spPr>
          <a:xfrm>
            <a:off x="7772400" y="4590288"/>
            <a:ext cx="3474720" cy="22860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Upload -&gt; Parse -&gt; Analyze -&gt; Correlate -&gt; Report</a:t>
            </a:r>
          </a:p>
        </p:txBody>
      </p:sp>
      <p:sp>
        <p:nvSpPr>
          <p:cNvPr id="49" name="TextBox 48"/>
          <p:cNvSpPr txBox="1"/>
          <p:nvPr/>
        </p:nvSpPr>
        <p:spPr>
          <a:xfrm>
            <a:off x="6400800" y="4882896"/>
            <a:ext cx="1371600" cy="228600"/>
          </a:xfrm>
          <a:prstGeom prst="rect">
            <a:avLst/>
          </a:prstGeom>
          <a:noFill/>
        </p:spPr>
        <p:txBody>
          <a:bodyPr wrap="square"/>
          <a:lstStyle/>
          <a:p>
            <a:pPr algn="l">
              <a:lnSpc>
                <a:spcPts val="1100"/>
              </a:lnSpc>
              <a:spcBef>
                <a:spcPts val="0"/>
              </a:spcBef>
              <a:spcAft>
                <a:spcPts val="0"/>
              </a:spcAft>
              <a:defRPr sz="1000" b="1">
                <a:solidFill>
                  <a:srgbClr val="06B6D4"/>
                </a:solidFill>
                <a:latin typeface="Calibri"/>
              </a:defRPr>
            </a:pPr>
            <a:r>
              <a:rPr>
                <a:latin typeface="Calibri"/>
              </a:rPr>
              <a:t>Live Dashboard</a:t>
            </a:r>
          </a:p>
        </p:txBody>
      </p:sp>
      <p:sp>
        <p:nvSpPr>
          <p:cNvPr id="50" name="TextBox 49"/>
          <p:cNvSpPr txBox="1"/>
          <p:nvPr/>
        </p:nvSpPr>
        <p:spPr>
          <a:xfrm>
            <a:off x="7772400" y="4882896"/>
            <a:ext cx="3474720" cy="22860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Stitch-designed UI with real-time analysis results</a:t>
            </a:r>
          </a:p>
        </p:txBody>
      </p:sp>
      <p:sp>
        <p:nvSpPr>
          <p:cNvPr id="51" name="TextBox 50"/>
          <p:cNvSpPr txBox="1"/>
          <p:nvPr/>
        </p:nvSpPr>
        <p:spPr>
          <a:xfrm>
            <a:off x="6400800" y="5175504"/>
            <a:ext cx="1371600" cy="228600"/>
          </a:xfrm>
          <a:prstGeom prst="rect">
            <a:avLst/>
          </a:prstGeom>
          <a:noFill/>
        </p:spPr>
        <p:txBody>
          <a:bodyPr wrap="square"/>
          <a:lstStyle/>
          <a:p>
            <a:pPr algn="l">
              <a:lnSpc>
                <a:spcPts val="1100"/>
              </a:lnSpc>
              <a:spcBef>
                <a:spcPts val="0"/>
              </a:spcBef>
              <a:spcAft>
                <a:spcPts val="0"/>
              </a:spcAft>
              <a:defRPr sz="1000" b="1">
                <a:solidFill>
                  <a:srgbClr val="06B6D4"/>
                </a:solidFill>
                <a:latin typeface="Calibri"/>
              </a:defRPr>
            </a:pPr>
            <a:r>
              <a:rPr>
                <a:latin typeface="Calibri"/>
              </a:rPr>
              <a:t>Graph Visualization</a:t>
            </a:r>
          </a:p>
        </p:txBody>
      </p:sp>
      <p:sp>
        <p:nvSpPr>
          <p:cNvPr id="52" name="TextBox 51"/>
          <p:cNvSpPr txBox="1"/>
          <p:nvPr/>
        </p:nvSpPr>
        <p:spPr>
          <a:xfrm>
            <a:off x="7772400" y="5175504"/>
            <a:ext cx="3474720" cy="22860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Neo4j-backed entity correlation graph</a:t>
            </a:r>
          </a:p>
        </p:txBody>
      </p:sp>
      <p:sp>
        <p:nvSpPr>
          <p:cNvPr id="53" name="TextBox 52"/>
          <p:cNvSpPr txBox="1"/>
          <p:nvPr/>
        </p:nvSpPr>
        <p:spPr>
          <a:xfrm>
            <a:off x="6400800" y="5468112"/>
            <a:ext cx="1371600" cy="228600"/>
          </a:xfrm>
          <a:prstGeom prst="rect">
            <a:avLst/>
          </a:prstGeom>
          <a:noFill/>
        </p:spPr>
        <p:txBody>
          <a:bodyPr wrap="square"/>
          <a:lstStyle/>
          <a:p>
            <a:pPr algn="l">
              <a:lnSpc>
                <a:spcPts val="1100"/>
              </a:lnSpc>
              <a:spcBef>
                <a:spcPts val="0"/>
              </a:spcBef>
              <a:spcAft>
                <a:spcPts val="0"/>
              </a:spcAft>
              <a:defRPr sz="1000" b="1">
                <a:solidFill>
                  <a:srgbClr val="06B6D4"/>
                </a:solidFill>
                <a:latin typeface="Calibri"/>
              </a:defRPr>
            </a:pPr>
            <a:r>
              <a:rPr>
                <a:latin typeface="Calibri"/>
              </a:rPr>
              <a:t>Forensic Report</a:t>
            </a:r>
          </a:p>
        </p:txBody>
      </p:sp>
      <p:sp>
        <p:nvSpPr>
          <p:cNvPr id="54" name="TextBox 53"/>
          <p:cNvSpPr txBox="1"/>
          <p:nvPr/>
        </p:nvSpPr>
        <p:spPr>
          <a:xfrm>
            <a:off x="7772400" y="5468112"/>
            <a:ext cx="3474720" cy="22860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PDF with full evidence chain and confidence scores</a:t>
            </a:r>
          </a:p>
        </p:txBody>
      </p:sp>
      <p:sp>
        <p:nvSpPr>
          <p:cNvPr id="55" name="TextBox 54"/>
          <p:cNvSpPr txBox="1"/>
          <p:nvPr/>
        </p:nvSpPr>
        <p:spPr>
          <a:xfrm>
            <a:off x="6400800" y="5760720"/>
            <a:ext cx="1371600" cy="228600"/>
          </a:xfrm>
          <a:prstGeom prst="rect">
            <a:avLst/>
          </a:prstGeom>
          <a:noFill/>
        </p:spPr>
        <p:txBody>
          <a:bodyPr wrap="square"/>
          <a:lstStyle/>
          <a:p>
            <a:pPr algn="l">
              <a:lnSpc>
                <a:spcPts val="1100"/>
              </a:lnSpc>
              <a:spcBef>
                <a:spcPts val="0"/>
              </a:spcBef>
              <a:spcAft>
                <a:spcPts val="0"/>
              </a:spcAft>
              <a:defRPr sz="1000" b="1">
                <a:solidFill>
                  <a:srgbClr val="06B6D4"/>
                </a:solidFill>
                <a:latin typeface="Calibri"/>
              </a:defRPr>
            </a:pPr>
            <a:r>
              <a:rPr>
                <a:latin typeface="Calibri"/>
              </a:rPr>
              <a:t>Hash Verification</a:t>
            </a:r>
          </a:p>
        </p:txBody>
      </p:sp>
      <p:sp>
        <p:nvSpPr>
          <p:cNvPr id="56" name="TextBox 55"/>
          <p:cNvSpPr txBox="1"/>
          <p:nvPr/>
        </p:nvSpPr>
        <p:spPr>
          <a:xfrm>
            <a:off x="7772400" y="5760720"/>
            <a:ext cx="3474720" cy="228600"/>
          </a:xfrm>
          <a:prstGeom prst="rect">
            <a:avLst/>
          </a:prstGeom>
          <a:noFill/>
        </p:spPr>
        <p:txBody>
          <a:bodyPr wrap="square"/>
          <a:lstStyle/>
          <a:p>
            <a:pPr algn="l">
              <a:lnSpc>
                <a:spcPts val="1100"/>
              </a:lnSpc>
              <a:spcBef>
                <a:spcPts val="0"/>
              </a:spcBef>
              <a:spcAft>
                <a:spcPts val="0"/>
              </a:spcAft>
              <a:defRPr sz="1000" b="0">
                <a:solidFill>
                  <a:srgbClr val="F1F5F9"/>
                </a:solidFill>
                <a:latin typeface="Calibri"/>
              </a:defRPr>
            </a:pPr>
            <a:r>
              <a:rPr>
                <a:latin typeface="Calibri"/>
              </a:rPr>
              <a:t>SHA-256 integrity check with chain-of-custody</a:t>
            </a:r>
          </a:p>
        </p:txBody>
      </p:sp>
      <p:sp>
        <p:nvSpPr>
          <p:cNvPr id="57" name="TextBox 56"/>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18/19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D14"/>
        </a:solidFill>
        <a:effectLst/>
      </p:bgPr>
    </p:bg>
    <p:spTree>
      <p:nvGrpSpPr>
        <p:cNvPr id="1" name=""/>
        <p:cNvGrpSpPr/>
        <p:nvPr/>
      </p:nvGrpSpPr>
      <p:grpSpPr/>
      <p:sp>
        <p:nvSpPr>
          <p:cNvPr id="2" name="Rounded Rectangle 1"/>
          <p:cNvSpPr/>
          <p:nvPr/>
        </p:nvSpPr>
        <p:spPr>
          <a:xfrm>
            <a:off x="0" y="0"/>
            <a:ext cx="12191695" cy="54864"/>
          </a:xfrm>
          <a:prstGeom prst="roundRect">
            <a:avLst>
              <a:gd name="adj" fmla="val 4000"/>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286000" y="1828800"/>
            <a:ext cx="7589520" cy="3474720"/>
          </a:xfrm>
          <a:prstGeom prst="roundRect">
            <a:avLst>
              <a:gd name="adj" fmla="val 4000"/>
            </a:avLst>
          </a:prstGeom>
          <a:solidFill>
            <a:srgbClr val="101622"/>
          </a:solidFill>
          <a:ln w="1270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2103120"/>
            <a:ext cx="3017520" cy="457200"/>
          </a:xfrm>
          <a:prstGeom prst="roundRect">
            <a:avLst>
              <a:gd name="adj" fmla="val 4000"/>
            </a:avLst>
          </a:prstGeom>
          <a:solidFill>
            <a:srgbClr val="18223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0" y="2130552"/>
            <a:ext cx="3017520" cy="365760"/>
          </a:xfrm>
          <a:prstGeom prst="rect">
            <a:avLst/>
          </a:prstGeom>
          <a:noFill/>
        </p:spPr>
        <p:txBody>
          <a:bodyPr wrap="square"/>
          <a:lstStyle/>
          <a:p>
            <a:pPr algn="ctr">
              <a:lnSpc>
                <a:spcPts val="1600"/>
              </a:lnSpc>
              <a:spcBef>
                <a:spcPts val="0"/>
              </a:spcBef>
              <a:spcAft>
                <a:spcPts val="0"/>
              </a:spcAft>
              <a:defRPr sz="1400" b="1">
                <a:solidFill>
                  <a:srgbClr val="06B6D4"/>
                </a:solidFill>
                <a:latin typeface="Consolas"/>
              </a:defRPr>
            </a:pPr>
            <a:r>
              <a:rPr>
                <a:latin typeface="Consolas"/>
              </a:rPr>
              <a:t>SIH26106</a:t>
            </a:r>
          </a:p>
        </p:txBody>
      </p:sp>
      <p:sp>
        <p:nvSpPr>
          <p:cNvPr id="6" name="TextBox 5"/>
          <p:cNvSpPr txBox="1"/>
          <p:nvPr/>
        </p:nvSpPr>
        <p:spPr>
          <a:xfrm>
            <a:off x="2286000" y="2743200"/>
            <a:ext cx="7589520" cy="731520"/>
          </a:xfrm>
          <a:prstGeom prst="rect">
            <a:avLst/>
          </a:prstGeom>
          <a:noFill/>
        </p:spPr>
        <p:txBody>
          <a:bodyPr wrap="square"/>
          <a:lstStyle/>
          <a:p>
            <a:pPr algn="ctr">
              <a:lnSpc>
                <a:spcPts val="5000"/>
              </a:lnSpc>
              <a:spcBef>
                <a:spcPts val="0"/>
              </a:spcBef>
              <a:spcAft>
                <a:spcPts val="0"/>
              </a:spcAft>
              <a:defRPr sz="4400" b="1">
                <a:solidFill>
                  <a:srgbClr val="F1F5F9"/>
                </a:solidFill>
                <a:latin typeface="Calibri"/>
              </a:defRPr>
            </a:pPr>
            <a:r>
              <a:rPr>
                <a:latin typeface="Calibri"/>
              </a:rPr>
              <a:t>Thank You</a:t>
            </a:r>
          </a:p>
        </p:txBody>
      </p:sp>
      <p:sp>
        <p:nvSpPr>
          <p:cNvPr id="7" name="Rectangle 6"/>
          <p:cNvSpPr/>
          <p:nvPr/>
        </p:nvSpPr>
        <p:spPr>
          <a:xfrm>
            <a:off x="4572000" y="3520440"/>
            <a:ext cx="3017520" cy="381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3703320"/>
            <a:ext cx="7589520" cy="548640"/>
          </a:xfrm>
          <a:prstGeom prst="rect">
            <a:avLst/>
          </a:prstGeom>
          <a:noFill/>
        </p:spPr>
        <p:txBody>
          <a:bodyPr wrap="square"/>
          <a:lstStyle/>
          <a:p>
            <a:pPr algn="ctr">
              <a:lnSpc>
                <a:spcPts val="1800"/>
              </a:lnSpc>
              <a:spcBef>
                <a:spcPts val="0"/>
              </a:spcBef>
              <a:spcAft>
                <a:spcPts val="0"/>
              </a:spcAft>
              <a:defRPr sz="1600" b="0">
                <a:solidFill>
                  <a:srgbClr val="94A3B8"/>
                </a:solidFill>
                <a:latin typeface="Calibri"/>
              </a:defRPr>
            </a:pPr>
            <a:r>
              <a:rPr>
                <a:latin typeface="Calibri"/>
              </a:rPr>
              <a:t>AI-Powered Email Forensic Intelligence Platform</a:t>
            </a:r>
          </a:p>
        </p:txBody>
      </p:sp>
      <p:sp>
        <p:nvSpPr>
          <p:cNvPr id="9" name="TextBox 8"/>
          <p:cNvSpPr txBox="1"/>
          <p:nvPr/>
        </p:nvSpPr>
        <p:spPr>
          <a:xfrm>
            <a:off x="2286000" y="4160520"/>
            <a:ext cx="7589520" cy="457200"/>
          </a:xfrm>
          <a:prstGeom prst="rect">
            <a:avLst/>
          </a:prstGeom>
          <a:noFill/>
        </p:spPr>
        <p:txBody>
          <a:bodyPr wrap="square"/>
          <a:lstStyle/>
          <a:p>
            <a:pPr algn="ctr">
              <a:lnSpc>
                <a:spcPts val="1600"/>
              </a:lnSpc>
              <a:spcBef>
                <a:spcPts val="0"/>
              </a:spcBef>
              <a:spcAft>
                <a:spcPts val="0"/>
              </a:spcAft>
              <a:defRPr sz="1400" b="0">
                <a:solidFill>
                  <a:srgbClr val="475569"/>
                </a:solidFill>
                <a:latin typeface="Calibri"/>
              </a:defRPr>
            </a:pPr>
            <a:r>
              <a:rPr>
                <a:latin typeface="Calibri"/>
              </a:rPr>
              <a:t>Questions &amp; Discussion</a:t>
            </a:r>
          </a:p>
        </p:txBody>
      </p:sp>
      <p:sp>
        <p:nvSpPr>
          <p:cNvPr id="10" name="Rounded Rectangle 9"/>
          <p:cNvSpPr/>
          <p:nvPr/>
        </p:nvSpPr>
        <p:spPr>
          <a:xfrm>
            <a:off x="1371600" y="5486400"/>
            <a:ext cx="9418320" cy="914400"/>
          </a:xfrm>
          <a:prstGeom prst="roundRect">
            <a:avLst>
              <a:gd name="adj" fmla="val 4000"/>
            </a:avLst>
          </a:prstGeom>
          <a:solidFill>
            <a:srgbClr val="182234"/>
          </a:solidFill>
          <a:ln w="6350">
            <a:solidFill>
              <a:srgbClr val="2332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5577840"/>
            <a:ext cx="8869680" cy="201168"/>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Evidence-driven forensic reasoning, not generic email classification</a:t>
            </a:r>
          </a:p>
        </p:txBody>
      </p:sp>
      <p:sp>
        <p:nvSpPr>
          <p:cNvPr id="12" name="TextBox 11"/>
          <p:cNvSpPr txBox="1"/>
          <p:nvPr/>
        </p:nvSpPr>
        <p:spPr>
          <a:xfrm>
            <a:off x="1645920" y="5806440"/>
            <a:ext cx="8869680" cy="201168"/>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Identity contradiction + campaign discovery + attack path reconstruction</a:t>
            </a:r>
          </a:p>
        </p:txBody>
      </p:sp>
      <p:sp>
        <p:nvSpPr>
          <p:cNvPr id="13" name="TextBox 12"/>
          <p:cNvSpPr txBox="1"/>
          <p:nvPr/>
        </p:nvSpPr>
        <p:spPr>
          <a:xfrm>
            <a:off x="1645920" y="6035040"/>
            <a:ext cx="8869680" cy="201168"/>
          </a:xfrm>
          <a:prstGeom prst="rect">
            <a:avLst/>
          </a:prstGeom>
          <a:noFill/>
        </p:spPr>
        <p:txBody>
          <a:bodyPr wrap="square"/>
          <a:lstStyle/>
          <a:p>
            <a:pPr algn="l">
              <a:lnSpc>
                <a:spcPts val="1200"/>
              </a:lnSpc>
              <a:spcBef>
                <a:spcPts val="0"/>
              </a:spcBef>
              <a:spcAft>
                <a:spcPts val="0"/>
              </a:spcAft>
              <a:defRPr sz="1100" b="0">
                <a:solidFill>
                  <a:srgbClr val="F1F5F9"/>
                </a:solidFill>
                <a:latin typeface="Calibri"/>
              </a:defRPr>
            </a:pPr>
            <a:r>
              <a:rPr>
                <a:latin typeface="Calibri"/>
              </a:rPr>
              <a:t>▸  Explainable multi-evidence decisions with confidence and provenance</a:t>
            </a:r>
          </a:p>
        </p:txBody>
      </p:sp>
      <p:sp>
        <p:nvSpPr>
          <p:cNvPr id="14" name="Rounded Rectangle 13"/>
          <p:cNvSpPr/>
          <p:nvPr/>
        </p:nvSpPr>
        <p:spPr>
          <a:xfrm>
            <a:off x="0" y="6537960"/>
            <a:ext cx="12191695" cy="320040"/>
          </a:xfrm>
          <a:prstGeom prst="roundRect">
            <a:avLst>
              <a:gd name="adj" fmla="val 4000"/>
            </a:avLst>
          </a:prstGeom>
          <a:solidFill>
            <a:srgbClr val="101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56248"/>
            <a:ext cx="4572000" cy="274320"/>
          </a:xfrm>
          <a:prstGeom prst="rect">
            <a:avLst/>
          </a:prstGeom>
          <a:noFill/>
        </p:spPr>
        <p:txBody>
          <a:bodyPr wrap="square"/>
          <a:lstStyle/>
          <a:p>
            <a:pPr algn="l">
              <a:lnSpc>
                <a:spcPts val="1000"/>
              </a:lnSpc>
              <a:spcBef>
                <a:spcPts val="0"/>
              </a:spcBef>
              <a:spcAft>
                <a:spcPts val="0"/>
              </a:spcAft>
              <a:defRPr sz="900" b="0">
                <a:solidFill>
                  <a:srgbClr val="475569"/>
                </a:solidFill>
                <a:latin typeface="Calibri"/>
              </a:defRPr>
            </a:pPr>
            <a:r>
              <a:rPr>
                <a:latin typeface="Calibri"/>
              </a:rPr>
              <a:t>TraceMail  |  Forensic Email Evidence Engine  |  SIH26106</a:t>
            </a:r>
          </a:p>
        </p:txBody>
      </p:sp>
      <p:sp>
        <p:nvSpPr>
          <p:cNvPr id="16" name="TextBox 15"/>
          <p:cNvSpPr txBox="1"/>
          <p:nvPr/>
        </p:nvSpPr>
        <p:spPr>
          <a:xfrm>
            <a:off x="11155680" y="6400800"/>
            <a:ext cx="914400" cy="365760"/>
          </a:xfrm>
          <a:prstGeom prst="rect">
            <a:avLst/>
          </a:prstGeom>
          <a:noFill/>
        </p:spPr>
        <p:txBody>
          <a:bodyPr wrap="square"/>
          <a:lstStyle/>
          <a:p>
            <a:pPr algn="r">
              <a:lnSpc>
                <a:spcPts val="1100"/>
              </a:lnSpc>
              <a:spcBef>
                <a:spcPts val="0"/>
              </a:spcBef>
              <a:spcAft>
                <a:spcPts val="0"/>
              </a:spcAft>
              <a:defRPr sz="1000" b="0">
                <a:solidFill>
                  <a:srgbClr val="475569"/>
                </a:solidFill>
                <a:latin typeface="Calibri"/>
              </a:defRPr>
            </a:pPr>
            <a:r>
              <a:rPr>
                <a:latin typeface="Calibri"/>
              </a:rPr>
              <a:t>19/19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