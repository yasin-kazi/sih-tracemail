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84666"/>
            <a:ext cx="12192000" cy="677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200" b="1" i="0">
                <a:solidFill>
                  <a:srgbClr val="1F497D"/>
                </a:solidFill>
                <a:latin typeface="Garamond"/>
              </a:defRPr>
            </a:pPr>
            <a:r>
              <a:t>SMART INDIA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7866" y="338666"/>
            <a:ext cx="2032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8133" y="1651000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PROBLEM STATEMENT ID - SIH26106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8133" y="2277533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PROBLEM STATEMENT TITLE - AI-POWERED EMAIL THREAT DETECTION,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8133" y="2717800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GEOLOCATION &amp; FORENSIC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133" y="3344333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THEME - BLOCKCHAIN &amp; CYBERSECURITY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8133" y="3784600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PS CATEGORY -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8133" y="4411133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TEAM ID -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8133" y="4851400"/>
            <a:ext cx="10583333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Times New Roman"/>
              </a:defRPr>
            </a:pPr>
            <a:r>
              <a:t>TEAM NAME - VERITY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20666" y="6045200"/>
            <a:ext cx="2794000" cy="465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000000"/>
                </a:solidFill>
                <a:latin typeface="Times New Roman"/>
              </a:defRPr>
            </a:pPr>
            <a:r>
              <a:t>TITLE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866" y="338666"/>
            <a:ext cx="1524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40000" y="84666"/>
            <a:ext cx="7112000" cy="592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0000"/>
                </a:solidFill>
                <a:latin typeface="Times New Roman"/>
              </a:defRPr>
            </a:pPr>
            <a:r>
              <a:t>TRACEMAIL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745066"/>
            <a:ext cx="10160000" cy="355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00000"/>
                </a:solidFill>
                <a:latin typeface="Times New Roman"/>
              </a:defRPr>
            </a:pPr>
            <a:r>
              <a:t>AI-Powered Email Threat Detection, Geolocation &amp; Forensic Intelligence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5666" y="1693333"/>
            <a:ext cx="3217333" cy="3048000"/>
          </a:xfrm>
          <a:prstGeom prst="roundRect">
            <a:avLst>
              <a:gd name="adj" fmla="val 5000"/>
            </a:avLst>
          </a:prstGeom>
          <a:solidFill>
            <a:srgbClr val="DBE6F1"/>
          </a:solidFill>
          <a:ln w="12700">
            <a:solidFill>
              <a:srgbClr val="92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7333" y="1845733"/>
            <a:ext cx="2794000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INCOMING EMAIL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3" y="2184400"/>
            <a:ext cx="279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From: CFO (Claimed)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3" y="2506133"/>
            <a:ext cx="2794000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000000"/>
                </a:solidFill>
                <a:latin typeface="Times New Roman"/>
              </a:defRPr>
            </a:pPr>
            <a:r>
              <a:t>“Immediate wire release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1">
                <a:solidFill>
                  <a:srgbClr val="000000"/>
                </a:solidFill>
                <a:latin typeface="Times New Roman"/>
              </a:defRPr>
            </a:pPr>
            <a:r>
              <a:t>required before close of bank”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3" y="3285066"/>
            <a:ext cx="279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Urgency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333" y="3522133"/>
            <a:ext cx="279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Financial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333" y="3759199"/>
            <a:ext cx="2794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Impersonation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33" y="4572000"/>
            <a:ext cx="279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Potential Attack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2666" y="4572000"/>
            <a:ext cx="152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C00000"/>
                </a:solidFill>
                <a:latin typeface="Times New Roman"/>
              </a:defRPr>
            </a:pPr>
            <a:r>
              <a:t>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1666" y="1693333"/>
            <a:ext cx="3217333" cy="30480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92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333" y="1778000"/>
            <a:ext cx="279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MULTI-SIGNAL FORENSIC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5666" y="2116666"/>
            <a:ext cx="2794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SPF / DKIM / DMARC CHECK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2666" y="2556933"/>
            <a:ext cx="1693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IDENTITY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6666" y="2556933"/>
            <a:ext cx="1016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00000"/>
                </a:solidFill>
                <a:latin typeface="Times New Roman"/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2666" y="2878666"/>
            <a:ext cx="1693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EVIDENCE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6666" y="2878666"/>
            <a:ext cx="1016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00000"/>
                </a:solidFill>
                <a:latin typeface="Times New Roman"/>
              </a:defRPr>
            </a:pPr>
            <a: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2666" y="3200400"/>
            <a:ext cx="1693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INFRA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6666" y="3200400"/>
            <a:ext cx="1016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C00000"/>
                </a:solidFill>
                <a:latin typeface="Times New Roman"/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333" y="3623733"/>
            <a:ext cx="2794000" cy="2370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MULTI-SIGNAL RISK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4333" y="3911600"/>
            <a:ext cx="677333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8666" y="3911600"/>
            <a:ext cx="677333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7666" y="3911600"/>
            <a:ext cx="677333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HIGH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4333" y="4114800"/>
            <a:ext cx="762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ALLOW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66266" y="4114800"/>
            <a:ext cx="762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6666" y="4114800"/>
            <a:ext cx="762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000000"/>
                </a:solidFill>
                <a:latin typeface="Times New Roman"/>
              </a:defRPr>
            </a:pPr>
            <a:r>
              <a:t>BLOCK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5600" y="4360333"/>
            <a:ext cx="2963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More Evidence =&gt; Higher Confidence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0" y="1693333"/>
            <a:ext cx="4064000" cy="3048000"/>
          </a:xfrm>
          <a:prstGeom prst="roundRect">
            <a:avLst>
              <a:gd name="adj" fmla="val 5000"/>
            </a:avLst>
          </a:prstGeom>
          <a:solidFill>
            <a:srgbClr val="DBE6F1"/>
          </a:solidFill>
          <a:ln w="12700">
            <a:solidFill>
              <a:srgbClr val="929A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1666" y="1845733"/>
            <a:ext cx="364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INDEPENDENT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31666" y="2286000"/>
            <a:ext cx="364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000000"/>
                </a:solidFill>
                <a:latin typeface="Times New Roman"/>
              </a:defRPr>
            </a:pPr>
            <a:r>
              <a:t>TraceMail Alert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31666" y="2573866"/>
            <a:ext cx="3640666" cy="465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An email claiming to be from your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CFO requested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000000"/>
                </a:solidFill>
                <a:latin typeface="Times New Roman"/>
              </a:defRPr>
            </a:pPr>
            <a:r>
              <a:t>$25,000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31666" y="3302000"/>
            <a:ext cx="3640666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Verify this request 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31666" y="3589866"/>
            <a:ext cx="2540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16C0D"/>
                </a:solidFill>
                <a:latin typeface="Times New Roman"/>
              </a:defRPr>
            </a:pPr>
            <a:r>
              <a:t>Yes -  Confirmed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1666" y="3826933"/>
            <a:ext cx="2540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C00000"/>
                </a:solidFill>
                <a:latin typeface="Times New Roman"/>
              </a:defRPr>
            </a:pPr>
            <a:r>
              <a:t>No -  Quarantined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31666" y="4402666"/>
            <a:ext cx="3640666" cy="2370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Fraud Prevented — suspicious email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31666" y="4614333"/>
            <a:ext cx="3640666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quarantined before authorization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0000" y="5080000"/>
            <a:ext cx="7112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00000"/>
                </a:solidFill>
                <a:latin typeface="Times New Roman"/>
              </a:defRPr>
            </a:pPr>
            <a:r>
              <a:t>WHY TRACEMAIL ??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94000" y="5486400"/>
            <a:ext cx="2540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EMAIL ≠ IDENTITY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94000" y="5842000"/>
            <a:ext cx="2540000" cy="423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Don’t trust the display name.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Verify every contradiction.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53000" y="5486400"/>
            <a:ext cx="2540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EVIDENCE-AWARE VERIFICATION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3000" y="5842000"/>
            <a:ext cx="2540000" cy="423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More evidence -&gt; Higher confidence.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2000" y="5486400"/>
            <a:ext cx="2540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DETECT → PREVENT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12000" y="5842000"/>
            <a:ext cx="2540000" cy="423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Detect the threat.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000000"/>
                </a:solidFill>
                <a:latin typeface="Times New Roman"/>
              </a:defRPr>
            </a:pPr>
            <a:r>
              <a:t>Stop the wire transfer.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866" y="338666"/>
            <a:ext cx="1524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00"/>
            <a:ext cx="12192000" cy="541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0000"/>
                </a:solidFill>
                <a:latin typeface="Times New Roman"/>
              </a:defRPr>
            </a:pPr>
            <a: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914400"/>
            <a:ext cx="5926666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0000"/>
                </a:solidFill>
                <a:latin typeface="Times New Roman"/>
              </a:defRPr>
            </a:pPr>
            <a:r>
              <a:t>TRACEMAIL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3333" y="1253066"/>
            <a:ext cx="5926666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0000"/>
                </a:solidFill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6000" y="1947333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FFC7CE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7600" y="2015066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RAW .EML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2302933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Original evidence + SHA-256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6000" y="2201333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9333" y="1947333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FFE699"/>
          </a:solidFill>
          <a:ln w="15240">
            <a:solidFill>
              <a:srgbClr val="9C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0933" y="2015066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1. EVIDENCE ACQUISITION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0933" y="2302933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MIME | headers | body |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5333" y="2201333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6000" y="2878666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DEEBF7"/>
          </a:solidFill>
          <a:ln w="1524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2946400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2. EVIDENCE NORMALIZATION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7600" y="3234266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RFC-aware canonicalization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6000" y="3132666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79333" y="2878666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5240">
            <a:solidFill>
              <a:srgbClr val="016C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80933" y="2946400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3. FORENSIC ENGINES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0933" y="3234266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identity | infra |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5333" y="3132666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000" y="3810000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DEEBF7"/>
          </a:solidFill>
          <a:ln w="1524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7600" y="3877733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4. AI + INTELLIGENCE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4165600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NLP | XGBoost | DNS/RDAP | GeoIP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6000" y="4064000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9333" y="3810000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E2EFDA"/>
          </a:solidFill>
          <a:ln w="15240">
            <a:solidFill>
              <a:srgbClr val="016C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80933" y="3877733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5. CORRELATION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80933" y="4165600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Neo4j graph | campaign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5333" y="4064000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000" y="4741333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FFE699"/>
          </a:solidFill>
          <a:ln w="15240">
            <a:solidFill>
              <a:srgbClr val="9C6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7600" y="4809066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6. FORENSIC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600" y="5096933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risk | confidence |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56000" y="4995333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9333" y="4741333"/>
            <a:ext cx="2540000" cy="745066"/>
          </a:xfrm>
          <a:prstGeom prst="roundRect">
            <a:avLst>
              <a:gd name="adj" fmla="val 5000"/>
            </a:avLst>
          </a:prstGeom>
          <a:solidFill>
            <a:srgbClr val="C6E0B4"/>
          </a:solidFill>
          <a:ln w="15240">
            <a:solidFill>
              <a:srgbClr val="016C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80933" y="4809066"/>
            <a:ext cx="2328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000000"/>
                </a:solidFill>
                <a:latin typeface="Times New Roman"/>
              </a:defRPr>
            </a:pPr>
            <a:r>
              <a:t>INVESTIGATION CASE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80933" y="5096933"/>
            <a:ext cx="2328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 i="0">
                <a:solidFill>
                  <a:srgbClr val="404040"/>
                </a:solidFill>
                <a:latin typeface="Times New Roman"/>
              </a:defRPr>
            </a:pPr>
            <a:r>
              <a:t>graph | map |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25333" y="4995333"/>
            <a:ext cx="16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48000" y="2540000"/>
            <a:ext cx="50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48000" y="3471333"/>
            <a:ext cx="50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48000" y="4402666"/>
            <a:ext cx="50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000000"/>
                </a:solidFill>
                <a:latin typeface="Arial"/>
              </a:defRPr>
            </a:pPr>
            <a:r>
              <a:t>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8666" y="677333"/>
            <a:ext cx="3640666" cy="5503333"/>
          </a:xfrm>
          <a:prstGeom prst="roundRect">
            <a:avLst>
              <a:gd name="adj" fmla="val 3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8666" y="812800"/>
            <a:ext cx="3640666" cy="50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TECHNOLOGY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8666" y="1083733"/>
            <a:ext cx="364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FFFFFF"/>
                </a:solidFill>
                <a:latin typeface="Times New Roman"/>
              </a:defRPr>
            </a:pPr>
            <a:r>
              <a:t>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70333" y="1481666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AI / NLP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666" y="17356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PYTHON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666" y="19388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TRANSFORMER NLP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666" y="21420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XGBOOST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666" y="23452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SHAP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70333" y="2616200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CORRELATION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666" y="28702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NEO4J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666" y="30734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CYPHER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666" y="32766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GRAPH ANALYSIS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70333" y="3547533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APPLICATION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39666" y="38015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REACT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666" y="40047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TYPESCRIPT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666" y="42079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FASTAPI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39666" y="44111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LEAFLET / REACT FLOW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70333" y="4682066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DATA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39666" y="49360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POSTGRESQL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666" y="51392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MINIO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39666" y="5342466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RDAP / DNS / GEOIP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70333" y="5613400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SECURITY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39666" y="58674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HTTPS / TLS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9666" y="60706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JWT / AUTHENTICATION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666" y="62738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SHA-256 HASHING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39666" y="6477000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CHAIN OF CUSTODY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70333" y="6747933"/>
            <a:ext cx="3217333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Times New Roman"/>
              </a:defRPr>
            </a:pPr>
            <a:r>
              <a:t>DEPLOYMENT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39666" y="70019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DOCKER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39666" y="72051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DOCKER COMPOSE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39666" y="7408333"/>
            <a:ext cx="3048000" cy="20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 i="0">
                <a:solidFill>
                  <a:srgbClr val="FFFFFF"/>
                </a:solidFill>
                <a:latin typeface="Times New Roman"/>
              </a:defRPr>
            </a:pPr>
            <a:r>
              <a:t>•  CLOUD / SERVER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866" y="338666"/>
            <a:ext cx="1524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6666" y="135466"/>
            <a:ext cx="10498666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0000"/>
                </a:solidFill>
                <a:latin typeface="Times New Roman"/>
              </a:defRPr>
            </a:pPr>
            <a:r>
              <a:t>FEASIBILITY AND VIABILITY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778933"/>
            <a:ext cx="8805333" cy="287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404040"/>
                </a:solidFill>
                <a:latin typeface="Times New Roman"/>
              </a:defRPr>
            </a:pPr>
            <a:r>
              <a:t>A practical path from forensic prototype to real-world email investigation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1524000"/>
            <a:ext cx="237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BF15"/>
                </a:solidFill>
                <a:latin typeface="Times New Roman"/>
              </a:defRPr>
            </a:pPr>
            <a:r>
              <a:t>FEASIBLE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94000" y="1524000"/>
            <a:ext cx="237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F26720"/>
                </a:solidFill>
                <a:latin typeface="Times New Roman"/>
              </a:defRPr>
            </a:pPr>
            <a:r>
              <a:t>KEY RISKS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91666" y="1524000"/>
            <a:ext cx="237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70C0"/>
                </a:solidFill>
                <a:latin typeface="Times New Roman"/>
              </a:defRPr>
            </a:pPr>
            <a:r>
              <a:t>MITIGATION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3333" y="1524000"/>
            <a:ext cx="2370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1F497D"/>
                </a:solidFill>
                <a:latin typeface="Times New Roman"/>
              </a:defRPr>
            </a:pPr>
            <a:r>
              <a:t>VIABILITY &amp;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000" y="1905000"/>
            <a:ext cx="2455333" cy="29210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BF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400" y="2032000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Open forensic datasets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.EML analysis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400" y="2480733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Mature Python email/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MIME parsers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" y="2929466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Pretrained Transformer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NLP &amp; XGBoost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400" y="3378200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FastAPI + React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ecosystem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400" y="3826933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Standard RFC-aware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header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400" y="4275666"/>
            <a:ext cx="2243666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Modular, cloud-ready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4000" y="1905000"/>
            <a:ext cx="2413000" cy="29210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F267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46400" y="2032000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False positives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false negatives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6400" y="2480733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Unseen social-engineering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6400" y="2929466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Missing / forged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email headers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6400" y="3378200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External 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rate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6400" y="3826933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Evidence integrity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challenges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46400" y="4275666"/>
            <a:ext cx="21590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Email privacy &amp; consent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91666" y="1905000"/>
            <a:ext cx="2413000" cy="2921000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4066" y="2032000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Confidence thresholds: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Low / Med / High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4066" y="2480733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Cross-dataset testing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for generalization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4066" y="2929466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Multi-signal validation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RFC-aware parsing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4066" y="3378200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Mock external APIs, real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keys for 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4066" y="3826933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SHA-256 hashing +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tamper-evident audit trail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4066" y="4275666"/>
            <a:ext cx="2184400" cy="4402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Encryption, consent &amp;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minimum data retention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3333" y="1905000"/>
            <a:ext cx="3429000" cy="2921000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55000" y="2159000"/>
            <a:ext cx="3005666" cy="2878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5000" y="2184400"/>
            <a:ext cx="30056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FFFFFF"/>
                </a:solidFill>
                <a:latin typeface="Times New Roman"/>
              </a:defRPr>
            </a:pPr>
            <a:r>
              <a:t>FEASIBILITY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066" y="2540000"/>
            <a:ext cx="1016000" cy="592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EC57"/>
                </a:solidFill>
                <a:latin typeface="Times New Roman"/>
              </a:defRPr>
            </a:pPr>
            <a:r>
              <a:t>BUILDABLE: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6333" y="2540000"/>
            <a:ext cx="2074333" cy="677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Times New Roman"/>
              </a:defRPr>
            </a:pPr>
            <a:r>
              <a:t>AI models, forensic parsers and graph databases are available today.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066" y="3183466"/>
            <a:ext cx="1016000" cy="592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EC57"/>
                </a:solidFill>
                <a:latin typeface="Times New Roman"/>
              </a:defRPr>
            </a:pPr>
            <a:r>
              <a:t>COST-VIABLE: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6333" y="3183466"/>
            <a:ext cx="2074333" cy="677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Times New Roman"/>
              </a:defRPr>
            </a:pPr>
            <a:r>
              <a:t>Start with selective risk analysis and a controlled pilot (SOC).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066" y="3826933"/>
            <a:ext cx="1016000" cy="592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EC57"/>
                </a:solidFill>
                <a:latin typeface="Times New Roman"/>
              </a:defRPr>
            </a:pPr>
            <a:r>
              <a:t>SCALABLE: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6333" y="3826933"/>
            <a:ext cx="2074333" cy="6773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Times New Roman"/>
              </a:defRPr>
            </a:pPr>
            <a:r>
              <a:t>API architecture supports enterprises, banks and government investigations.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38066" y="4402666"/>
            <a:ext cx="3005666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FFFF"/>
                </a:solidFill>
                <a:latin typeface="Times New Roman"/>
              </a:defRPr>
            </a:pPr>
            <a:r>
              <a:t>DEPLOYMENT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38066" y="4656666"/>
            <a:ext cx="3005666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FFFFFF"/>
                </a:solidFill>
                <a:latin typeface="Times New Roman"/>
              </a:defRPr>
            </a:pPr>
            <a:r>
              <a:t>MVP → Pilot → Sector Integration → Scale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6333" y="5232400"/>
            <a:ext cx="7620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FAIL-SAFE FORENSIC INVESTIGATION FLOW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666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2533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HIGH-RISK EMAIL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159000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92866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PRESERVATION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979333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13200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IF TIMEOUT /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UNAVAILABLE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42000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75866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SECONDARY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VERIFICATION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62333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96199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DELAY OR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QUARANTINE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440333" y="5545666"/>
            <a:ext cx="1651000" cy="389466"/>
          </a:xfrm>
          <a:prstGeom prst="roundRect">
            <a:avLst>
              <a:gd name="adj" fmla="val 5000"/>
            </a:avLst>
          </a:prstGeom>
          <a:solidFill>
            <a:srgbClr val="DDEAF4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74200" y="5571066"/>
            <a:ext cx="1583266" cy="33866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EVIDENCE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000000"/>
                </a:solidFill>
                <a:latin typeface="Times New Roman"/>
              </a:defRPr>
            </a:pPr>
            <a:r>
              <a:t>&amp; REPORT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98133" y="5604933"/>
            <a:ext cx="3048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01533" y="5604933"/>
            <a:ext cx="3048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55733" y="5604933"/>
            <a:ext cx="3048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6066" y="5604933"/>
            <a:ext cx="3048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96400" y="5604933"/>
            <a:ext cx="3048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0000" y="6223000"/>
            <a:ext cx="7112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FF0000"/>
                </a:solidFill>
                <a:latin typeface="Times New Roman"/>
              </a:defRPr>
            </a:pPr>
            <a:r>
              <a:t>“High-risk emails are never silently dropped.”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866" y="338666"/>
            <a:ext cx="1524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800"/>
            <a:ext cx="12192000" cy="541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000000"/>
                </a:solidFill>
                <a:latin typeface="Times New Roman"/>
              </a:defRPr>
            </a:pPr>
            <a:r>
              <a:t>IMPACT AND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666" y="1354666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PROTECTS 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66" y="1591733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Reduces impersonation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666" y="2159000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PREVENTS FRAUD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666" y="2396066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Stops loss before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666" y="2963333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REDUCES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666" y="3200400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Detects urgency and pressure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666" y="3767666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BUILDS 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666" y="4004733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Safer email communication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2666" y="1354666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MULTI-SIGNAL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2666" y="1591733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Identity + intent +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2666" y="2159000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INDEPENDENT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2666" y="2396066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Evidence-backed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2666" y="2963333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RISK-BASED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2666" y="3200400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Allow • Warn • Block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2666" y="3767666"/>
            <a:ext cx="3048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 i="0">
                <a:solidFill>
                  <a:srgbClr val="000000"/>
                </a:solidFill>
                <a:latin typeface="Times New Roman"/>
              </a:defRPr>
            </a:pPr>
            <a:r>
              <a:t>AUDITABLE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2666" y="4004733"/>
            <a:ext cx="3048000" cy="2201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404040"/>
                </a:solidFill>
                <a:latin typeface="Times New Roman"/>
              </a:defRPr>
            </a:pPr>
            <a:r>
              <a:t>Report-ready forensic 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2666" y="1651000"/>
            <a:ext cx="3386666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700" b="1" i="0">
                <a:solidFill>
                  <a:srgbClr val="000000"/>
                </a:solidFill>
                <a:latin typeface="Times New Roman"/>
              </a:defRPr>
            </a:pPr>
            <a:r>
              <a:t>Who TraceMail Protects ?</a:t>
            </a:r>
          </a:p>
        </p:txBody>
      </p:sp>
      <p:sp>
        <p:nvSpPr>
          <p:cNvPr id="21" name="Oval 20"/>
          <p:cNvSpPr/>
          <p:nvPr/>
        </p:nvSpPr>
        <p:spPr>
          <a:xfrm>
            <a:off x="4148666" y="3776133"/>
            <a:ext cx="1270000" cy="127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8666" y="3928533"/>
            <a:ext cx="1270000" cy="2201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CITIZENS</a:t>
            </a:r>
          </a:p>
        </p:txBody>
      </p:sp>
      <p:sp>
        <p:nvSpPr>
          <p:cNvPr id="23" name="Oval 22"/>
          <p:cNvSpPr/>
          <p:nvPr/>
        </p:nvSpPr>
        <p:spPr>
          <a:xfrm>
            <a:off x="4656666" y="3437466"/>
            <a:ext cx="1270000" cy="1270000"/>
          </a:xfrm>
          <a:prstGeom prst="ellipse">
            <a:avLst/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6666" y="3589866"/>
            <a:ext cx="1270000" cy="2201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FAMILIES</a:t>
            </a:r>
          </a:p>
        </p:txBody>
      </p:sp>
      <p:sp>
        <p:nvSpPr>
          <p:cNvPr id="25" name="Oval 24"/>
          <p:cNvSpPr/>
          <p:nvPr/>
        </p:nvSpPr>
        <p:spPr>
          <a:xfrm>
            <a:off x="5249333" y="3225800"/>
            <a:ext cx="1270000" cy="1270000"/>
          </a:xfrm>
          <a:prstGeom prst="ellipse">
            <a:avLst/>
          </a:prstGeom>
          <a:solidFill>
            <a:srgbClr val="F26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49333" y="3378200"/>
            <a:ext cx="1270000" cy="2201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ENTERPRISES</a:t>
            </a:r>
          </a:p>
        </p:txBody>
      </p:sp>
      <p:sp>
        <p:nvSpPr>
          <p:cNvPr id="27" name="Oval 26"/>
          <p:cNvSpPr/>
          <p:nvPr/>
        </p:nvSpPr>
        <p:spPr>
          <a:xfrm>
            <a:off x="5842000" y="2971800"/>
            <a:ext cx="1270000" cy="1270000"/>
          </a:xfrm>
          <a:prstGeom prst="ellipse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42000" y="3124200"/>
            <a:ext cx="1270000" cy="2201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 i="0">
                <a:solidFill>
                  <a:srgbClr val="FFFFFF"/>
                </a:solidFill>
                <a:latin typeface="Times New Roman"/>
              </a:defRPr>
            </a:pPr>
            <a:r>
              <a:t>BANKS / TELECOM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0000" y="5799666"/>
            <a:ext cx="508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F0000"/>
                </a:solidFill>
                <a:latin typeface="Times New Roman"/>
              </a:defRPr>
            </a:pPr>
            <a:r>
              <a:t>Suspicious Email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2666" y="5799666"/>
            <a:ext cx="1185333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F26720"/>
                </a:solidFill>
                <a:latin typeface="Times New Roman"/>
              </a:defRPr>
            </a:pPr>
            <a:r>
              <a:t>Forensic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8666" y="5799666"/>
            <a:ext cx="1016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070C0"/>
                </a:solidFill>
                <a:latin typeface="Times New Roman"/>
              </a:defRPr>
            </a:pPr>
            <a:r>
              <a:t>Risk 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0000" y="5799666"/>
            <a:ext cx="1270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0070C0"/>
                </a:solidFill>
                <a:latin typeface="Times New Roman"/>
              </a:defRPr>
            </a:pPr>
            <a:r>
              <a:t>Independent Verification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0666" y="5799666"/>
            <a:ext cx="1016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900" b="1" i="0">
                <a:solidFill>
                  <a:srgbClr val="1F497D"/>
                </a:solidFill>
                <a:latin typeface="Times New Roman"/>
              </a:defRPr>
            </a:pPr>
            <a:r>
              <a:t>Prevented Fraud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9666" y="5842000"/>
            <a:ext cx="2878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9333" y="5842000"/>
            <a:ext cx="2878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666" y="5842000"/>
            <a:ext cx="2878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32333" y="5842000"/>
            <a:ext cx="287866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Arial"/>
              </a:defRPr>
            </a:pPr>
            <a:r>
              <a:t>▶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7866" y="338666"/>
            <a:ext cx="1524000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 i="1">
                <a:solidFill>
                  <a:srgbClr val="000000"/>
                </a:solidFill>
                <a:latin typeface="Times New Roman"/>
              </a:defRPr>
            </a:pPr>
            <a:r>
              <a:t>VERITY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0000" y="50800"/>
            <a:ext cx="9652000" cy="5418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000000"/>
                </a:solidFill>
                <a:latin typeface="Times New Roman"/>
              </a:defRPr>
            </a:pPr>
            <a:r>
              <a:t>RESEARCH 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3333" y="1270000"/>
            <a:ext cx="4233333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F497D"/>
                </a:solidFill>
                <a:latin typeface="Times New Roman"/>
              </a:defRPr>
            </a:pPr>
            <a:r>
              <a:t>ACADEMIC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8000" y="1735666"/>
            <a:ext cx="397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RFC 7489 — DMARC authentication policy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8000" y="2057400"/>
            <a:ext cx="397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RFC 7208 — SPF (Sender Policy Framework)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8000" y="2379133"/>
            <a:ext cx="397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RFC 6376 — DKIM email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78000" y="2700866"/>
            <a:ext cx="397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RFC 5322 — Email message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8000" y="3022600"/>
            <a:ext cx="3979333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RFC 7482 / 7483 — RDAP registries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4000" y="1270000"/>
            <a:ext cx="4233333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F497D"/>
                </a:solidFill>
                <a:latin typeface="Times New Roman"/>
              </a:defRPr>
            </a:pPr>
            <a:r>
              <a:t>DATASETS &amp;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8666" y="17356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Public phishing &amp; spam email corpora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666" y="2057400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MIME / header parsing conformance suites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88666" y="23791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Real-world BEC incident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8666" y="27008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404040"/>
                </a:solidFill>
                <a:latin typeface="Times New Roman"/>
              </a:defRPr>
            </a:pPr>
            <a:r>
              <a:t>Used for training, fine-tuning and robustness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3333" y="3556000"/>
            <a:ext cx="4233333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F497D"/>
                </a:solidFill>
                <a:latin typeface="Times New Roman"/>
              </a:defRPr>
            </a:pPr>
            <a:r>
              <a:t>COMPETITOR LANDSCAPE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78000" y="40216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MICROSOFT DEFENDER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78000" y="42079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SPF/DKIM/DMARC, malware &amp; phishing blocking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78000" y="45127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PROOFPOINT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78000" y="4699000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Enterprise email security &amp; gateway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78000" y="5003800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GOOGLE WORKSPACE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78000" y="51900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Email protection &amp; threat 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78000" y="54948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TRACEMAIL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8000" y="56811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Evidence graph + identity contradiction + campaign discovery + attack-path reconstruction + confidence &amp; provenance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4000" y="3556000"/>
            <a:ext cx="4233333" cy="3386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F497D"/>
                </a:solidFill>
                <a:latin typeface="Times New Roman"/>
              </a:defRPr>
            </a:pPr>
            <a:r>
              <a:t>NATIONAL CYBER ALIGNMENT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8666" y="40216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Smart India Hackathon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8666" y="42079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Problem statement SIH26106 — Blockchain &amp; Cybersecurity 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88666" y="45127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CERT-In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88666" y="4699000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India’s national computer emergency response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8666" y="5003800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cybercrime.gov.in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8666" y="51900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National Cyber Crime Reporting Portal — victim reporting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8666" y="5494866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Times New Roman"/>
              </a:defRPr>
            </a:pPr>
            <a:r>
              <a:t>1930 Cyber Fraud Helpline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8666" y="5681133"/>
            <a:ext cx="4064000" cy="254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404040"/>
                </a:solidFill>
                <a:latin typeface="Times New Roman"/>
              </a:defRPr>
            </a:pPr>
            <a:r>
              <a:t>Fraud reporting and escalation 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" y="5926666"/>
            <a:ext cx="9144000" cy="55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00000"/>
                </a:solidFill>
                <a:latin typeface="Times New Roman"/>
              </a:defRPr>
            </a:pPr>
            <a:r>
              <a:t>“Detection alone is insufficient for high-consequence actions.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000000"/>
                </a:solidFill>
                <a:latin typeface="Times New Roman"/>
              </a:defRPr>
            </a:pPr>
            <a:r>
              <a:t>TraceMail adds forensic evidence &amp; verification before authorization.”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0" y="6493933"/>
            <a:ext cx="12192000" cy="364066"/>
          </a:xfrm>
          <a:prstGeom prst="roundRect">
            <a:avLst>
              <a:gd name="adj" fmla="val 5000"/>
            </a:avLst>
          </a:prstGeom>
          <a:solidFill>
            <a:srgbClr val="1F4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0" y="6502400"/>
            <a:ext cx="12192000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7333" y="6502400"/>
            <a:ext cx="1185333" cy="32173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